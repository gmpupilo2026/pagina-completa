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1: Temas de apertura</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3
Dominio eficaz del centro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K. Aséiev – N. Rashkovski, Campeonato de Rusia, San Petersburgo 1998 · Defensa Moderna, Ataque Austríaco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Dominio eficaz del centro</a:t>
            </a:r>
          </a:p>
        </p:txBody>
      </p:sp>
      <p:sp>
        <p:nvSpPr>
          <p:cNvPr id="3" name="TextBox 2"/>
          <p:cNvSpPr txBox="1"/>
          <p:nvPr/>
        </p:nvSpPr>
        <p:spPr>
          <a:xfrm>
            <a:off x="640080" y="1234440"/>
            <a:ext cx="10972800" cy="2354580"/>
          </a:xfrm>
          <a:prstGeom prst="rect">
            <a:avLst/>
          </a:prstGeom>
          <a:noFill/>
        </p:spPr>
        <p:txBody>
          <a:bodyPr wrap="square" anchor="t">
            <a:spAutoFit/>
          </a:bodyPr>
          <a:lstStyle/>
          <a:p>
            <a:pPr algn="l">
              <a:spcAft>
                <a:spcPts val="400"/>
              </a:spcAft>
            </a:pPr>
            <a:r>
              <a:rPr sz="1400" b="0" i="0">
                <a:solidFill>
                  <a:srgbClr val="1F2937"/>
                </a:solidFill>
                <a:latin typeface="Calibri"/>
              </a:rPr>
              <a:t>Controlar el centro del tablero es uno de los tres grandes objetivos de la apertura, junto con el desarrollo de piezas y la seguridad del rey. El centro es importante porque desde ahí las piezas, especialmente los caballos, alcanzan su máxima actividad, y porque controlar esas casillas da flexibilidad para trasladar las propias fuerzas a cualquier flanco según lo exija la partida. El dominio central puede lograrse ocupando las casillas centrales con peones, siempre que estén bien apoyados por piezas, o controlándolas a distancia con piezas bien colocadas, sin necesidad de ocuparlas físicamente. Reconocer quién domina el centro no es sólo cuestión de contar peones centrales: hay que fijarse en qué bando puede maniobrar con más libertad y en si el centro rival está sólidamente sostenido o es vulnerable a un ataque directo. Para aplicarlo en la práctica conviene desarrollar las piezas apuntando siempre hacia las casillas centrales, resistir la tentación de cambiar el propio centro sin necesidad, y, una vez logrado el dominio, usarlo como trampolín para trasladar el ataque al flanco donde el rival sea más débil.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K. Aséiev – N. Rashkovski (Campeonato de Rusia, San Petersburgo 1998) 1-0</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Aséiev construye un centro de peones ideal (c3-d4-e5-f4) tras la Defensa Moderna y aprovecha las pérdidas de tiempo negras (4...a6?! y 7...e6?) para completar su desarrollo y lanzar un ataque directo con piezas ligeras: Cf6+!, Cgh7 y el golpe f5!, dejando al rey negro atrapado. Pese a algunas imprecisiones que permiten a las negras generar contrajuego con ...b3, el dominio del centro y la actividad de las piezas blancas terminan decidiendo la partida.</a:t>
            </a:r>
          </a:p>
          <a:p>
            <a:pPr algn="l">
              <a:spcAft>
                <a:spcPts val="400"/>
              </a:spcAft>
            </a:pPr>
            <a:r>
              <a:rPr sz="1400" b="0" i="0">
                <a:solidFill>
                  <a:srgbClr val="1F2937"/>
                </a:solidFill>
                <a:latin typeface="Calibri"/>
              </a:rPr>
              <a:t>La apertura: La Defensa Moderna (1...g6) retrasa deliberadamente la reacción central negra, apostando por el fianchetto de rey antes de decidir entre ...c5 o ...e5. El Ataque Austriaco (2.d4 seguido de 4.f4) es la respuesta más agresiva: las blancas construyen un centro de peones ideal con c3-d4-e5-f4 y, si las negras tardan en reaccionar, ese centro se convierte en la base de un ataque directo.</a:t>
            </a:r>
          </a:p>
        </p:txBody>
      </p:sp>
      <p:sp>
        <p:nvSpPr>
          <p:cNvPr id="4" name="TextBox 3"/>
          <p:cNvSpPr txBox="1"/>
          <p:nvPr/>
        </p:nvSpPr>
        <p:spPr>
          <a:xfrm>
            <a:off x="640080" y="3355340"/>
            <a:ext cx="10972800" cy="2862579"/>
          </a:xfrm>
          <a:prstGeom prst="rect">
            <a:avLst/>
          </a:prstGeom>
          <a:noFill/>
        </p:spPr>
        <p:txBody>
          <a:bodyPr wrap="square">
            <a:spAutoFit/>
          </a:bodyPr>
          <a:lstStyle/>
          <a:p>
            <a:pPr>
              <a:spcAft>
                <a:spcPts val="600"/>
              </a:spcAft>
            </a:pPr>
            <a:r>
              <a:rPr sz="1600">
                <a:solidFill>
                  <a:srgbClr val="1F2937"/>
                </a:solidFill>
                <a:latin typeface="Calibri"/>
              </a:rPr>
              <a:t>•  Un centro de peones bien sostenido por piezas no sólo ocupa espacio: también restringe drásticamente a las piezas rivales y sirve de trampolín para un ataque en el flanco donde el enemigo es más débil.</a:t>
            </a:r>
          </a:p>
          <a:p>
            <a:pPr>
              <a:spcAft>
                <a:spcPts val="600"/>
              </a:spcAft>
            </a:pPr>
            <a:r>
              <a:rPr sz="1600">
                <a:solidFill>
                  <a:srgbClr val="1F2937"/>
                </a:solidFill>
                <a:latin typeface="Calibri"/>
              </a:rPr>
              <a:t>•  Jugadas de peón que no colaboran con el desarrollo (...a6?!, ...e6?) cuestan tiempos que el rival puede convertir en iniciativa concreta.</a:t>
            </a:r>
          </a:p>
          <a:p>
            <a:pPr>
              <a:spcAft>
                <a:spcPts val="600"/>
              </a:spcAft>
            </a:pPr>
            <a:r>
              <a:rPr sz="1600">
                <a:solidFill>
                  <a:srgbClr val="1F2937"/>
                </a:solidFill>
                <a:latin typeface="Calibri"/>
              </a:rPr>
              <a:t>•  Un caballo bien plantado en una casilla avanzada, apoyado por el centro, puede paralizar por completo al bando defensor incluso sin amenazar mate inmediato.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K. Aséiev – N. Rashkovski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1…g6 2.d4 2…Ag7 3.Cc3 3…d6 4.f4 4…a6?! 5.Cf3 5…b5 6.Ad3 6…Ab7 7.e5 7…e6? 8.a4! 8…b4 9.Ce4 9…Ce7 10.O-O 10…O-O 11.De1 11…a5 12.c3! 12…Aa6 13.Axa6 13…Cxa6 14.Cfg5 14…h6 15.Cf6+! 15…Rh8 16.Cgh7 16…Axf6 17.Cxf6 17…Rg7 18.f5! 18…Th8 19.fxe6 19…fxe6 20.Df2! 20…Df8 21.Af4? 21…d5 22.Tac1 22…c5 23.dxc5 23…Cf5 24.g4 24…Ce7 25.Ad2 25…Cc6 26.cxb4 26…Caxb4 27.Tc3 27…De7 28.Th3 28…g5 29.Ch5+ 29…Rg8 30.Cf6+ 30…Rg7 31.Ch5+ 31…Rg8 32.Axb4 32…axb4 33.Dc2 33…Cxe5 34.Cf6+ 34…Rg7 35.Ch5+ 35…Rg8 36.Te3 36…b3 37.Dc3 37…Cxg4 38.Txe6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6666965f302818255f26a6b18cd0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 Aséiev – N. Rashkovski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7...e6?, sin resolver su falta de desarrollo. ¿Qué jugada de peón blanca gana un tiempo adicional de cara al futuro ataque?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en el flanco de dama que se aprovechará más adelante, cuando la torre llegue a e1.</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8.a4! prepara que, tras la maniobra De1, las blancas ganen un tiempo atacando el peón b4 que las negras se verán obligadas a jugar.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1cd78ebbd0f0a0ec7486173b21bcab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 Aséiev – N. Rashkovski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tranquila de peón obliga a las negras a definir su alfil de casillas claras y prepara nuevas concesiones posicionales, sin comprometer el plan de ataque en 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No se trata de avanzar más en el flanco de rey; hay una jugada de distracción en el otro lado del tablero.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12.c3!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12.c3! fuerza a las negras a mover su alfil y les hace ceder más terreno posicional, mientras las blancas conservan intacto su plan de ataque en el flanco de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9a54c945efea6a320c70dab2bb8dc7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 Aséiev – N. Rashkovski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en g8 y las piezas blancas reagrupándose, ¿qué sacrificio táctico de caballo inicia la fase decisiva del ataque?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de las piezas menores blancas puede clavarse en una casilla muy incómoda para el rey, con jaque.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15.Cf6+!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15.Cf6+! obliga al rey a la esquina y, tras Cgh7, prepara eliminar el alfil defensor de g7, dejando el enroque negro sin ningún defensor.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9275cbca3f22d0413a434928d329e3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 Aséiev – N. Rashkovski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caballo blanco ya instalado en f6 y el rey negro sin defensores, ¿qué ruptura de peón amenaza mate directo en pocas jugadas?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avance de peón abre la diagonal c1-h6 para el alfil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18.f5! amenaza 19.Axh6+ seguido de Dh4+ con mate, un motivo que reaparecerá más adelante en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6bebd79742e3df18441ea2a692a21d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 Aséiev – N. Rashkovski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torre negra forzada a h8 y el peón e6 débil, ¿a qué casilla lleva Aséiev su dama para amenazar mate?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necesita reunirse con el caballo de f6 y el alfil para rematar por la columna h.</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20.Df2!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20.Df2! amenaza el mate directo, y las negras deben encontrar una defensa precisa e inmediata para sobrevivir.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Construir un centro de peones bien apoyado (con piezas, no sólo con peones) restringe al rival y crea las condiciones para atacar en cualquier flanco.</a:t>
            </a:r>
          </a:p>
          <a:p>
            <a:pPr>
              <a:spcAft>
                <a:spcPts val="600"/>
              </a:spcAft>
            </a:pPr>
            <a:r>
              <a:rPr sz="1600">
                <a:solidFill>
                  <a:srgbClr val="1F2937"/>
                </a:solidFill>
                <a:latin typeface="Calibri"/>
              </a:rPr>
              <a:t>•  Las jugadas de peón que no disputan directamente el centro ni ayudan al desarrollo regalan tiempos valiosos al rival.</a:t>
            </a:r>
          </a:p>
          <a:p>
            <a:pPr>
              <a:spcAft>
                <a:spcPts val="600"/>
              </a:spcAft>
            </a:pPr>
            <a:r>
              <a:rPr sz="1600">
                <a:solidFill>
                  <a:srgbClr val="1F2937"/>
                </a:solidFill>
                <a:latin typeface="Calibri"/>
              </a:rPr>
              <a:t>•  Un caballo firmemente instalado en la sexta o séptima fila puede paralizar al bando defensor incluso antes de que aparezca una amenaza de mate concreta.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