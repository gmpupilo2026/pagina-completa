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Repasar en plenaria; cada respuesta con su artículo.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minuto por pregunta, y después las respuestas.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9728" cy="2377440"/>
          </a:xfrm>
          <a:prstGeom prst="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09728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F4C430"/>
                </a:solidFill>
                <a:latin typeface="Calibri"/>
              </a:rPr>
              <a:t>SESIÓN 6  ·  FORMACIÓN AJEDREZ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10332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98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Talleres prácticos y simulacros de arbitraje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103327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ADCFC"/>
                </a:solidFill>
                <a:latin typeface="Calibri"/>
              </a:rPr>
              <a:t>Simulacros de arbitraje entre pares y preparación de roles para la sesión presencial.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76072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2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Programa de Formación para Personas Árbitras y Asesoras  ·  Juegos Deportivos Estudiantiles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Al terminar esta sesión, cada participante podrá: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37215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Arbitrar una ronda simulada aplicando todo lo visto en el curso.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Observar a otra persona con la lista de cotejo y dar retroalimentación útil.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Conocer los formularios que se usarán en la sesión presencial.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Confirmar los roles y los materiales para el torneo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Cronograma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Sesión 6 · 4 horas (240 minutos)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830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7162495"/>
              </a:tblGrid>
              <a:tr h="4156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Horario</a:t>
                      </a:r>
                    </a:p>
                  </a:txBody>
                  <a:tcPr>
                    <a:solidFill>
                      <a:srgbClr val="3172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Duración</a:t>
                      </a:r>
                    </a:p>
                  </a:txBody>
                  <a:tcPr>
                    <a:solidFill>
                      <a:srgbClr val="3172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>
                    <a:solidFill>
                      <a:srgbClr val="3172A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0:00 – 0:10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Repaso y revisión de la tarea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0:10 – 0:35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Guía del simulacro y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0:35 – 1:00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La lista de cotejo y los formularios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1:00 – 1:10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Receso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1:10 – 2:00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50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Simulacro 1 en salas de trabajo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2:00 – 2:25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Retroalimentación del simulacro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2:25 – 2:35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Receso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2:35 – 3:25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50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Simulacro 2 con rotación de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3:25 – 3:45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Asignación de roles para la sesión presencial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3:45 – 4:00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Cómo funciona el simulacro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Metodología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35"/>
              </a:spcAft>
            </a:pPr>
            <a:r>
              <a:rPr sz="2300" b="0">
                <a:solidFill>
                  <a:srgbClr val="3172AC"/>
                </a:solidFill>
                <a:latin typeface="Calibri"/>
              </a:rPr>
              <a:t>En cada sala de trabajo hay tres roles: la persona árbitra, dos personas que representan a los jugadores y actúan una incidencia de la guía, y una persona observadora con la lista de cotejo. La persona árbitra no conoce la incidencia de antemano.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La incidencia se actúa con un tablero y un reloj reales o con un simulador en pantalla.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La persona árbitra aplica el método de cuatro pasos y comunica su decisión en voz alta.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La persona observadora marca Sí o No en cada ítem y anota observaciones concretas.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Al final de cada incidencia se rotan los roles.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La lista de cotejo de desempeño arbitral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Lista de cotejo oficial del curso (formularios de la Sesión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3172AC"/>
                </a:solidFill>
                <a:latin typeface="Calibri"/>
              </a:rPr>
              <a:t>La lista de cotejo es el instrumento con el que se evalúa el desempeño en el torneo real de la sesión presencial. Conocerla de antemano permite prepararse para cada ítem.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Verifica la acreditación y el emparejamiento antes de iniciar la ronda.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Aplica correctamente las reglas básicas y resuelve reclamos con el procedimiento del reglamento.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Gestiona con criterio las incidencias con el reloj.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Aplica las sanciones correspondientes ante faltas o dispositivos no autorizados.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Calcula correctamente los desempates.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Mantiene un trato respetuoso e imparcial y documenta cada incidencia.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3240"/>
              </a:spcAft>
            </a:pPr>
            <a:r>
              <a:rPr sz="7200" b="1">
                <a:solidFill>
                  <a:srgbClr val="FFFFFF"/>
                </a:solidFill>
                <a:latin typeface="Calibri"/>
              </a:rPr>
              <a:t>Receso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10 minutos</a:t>
            </a:r>
          </a:p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Pausa los relojes: seguimos en breve.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Roles en el torneo presencial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12.4; Manual del árbitro de la FIDE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15"/>
              </a:spcAft>
            </a:pPr>
            <a:r>
              <a:rPr sz="2700" b="0">
                <a:solidFill>
                  <a:srgbClr val="3172AC"/>
                </a:solidFill>
                <a:latin typeface="Calibri"/>
              </a:rPr>
              <a:t>En la sesión presencial se organiza y arbitra un torneo real. Cada participante tiene un rol asignado y rota durante las rondas.</a:t>
            </a:r>
          </a:p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Árbitro principal: decide las incidencias y coordina al equipo.</a:t>
            </a:r>
          </a:p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Árbitros auxiliares: supervisan un grupo de mesas, informan y aplican lo acordado.</a:t>
            </a:r>
          </a:p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Mesa de control: inscripción, emparejamientos, resultados y desempates.</a:t>
            </a:r>
          </a:p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Todas las personas completan la lista de cotejo de otra en al menos una ronda.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1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Guion A: el enroque dudoso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El jugador de negras enroca largo; el de blancas reclama que el rey ya se había movido en la jugada 9 y había vuelto.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1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Guion A: el enroque dudoso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3.8.2.1, 4.3 y 7.5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Se revisan las planillas. Si el rey se movió, el enroque fue una jugada ilegal: se repone la posición, el jugador debe mover el rey (pieza tocada) y el rival recibe la compensación de tiempo que corresponde al ritmo.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2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Guion B: reclamo de triple repetición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Un jugador detiene el reloj y dice que la posición se repitió tres veces. Todavía no hizo la jugada que produciría la tercera repetición.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2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Guion B: reclamo de triple repetición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9.1, 9.2, 9.4 y 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Correcto si anotó la jugada sin hacerla y llamó al árbitro sin tocar ninguna pieza. Se verifica con las planillas; si el reclamo es correcto, son tablas de inmediato. Si no lo es, el reclamo cuenta como oferta de tablas y, en ritmo clásico, el rival recibe dos minutos.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3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Guion C: la oferta de tablas en el turno del rival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Un jugador ofrece tablas mientras corre el reloj de su rival.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3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Guion C: la oferta de tablas en el turno del rival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9.1.2 y 11.5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La oferta es válida, pero hacerla en el turno del rival es una molestia: se le recuerda el procedimiento correcto (jugada, oferta y reloj) y, si se repite, se sanciona según el art. 12.9.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4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Guion D: el público que ayuda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Un docente acompañante comenta en voz baja con su estudiante una partida en curso.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4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Guion D: el público que ayuda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11.3.1 y 12.7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Se retira al docente de la zona de juego; si hubo ayuda, se sanciona al estudiante según el art. 12.9. Se registra la incidencia.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3240"/>
              </a:spcAft>
            </a:pPr>
            <a:r>
              <a:rPr sz="7200" b="1">
                <a:solidFill>
                  <a:srgbClr val="FFFFFF"/>
                </a:solidFill>
                <a:latin typeface="Calibri"/>
              </a:rPr>
              <a:t>Receso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10 minutos</a:t>
            </a:r>
          </a:p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Pausa los relojes: seguimos en breve.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Práctica · Simulacro de arbitraje con observación entre 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45775" cy="4480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102A43"/>
                </a:solidFill>
                <a:latin typeface="Calibri"/>
              </a:rPr>
              <a:t>Cada participante arbitra una partida simulada mientras otra persona observa y completa la lista de cotejo; luego se intercambian los roles.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45775" cy="4480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102A43"/>
                </a:solidFill>
                <a:latin typeface="Calibri"/>
              </a:rPr>
              <a:t>Durante el simulacro, la persona árbitra resolvió bien un reclamo, pero no lo anotó en el acta. ¿Cómo lo marcas en la lista de cotejo?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2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45775" cy="4480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102A43"/>
                </a:solidFill>
                <a:latin typeface="Calibri"/>
              </a:rPr>
              <a:t>Escribe una retroalimentación útil para una persona que aplicó la sanción máxima a una primera falta leve.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Ejercicios: 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1. «Resuelve los reclamos siguiendo el procedimiento»: Sí. «Documenta cada incidencia en la planilla o en el acta»: No, con una observación concreta (qué incidencia faltó registrar).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2. Por ejemplo: «La decisión tuvo base en el art. 12.9, pero la sanción no fue proporcionada: para una primera falta leve correspondía una advertencia. Te sugiero empezar por la sanción más baja de la lista y subir si la falta se repite».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Quiz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Responde de forma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37215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1. Durante un simulacro, no se aplicó la sanción por uso de dispositivo electrónico. ¿Qué instrumento documenta esa observación?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2. ¿Cuál es el propósito principal de asignar roles antes de la sesión presencial?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3. Un reclamo de triple repetición resulta incorrecto. ¿Qué efecto tiene además?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4. ¿En qué orden se ofrecen tablas correctamente?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5. En el simulacro, ¿conoce la persona árbitra de antemano la incidencia que va a arbitrar?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6. Según la lista de cotejo, ¿qué debe verificar la persona árbitra antes de iniciar la ronda?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7. ¿Qué función cumple la mesa de control en el torneo presencial?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102A43"/>
                </a:solidFill>
                <a:latin typeface="Calibri"/>
              </a:rPr>
              <a:t>•  8. ¿Qué hace un árbitro auxiliar cuando no puede resolver una incidencia?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Quiz: 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1. La lista de cotejo.</a:t>
            </a:r>
          </a:p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2. Garantizar una organización clara y una evaluación práctica ordenada.</a:t>
            </a:r>
          </a:p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3. Cuenta como una oferta de tablas.</a:t>
            </a:r>
          </a:p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4. Primero la jugada, después la oferta y por último presionar el reloj.</a:t>
            </a:r>
          </a:p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5. No.</a:t>
            </a:r>
          </a:p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6. La acreditación y el emparejamiento.</a:t>
            </a:r>
          </a:p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7. Inscripción, emparejamientos, resultados y desempates.</a:t>
            </a:r>
          </a:p>
          <a:p>
            <a:pPr>
              <a:spcAft>
                <a:spcPts val="1215"/>
              </a:spcAft>
            </a:pPr>
            <a:r>
              <a:rPr sz="2700" b="0">
                <a:solidFill>
                  <a:srgbClr val="102A43"/>
                </a:solidFill>
                <a:latin typeface="Calibri"/>
              </a:rPr>
              <a:t>•  8. Informa al árbitro principal y aplica lo que se acuerde.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F4C430"/>
                </a:solidFill>
                <a:latin typeface="Calibri"/>
              </a:rPr>
              <a:t>TAREA PARA LA PRÓXIMA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FFFFFF"/>
                </a:solidFill>
                <a:latin typeface="Calibri"/>
              </a:rPr>
              <a:t>Confirmar el rol asignado, revisar la lista de cotejo y reunir los materiales solicitados para el día presencial.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ADCFC"/>
                </a:solidFill>
                <a:latin typeface="Calibri"/>
              </a:rPr>
              <a:t>¿Dudas? Este es el momento. Gracias por tu participación.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