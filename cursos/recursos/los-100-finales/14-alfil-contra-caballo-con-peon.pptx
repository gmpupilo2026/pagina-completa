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4: Piezas menores con peones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14
Alfil contra caballo con un peón</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37 a 40 · 11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Saber cuándo caballo y peón ganan al alfil, cuándo alfil y peón ganan al caballo y cómo controlar al caballo desde una posición precaria.</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El caballo sufre contra el peón de torre y en la banda; el alfil sufre cuando el peón llega a séptima y el caballo tiene una casilla de bloqueo.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37 · Caballo y peón contra alfil: peón central</a:t>
            </a:r>
          </a:p>
          <a:p>
            <a:pPr>
              <a:spcAft>
                <a:spcPts val="600"/>
              </a:spcAft>
            </a:pPr>
            <a:r>
              <a:rPr sz="1600">
                <a:solidFill>
                  <a:srgbClr val="1F2937"/>
                </a:solidFill>
                <a:latin typeface="Calibri"/>
              </a:rPr>
              <a:t>•  Final 38 · Caballo y peón contra alfil: peón de torre</a:t>
            </a:r>
          </a:p>
          <a:p>
            <a:pPr>
              <a:spcAft>
                <a:spcPts val="600"/>
              </a:spcAft>
            </a:pPr>
            <a:r>
              <a:rPr sz="1600">
                <a:solidFill>
                  <a:srgbClr val="1F2937"/>
                </a:solidFill>
                <a:latin typeface="Calibri"/>
              </a:rPr>
              <a:t>•  Final 39 · Alfil y peón contra caballo: peón en séptima</a:t>
            </a:r>
          </a:p>
          <a:p>
            <a:pPr>
              <a:spcAft>
                <a:spcPts val="600"/>
              </a:spcAft>
            </a:pPr>
            <a:r>
              <a:rPr sz="1600">
                <a:solidFill>
                  <a:srgbClr val="1F2937"/>
                </a:solidFill>
                <a:latin typeface="Calibri"/>
              </a:rPr>
              <a:t>•  Final 40 · Control del caballo desde posición precaria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37 · Caballo y peón contra alfil: peón central</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El alfil hace tablas con facilidad contra caballo y peón: si dispone de dos diagonales de cinco casillas ni siquiera necesita a su rey. Con una diagonal de cuatro casillas, rey y caballo pueden coparla y el alfil necesita ayuda, que suele llegar a tiempo.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Si el alfil tiene dos diagonales de cinco casillas para frenar el peón, no necesita a su rey.</a:t>
            </a:r>
          </a:p>
          <a:p>
            <a:pPr>
              <a:spcAft>
                <a:spcPts val="600"/>
              </a:spcAft>
            </a:pPr>
            <a:r>
              <a:rPr sz="1600">
                <a:solidFill>
                  <a:srgbClr val="1F2937"/>
                </a:solidFill>
                <a:latin typeface="Calibri"/>
              </a:rPr>
              <a:t>•  Si la diagonal corta tiene cuatro casillas, el alfil puede ser desalojado: rey y caballo controlan dos casillas cada uno. Cuesta tanto que el rey defensor tiene que estar muy lejos para perder.</a:t>
            </a:r>
          </a:p>
          <a:p>
            <a:pPr>
              <a:spcAft>
                <a:spcPts val="600"/>
              </a:spcAft>
            </a:pPr>
            <a:r>
              <a:rPr sz="1600">
                <a:solidFill>
                  <a:srgbClr val="1F2937"/>
                </a:solidFill>
                <a:latin typeface="Calibri"/>
              </a:rPr>
              <a:t>•  Con la diagonal corta aún menor, crecen las posibilidades del caballo.</a:t>
            </a:r>
          </a:p>
          <a:p>
            <a:pPr>
              <a:spcAft>
                <a:spcPts val="600"/>
              </a:spcAft>
            </a:pPr>
            <a:r>
              <a:rPr sz="1600">
                <a:solidFill>
                  <a:srgbClr val="1F2937"/>
                </a:solidFill>
                <a:latin typeface="Calibri"/>
              </a:rPr>
              <a:t>•  El alfil elige diagonal según el salto del caballo: cuando el caballo sale a una casilla mala, el alfil vuelve a la diagonal larga.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37 · Caballo y peón contra alfil: peón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un caso límite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1.Ac5+ Re2 2.Ag1 Cd1 3.Rc7 Cf2 4.Ah2 Rf1 5.Ae5 Cg4 6.Ad4 Re2 7.Ag1</a:t>
            </a:r>
          </a:p>
        </p:txBody>
      </p:sp>
      <p:sp>
        <p:nvSpPr>
          <p:cNvPr id="7" name="TextBox 6"/>
          <p:cNvSpPr txBox="1"/>
          <p:nvPr/>
        </p:nvSpPr>
        <p:spPr>
          <a:xfrm>
            <a:off x="6309360" y="2910404"/>
            <a:ext cx="5486400" cy="3216075"/>
          </a:xfrm>
          <a:prstGeom prst="rect">
            <a:avLst/>
          </a:prstGeom>
          <a:noFill/>
        </p:spPr>
        <p:txBody>
          <a:bodyPr wrap="square" anchor="t">
            <a:spAutoFit/>
          </a:bodyPr>
          <a:lstStyle/>
          <a:p>
            <a:pPr algn="l">
              <a:spcAft>
                <a:spcPts val="400"/>
              </a:spcAft>
            </a:pPr>
            <a:r>
              <a:rPr sz="1500" b="0" i="0">
                <a:solidFill>
                  <a:srgbClr val="1F2937"/>
                </a:solidFill>
                <a:latin typeface="Calibri"/>
              </a:rPr>
              <a:t>1.Ac5+ va a la diagonal larga (1.Ah4+? pierde: lo desalojan antes de que llegue el rey). 2.Ag1! y 4.Ah2! son las jugadas difíciles: el alfil espera para elegir diagonal según dónde salte el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7-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37 · Caballo y peón contra alfil: peón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alfil vuelve a la diagonal larga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1.Ae5 Cg4 2.Ad4 Re2 3.Ag1</a:t>
            </a:r>
          </a:p>
        </p:txBody>
      </p:sp>
      <p:sp>
        <p:nvSpPr>
          <p:cNvPr id="7" name="TextBox 6"/>
          <p:cNvSpPr txBox="1"/>
          <p:nvPr/>
        </p:nvSpPr>
        <p:spPr>
          <a:xfrm>
            <a:off x="6309360" y="2749731"/>
            <a:ext cx="5486400" cy="3376748"/>
          </a:xfrm>
          <a:prstGeom prst="rect">
            <a:avLst/>
          </a:prstGeom>
          <a:noFill/>
        </p:spPr>
        <p:txBody>
          <a:bodyPr wrap="square" anchor="t">
            <a:spAutoFit/>
          </a:bodyPr>
          <a:lstStyle/>
          <a:p>
            <a:pPr algn="l">
              <a:spcAft>
                <a:spcPts val="400"/>
              </a:spcAft>
            </a:pPr>
            <a:r>
              <a:rPr sz="1500" b="0" i="0">
                <a:solidFill>
                  <a:srgbClr val="1F2937"/>
                </a:solidFill>
                <a:latin typeface="Calibri"/>
              </a:rPr>
              <a:t>Cuando el rey negro deja de controlar e3, el alfil se reinstala en la diagonal larga por el otro lado.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38 · Caballo y peón contra alfil: peón de torre</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Contra el peón de torre el alfil sufre: una diagonal es cortísima o desaparece. Pero existe el recurso de Lloyd: entregar el alfil en el rincón y encerrar al rey rival, que no puede salir porque el caballo no sabe perder un tiempo.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Recurso de Lloyd: obligar al peón a llegar a séptima, dar jaque y meter el alfil en el rincón; tras la captura, el rey defensor se coloca en una casilla del mismo color que la del caballo y el rey enemigo nunca sale.</a:t>
            </a:r>
          </a:p>
          <a:p>
            <a:pPr>
              <a:spcAft>
                <a:spcPts val="600"/>
              </a:spcAft>
            </a:pPr>
            <a:r>
              <a:rPr sz="1600">
                <a:solidFill>
                  <a:srgbClr val="1F2937"/>
                </a:solidFill>
                <a:latin typeface="Calibri"/>
              </a:rPr>
              <a:t>•  Elegir la casilla del rey: la del mismo color que ocupa el caballo; así, al acercarse, el caballo sólo puede dar jaque y nunca controlar la casilla del otro color.</a:t>
            </a:r>
          </a:p>
          <a:p>
            <a:pPr>
              <a:spcAft>
                <a:spcPts val="600"/>
              </a:spcAft>
            </a:pPr>
            <a:r>
              <a:rPr sz="1600">
                <a:solidFill>
                  <a:srgbClr val="1F2937"/>
                </a:solidFill>
                <a:latin typeface="Calibri"/>
              </a:rPr>
              <a:t>•  Con el rey defensor un poco más lejos, el bando del caballo puede maniobrar para llegar al zugzwang: no hay que precipitarse en expulsar al alfil del rincón.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Lloyd 1860: el recurso del rincón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1.Ad7 h2 2.Ac6+ Rg1 3.Ah1 Rxh1 4.Rf2 Cf3 5.Rf1 Cd2+ 6.Rf2 Ce4+ 7.Rf1</a:t>
            </a:r>
          </a:p>
        </p:txBody>
      </p:sp>
      <p:sp>
        <p:nvSpPr>
          <p:cNvPr id="7" name="TextBox 6"/>
          <p:cNvSpPr txBox="1"/>
          <p:nvPr/>
        </p:nvSpPr>
        <p:spPr>
          <a:xfrm>
            <a:off x="6309360" y="2918242"/>
            <a:ext cx="5486400" cy="3208237"/>
          </a:xfrm>
          <a:prstGeom prst="rect">
            <a:avLst/>
          </a:prstGeom>
          <a:noFill/>
        </p:spPr>
        <p:txBody>
          <a:bodyPr wrap="square" anchor="t">
            <a:spAutoFit/>
          </a:bodyPr>
          <a:lstStyle/>
          <a:p>
            <a:pPr algn="l">
              <a:spcAft>
                <a:spcPts val="400"/>
              </a:spcAft>
            </a:pPr>
            <a:r>
              <a:rPr sz="1500" b="0" i="0">
                <a:solidFill>
                  <a:srgbClr val="1F2937"/>
                </a:solidFill>
                <a:latin typeface="Calibri"/>
              </a:rPr>
              <a:t>Las negras amenazan Rg1 y Cg2. 1.Ad7! obliga al peón a séptima; tras 3.Ah1! el rey negro queda encerrado: 4.Rf2! (4.Rf1? Cf5 5.Rf2 Cg3 y zugzwang).</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encierro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1...Rxh1 2.Rf2 Cf3 3.Rf1 Cd2+ 4.Rf2 Ce4+ 5.Rf1</a:t>
            </a:r>
          </a:p>
        </p:txBody>
      </p:sp>
      <p:sp>
        <p:nvSpPr>
          <p:cNvPr id="7" name="TextBox 6"/>
          <p:cNvSpPr txBox="1"/>
          <p:nvPr/>
        </p:nvSpPr>
        <p:spPr>
          <a:xfrm>
            <a:off x="6309360" y="2832027"/>
            <a:ext cx="5486400" cy="3294452"/>
          </a:xfrm>
          <a:prstGeom prst="rect">
            <a:avLst/>
          </a:prstGeom>
          <a:noFill/>
        </p:spPr>
        <p:txBody>
          <a:bodyPr wrap="square" anchor="t">
            <a:spAutoFit/>
          </a:bodyPr>
          <a:lstStyle/>
          <a:p>
            <a:pPr algn="l">
              <a:spcAft>
                <a:spcPts val="400"/>
              </a:spcAft>
            </a:pPr>
            <a:r>
              <a:rPr sz="1500" b="0" i="0">
                <a:solidFill>
                  <a:srgbClr val="1F2937"/>
                </a:solidFill>
                <a:latin typeface="Calibri"/>
              </a:rPr>
              <a:t>El rey blanco va a la casilla del mismo color que el caballo. Como el caballo cambia de color en cada salto, nunca podrá controlar la casilla que el rey necesita.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Stein - Dorfman, URSS 1970: el rey defensor más lejos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negras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1...Cd3 2.Aa1 Cb2 3.Re1 Ca4 4.Re2 Rc1 5.Re1 Cc5 6.Re2 Rb1 7.Rd1 Cd3 8.Rd2 Cb2 9.Rc3 Rxa1 10.Rc2 Cd3</a:t>
            </a:r>
          </a:p>
        </p:txBody>
      </p:sp>
      <p:sp>
        <p:nvSpPr>
          <p:cNvPr id="7" name="TextBox 6"/>
          <p:cNvSpPr txBox="1"/>
          <p:nvPr/>
        </p:nvSpPr>
        <p:spPr>
          <a:xfrm>
            <a:off x="6309360" y="3039726"/>
            <a:ext cx="5486400" cy="3086753"/>
          </a:xfrm>
          <a:prstGeom prst="rect">
            <a:avLst/>
          </a:prstGeom>
          <a:noFill/>
        </p:spPr>
        <p:txBody>
          <a:bodyPr wrap="square" anchor="t">
            <a:spAutoFit/>
          </a:bodyPr>
          <a:lstStyle/>
          <a:p>
            <a:pPr algn="l">
              <a:spcAft>
                <a:spcPts val="400"/>
              </a:spcAft>
            </a:pPr>
            <a:r>
              <a:rPr sz="1500" b="0" i="0">
                <a:solidFill>
                  <a:srgbClr val="1F2937"/>
                </a:solidFill>
                <a:latin typeface="Calibri"/>
              </a:rPr>
              <a:t>Parece la posición de Lloyd, pero el rey blanco está una casilla más lejos y con juego exacto las negras impiden el encierro. En la partida siguió 3...Rb1? 4.Rd2! y tablas. 3...Ca4! mantiene rey y caballo en las casillas ideales hasta el zugzwang.</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zugzwang final</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negras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1.Rc3 Rxa1 2.Rc2 Cd3</a:t>
            </a:r>
          </a:p>
        </p:txBody>
      </p:sp>
      <p:sp>
        <p:nvSpPr>
          <p:cNvPr id="7" name="TextBox 6"/>
          <p:cNvSpPr txBox="1"/>
          <p:nvPr/>
        </p:nvSpPr>
        <p:spPr>
          <a:xfrm>
            <a:off x="6309360" y="2730137"/>
            <a:ext cx="5486400" cy="3396342"/>
          </a:xfrm>
          <a:prstGeom prst="rect">
            <a:avLst/>
          </a:prstGeom>
          <a:noFill/>
        </p:spPr>
        <p:txBody>
          <a:bodyPr wrap="square" anchor="t">
            <a:spAutoFit/>
          </a:bodyPr>
          <a:lstStyle/>
          <a:p>
            <a:pPr algn="l">
              <a:spcAft>
                <a:spcPts val="400"/>
              </a:spcAft>
            </a:pPr>
            <a:r>
              <a:rPr sz="1500" b="0" i="0">
                <a:solidFill>
                  <a:srgbClr val="1F2937"/>
                </a:solidFill>
                <a:latin typeface="Calibri"/>
              </a:rPr>
              <a:t>Todas las maniobras negras apuntaban a esta posición: al rey blanco le toca mover y no puede alcanzar la casilla bloqueadora.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39 · Alfil y peón contra caballo: peón en séptima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es el caballo el que lucha contra el peón, las cosas están mucho peor para el defensor. Con el peón en séptima la defensa pasiva suele perder por zugzwang; sólo salvan el jaque continuo del caballo o el ahogado cerca de la banda.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defensor delante del peón en casilla de color contrario al alfil: tablas casi seguras.</a:t>
            </a:r>
          </a:p>
          <a:p>
            <a:pPr>
              <a:spcAft>
                <a:spcPts val="600"/>
              </a:spcAft>
            </a:pPr>
            <a:r>
              <a:rPr sz="1600">
                <a:solidFill>
                  <a:srgbClr val="1F2937"/>
                </a:solidFill>
                <a:latin typeface="Calibri"/>
              </a:rPr>
              <a:t>•  Si el rey no puede ponerse delante, el caballo debe bloquear con ayuda de su rey; solo, será expulsado.</a:t>
            </a:r>
          </a:p>
          <a:p>
            <a:pPr>
              <a:spcAft>
                <a:spcPts val="600"/>
              </a:spcAft>
            </a:pPr>
            <a:r>
              <a:rPr sz="1600">
                <a:solidFill>
                  <a:srgbClr val="1F2937"/>
                </a:solidFill>
                <a:latin typeface="Calibri"/>
              </a:rPr>
              <a:t>•  Con el peón en séptima, rey y caballo controlando la casilla de coronación no basta: hay muchas posiciones de zugzwang.</a:t>
            </a:r>
          </a:p>
          <a:p>
            <a:pPr>
              <a:spcAft>
                <a:spcPts val="600"/>
              </a:spcAft>
            </a:pPr>
            <a:r>
              <a:rPr sz="1600">
                <a:solidFill>
                  <a:srgbClr val="1F2937"/>
                </a:solidFill>
                <a:latin typeface="Calibri"/>
              </a:rPr>
              <a:t>•  Recursos de tablas: el jaque continuo del caballo y el ahogado si el peón está cerca de la banda.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Zugzwang, ahogado o jaque continuo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1.Rc7 Cd8 2.Ad5</a:t>
            </a:r>
          </a:p>
        </p:txBody>
      </p:sp>
      <p:sp>
        <p:nvSpPr>
          <p:cNvPr id="7" name="TextBox 6"/>
          <p:cNvSpPr txBox="1"/>
          <p:nvPr/>
        </p:nvSpPr>
        <p:spPr>
          <a:xfrm>
            <a:off x="6309360" y="2710542"/>
            <a:ext cx="5486400" cy="3415937"/>
          </a:xfrm>
          <a:prstGeom prst="rect">
            <a:avLst/>
          </a:prstGeom>
          <a:noFill/>
        </p:spPr>
        <p:txBody>
          <a:bodyPr wrap="square" anchor="t">
            <a:spAutoFit/>
          </a:bodyPr>
          <a:lstStyle/>
          <a:p>
            <a:pPr algn="l">
              <a:spcAft>
                <a:spcPts val="400"/>
              </a:spcAft>
            </a:pPr>
            <a:r>
              <a:rPr sz="1500" b="0" i="0">
                <a:solidFill>
                  <a:srgbClr val="1F2937"/>
                </a:solidFill>
                <a:latin typeface="Calibri"/>
              </a:rPr>
              <a:t>1.Ad5? Cd6+ 2.Rc7 Ce8+ 3.Rc8 Cd6+ sería jaque continuo. 1.Rc7! (o 1.Ac6!) quita los jaques y el zugzwang cuesta el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del bloqueo: blancas ganan, juegue quien juegue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1.Ag6+ Rxg6 2.Rxg8</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Comprobalo también con negras al mover.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del bloqueo: tablas, juegue quien juegue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1.Re7 Rh8 2.Rf6 Cg6</a:t>
            </a:r>
          </a:p>
        </p:txBody>
      </p:sp>
      <p:sp>
        <p:nvSpPr>
          <p:cNvPr id="7" name="TextBox 6"/>
          <p:cNvSpPr txBox="1"/>
          <p:nvPr/>
        </p:nvSpPr>
        <p:spPr>
          <a:xfrm>
            <a:off x="6309360" y="2726218"/>
            <a:ext cx="5486400" cy="3400261"/>
          </a:xfrm>
          <a:prstGeom prst="rect">
            <a:avLst/>
          </a:prstGeom>
          <a:noFill/>
        </p:spPr>
        <p:txBody>
          <a:bodyPr wrap="square" anchor="t">
            <a:spAutoFit/>
          </a:bodyPr>
          <a:lstStyle/>
          <a:p>
            <a:pPr algn="l">
              <a:spcAft>
                <a:spcPts val="400"/>
              </a:spcAft>
            </a:pPr>
            <a:r>
              <a:rPr sz="1500" b="0" i="0">
                <a:solidFill>
                  <a:srgbClr val="1F2937"/>
                </a:solidFill>
                <a:latin typeface="Calibri"/>
              </a:rPr>
              <a:t>Aquí el ahogado y los jaques salvan al bando del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del bloqueo: blancas ganan, juegue quien juegue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1.Ag5+ Rf5 2.Rxg7</a:t>
            </a:r>
          </a:p>
        </p:txBody>
      </p:sp>
      <p:sp>
        <p:nvSpPr>
          <p:cNvPr id="7" name="TextBox 6"/>
          <p:cNvSpPr txBox="1"/>
          <p:nvPr/>
        </p:nvSpPr>
        <p:spPr>
          <a:xfrm>
            <a:off x="6309360" y="2718380"/>
            <a:ext cx="5486400" cy="3408099"/>
          </a:xfrm>
          <a:prstGeom prst="rect">
            <a:avLst/>
          </a:prstGeom>
          <a:noFill/>
        </p:spPr>
        <p:txBody>
          <a:bodyPr wrap="square" anchor="t">
            <a:spAutoFit/>
          </a:bodyPr>
          <a:lstStyle/>
          <a:p>
            <a:pPr algn="l">
              <a:spcAft>
                <a:spcPts val="400"/>
              </a:spcAft>
            </a:pPr>
            <a:r>
              <a:rPr sz="1500" b="0" i="0">
                <a:solidFill>
                  <a:srgbClr val="1F2937"/>
                </a:solidFill>
                <a:latin typeface="Calibri"/>
              </a:rPr>
              <a:t>Comprobalo también con negras al mover.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40 · Control del caballo desde posición precaria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el peón más atrás, si rey y caballo controlan la casilla de delante del peón (de color contrario al alfil) no hay zugzwang. Interesan las posiciones donde el caballo controla el paso del peón desde una casilla precaria: entonces hay que calcular y buscar el zugzwang.</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No hay regla general: con el caballo en posición precaria todo depende de si puede ser desalojado por medios tácticos, casi siempre con ayuda del zugzwang.</a:t>
            </a:r>
          </a:p>
          <a:p>
            <a:pPr>
              <a:spcAft>
                <a:spcPts val="600"/>
              </a:spcAft>
            </a:pPr>
            <a:r>
              <a:rPr sz="1600">
                <a:solidFill>
                  <a:srgbClr val="1F2937"/>
                </a:solidFill>
                <a:latin typeface="Calibri"/>
              </a:rPr>
              <a:t>•  El bando fuerte no debe dejar que el caballo cambie de posición gratis: cada tiempo del alfil debe conservar el zugzwang.</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40 · Control del caballo desde posición precaria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Bron 1955</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1.Ab3+ Rc5 2.Aa2 Rc6 3.Re6 Ch7 4.Ad5+ Rc5 5.Re7 Cf6</a:t>
            </a:r>
          </a:p>
        </p:txBody>
      </p:sp>
      <p:sp>
        <p:nvSpPr>
          <p:cNvPr id="7" name="TextBox 6"/>
          <p:cNvSpPr txBox="1"/>
          <p:nvPr/>
        </p:nvSpPr>
        <p:spPr>
          <a:xfrm>
            <a:off x="6309360" y="2851621"/>
            <a:ext cx="5486400" cy="3274858"/>
          </a:xfrm>
          <a:prstGeom prst="rect">
            <a:avLst/>
          </a:prstGeom>
          <a:noFill/>
        </p:spPr>
        <p:txBody>
          <a:bodyPr wrap="square" anchor="t">
            <a:spAutoFit/>
          </a:bodyPr>
          <a:lstStyle/>
          <a:p>
            <a:pPr algn="l">
              <a:spcAft>
                <a:spcPts val="400"/>
              </a:spcAft>
            </a:pPr>
            <a:r>
              <a:rPr sz="1500" b="0" i="0">
                <a:solidFill>
                  <a:srgbClr val="1F2937"/>
                </a:solidFill>
                <a:latin typeface="Calibri"/>
              </a:rPr>
              <a:t>1.Ab3+ Rc5 (1...Re5 2.Ae6 y ya hay zugzwang) 2.Aa2! (2.Re6? Ch7! 3.Re7 Cf8 y el rey negro gira alrededor del peón). Tras 5...Cf8 6.Ae4 es otra posición de zugzwang ganadora.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Jugá el peón de torre contra el motor con el alfil y después con el caballo.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