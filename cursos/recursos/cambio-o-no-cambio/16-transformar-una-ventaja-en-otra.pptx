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692640" y="-1463040"/>
            <a:ext cx="4572000" cy="457200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645920" y="4937760"/>
            <a:ext cx="3840480" cy="384048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594360"/>
            <a:ext cx="1005840" cy="100584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594360"/>
            <a:ext cx="1005840" cy="1005840"/>
          </a:xfrm>
          <a:prstGeom prst="rect">
            <a:avLst/>
          </a:prstGeom>
          <a:noFill/>
        </p:spPr>
        <p:txBody>
          <a:bodyPr wrap="square">
            <a:spAutoFit/>
          </a:bodyPr>
          <a:lstStyle/>
          <a:p>
            <a:pPr algn="ctr"/>
            <a:r>
              <a:rPr sz="3200" b="1">
                <a:solidFill>
                  <a:srgbClr val="0A1F33"/>
                </a:solidFill>
                <a:latin typeface="Calibri"/>
              </a:rPr>
              <a:t>16</a:t>
            </a:r>
          </a:p>
        </p:txBody>
      </p:sp>
      <p:sp>
        <p:nvSpPr>
          <p:cNvPr id="7" name="TextBox 6"/>
          <p:cNvSpPr txBox="1"/>
          <p:nvPr/>
        </p:nvSpPr>
        <p:spPr>
          <a:xfrm>
            <a:off x="1920240" y="685800"/>
            <a:ext cx="9509760" cy="457200"/>
          </a:xfrm>
          <a:prstGeom prst="rect">
            <a:avLst/>
          </a:prstGeom>
          <a:noFill/>
        </p:spPr>
        <p:txBody>
          <a:bodyPr wrap="square">
            <a:spAutoFit/>
          </a:bodyPr>
          <a:lstStyle/>
          <a:p>
            <a:r>
              <a:rPr sz="1300" b="1">
                <a:solidFill>
                  <a:srgbClr val="F0B429"/>
                </a:solidFill>
                <a:latin typeface="Calibri"/>
              </a:rPr>
              <a:t>AJEDREZ INTEGRAL  ·  ¿CAMBIO O NO CAMBIO?</a:t>
            </a:r>
          </a:p>
        </p:txBody>
      </p:sp>
      <p:sp>
        <p:nvSpPr>
          <p:cNvPr id="8" name="TextBox 7"/>
          <p:cNvSpPr txBox="1"/>
          <p:nvPr/>
        </p:nvSpPr>
        <p:spPr>
          <a:xfrm>
            <a:off x="1920240" y="1097280"/>
            <a:ext cx="9509760" cy="365760"/>
          </a:xfrm>
          <a:prstGeom prst="rect">
            <a:avLst/>
          </a:prstGeom>
          <a:noFill/>
        </p:spPr>
        <p:txBody>
          <a:bodyPr wrap="square">
            <a:spAutoFit/>
          </a:bodyPr>
          <a:lstStyle/>
          <a:p>
            <a:r>
              <a:rPr sz="1300" b="0">
                <a:solidFill>
                  <a:srgbClr val="9FB3C8"/>
                </a:solidFill>
                <a:latin typeface="Calibri"/>
              </a:rPr>
              <a:t>Bloque 4 · Cambiar hacia el final</a:t>
            </a:r>
          </a:p>
        </p:txBody>
      </p:sp>
      <p:sp>
        <p:nvSpPr>
          <p:cNvPr id="9" name="TextBox 8"/>
          <p:cNvSpPr txBox="1"/>
          <p:nvPr/>
        </p:nvSpPr>
        <p:spPr>
          <a:xfrm>
            <a:off x="640080" y="2651760"/>
            <a:ext cx="10881360" cy="2011680"/>
          </a:xfrm>
          <a:prstGeom prst="rect">
            <a:avLst/>
          </a:prstGeom>
          <a:noFill/>
        </p:spPr>
        <p:txBody>
          <a:bodyPr wrap="square">
            <a:spAutoFit/>
          </a:bodyPr>
          <a:lstStyle/>
          <a:p>
            <a:r>
              <a:rPr sz="4000" b="1">
                <a:solidFill>
                  <a:srgbClr val="FFFFFF"/>
                </a:solidFill>
                <a:latin typeface="Cambria"/>
              </a:rPr>
              <a:t>Transformar una ventaja en otra</a:t>
            </a:r>
          </a:p>
        </p:txBody>
      </p:sp>
      <p:sp>
        <p:nvSpPr>
          <p:cNvPr id="10" name="TextBox 9"/>
          <p:cNvSpPr txBox="1"/>
          <p:nvPr/>
        </p:nvSpPr>
        <p:spPr>
          <a:xfrm>
            <a:off x="640080" y="4617720"/>
            <a:ext cx="9601200" cy="914400"/>
          </a:xfrm>
          <a:prstGeom prst="rect">
            <a:avLst/>
          </a:prstGeom>
          <a:noFill/>
        </p:spPr>
        <p:txBody>
          <a:bodyPr wrap="square">
            <a:spAutoFit/>
          </a:bodyPr>
          <a:lstStyle/>
          <a:p>
            <a:r>
              <a:rPr sz="1800" b="0">
                <a:solidFill>
                  <a:srgbClr val="CADCFC"/>
                </a:solidFill>
                <a:latin typeface="Calibri"/>
              </a:rPr>
              <a:t>Una ventaja no se cobra siempre igual. A veces hay que cambiarla por otra más fácil de ganar.</a:t>
            </a:r>
          </a:p>
        </p:txBody>
      </p:sp>
      <p:sp>
        <p:nvSpPr>
          <p:cNvPr id="11" name="TextBox 10"/>
          <p:cNvSpPr txBox="1"/>
          <p:nvPr/>
        </p:nvSpPr>
        <p:spPr>
          <a:xfrm>
            <a:off x="640080" y="6309360"/>
            <a:ext cx="5486400" cy="365760"/>
          </a:xfrm>
          <a:prstGeom prst="rect">
            <a:avLst/>
          </a:prstGeom>
          <a:noFill/>
        </p:spPr>
        <p:txBody>
          <a:bodyPr wrap="square">
            <a:spAutoFit/>
          </a:bodyPr>
          <a:lstStyle/>
          <a:p>
            <a:r>
              <a:rPr sz="1100" b="0">
                <a:solidFill>
                  <a:srgbClr val="627D98"/>
                </a:solidFill>
                <a:latin typeface="Calibri"/>
              </a:rPr>
              <a:t>ajedrez-integral.com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Transformar una ventaja en otra</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Las ventajas cambian de forma. Una iniciativa se puede convertir en material, un material de más en un final ganado, una buena estructura en un peón pasado. Cada cambio de piezas es una oportunidad de transformar lo que tienes en algo más fácil de cobrar.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Transformar una ventaja en otra</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La pregunta útil es: ¿qué ventaja tengo y cuál me resultaría más simple de ganar? Si tienes la iniciativa pero el rival amenaza con consolidarse, quizá convenga cambiarla por un peón seguro. Si tienes un peón de más pero mucha presión rival, quizá convenga devolver algo para cambiar las piezas peligrosas y quedarte con un final limpio.</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Transformar una ventaja en otra</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Los jugadores fuertes no se aferran a la forma de su ventaja: la transforman cuando hace falta, y casi siempre lo hacen con un cambio.</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280160" y="-1463040"/>
            <a:ext cx="4114800" cy="4114800"/>
          </a:xfrm>
          <a:prstGeom prst="ellipse">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175504" y="822960"/>
            <a:ext cx="1828800" cy="182880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175504" y="822960"/>
            <a:ext cx="1828800" cy="1828800"/>
          </a:xfrm>
          <a:prstGeom prst="rect">
            <a:avLst/>
          </a:prstGeom>
          <a:noFill/>
        </p:spPr>
        <p:txBody>
          <a:bodyPr wrap="square">
            <a:spAutoFit/>
          </a:bodyPr>
          <a:lstStyle/>
          <a:p>
            <a:pPr algn="ctr"/>
            <a:r>
              <a:rPr sz="4400" b="1">
                <a:solidFill>
                  <a:srgbClr val="0A1F33"/>
                </a:solidFill>
                <a:latin typeface="Calibri"/>
              </a:rPr>
              <a:t>✔</a:t>
            </a:r>
          </a:p>
        </p:txBody>
      </p:sp>
      <p:sp>
        <p:nvSpPr>
          <p:cNvPr id="6" name="TextBox 5"/>
          <p:cNvSpPr txBox="1"/>
          <p:nvPr/>
        </p:nvSpPr>
        <p:spPr>
          <a:xfrm>
            <a:off x="548640" y="2880360"/>
            <a:ext cx="11064240" cy="457200"/>
          </a:xfrm>
          <a:prstGeom prst="rect">
            <a:avLst/>
          </a:prstGeom>
          <a:noFill/>
        </p:spPr>
        <p:txBody>
          <a:bodyPr wrap="square">
            <a:spAutoFit/>
          </a:bodyPr>
          <a:lstStyle/>
          <a:p>
            <a:pPr algn="ctr"/>
            <a:r>
              <a:rPr sz="1400" b="1">
                <a:solidFill>
                  <a:srgbClr val="F0B429"/>
                </a:solidFill>
                <a:latin typeface="Calibri"/>
              </a:rPr>
              <a:t>PARA PRACTICAR</a:t>
            </a:r>
          </a:p>
        </p:txBody>
      </p:sp>
      <p:sp>
        <p:nvSpPr>
          <p:cNvPr id="7" name="TextBox 6"/>
          <p:cNvSpPr txBox="1"/>
          <p:nvPr/>
        </p:nvSpPr>
        <p:spPr>
          <a:xfrm>
            <a:off x="1280160" y="3383280"/>
            <a:ext cx="9601200" cy="2377440"/>
          </a:xfrm>
          <a:prstGeom prst="rect">
            <a:avLst/>
          </a:prstGeom>
          <a:noFill/>
        </p:spPr>
        <p:txBody>
          <a:bodyPr wrap="square">
            <a:spAutoFit/>
          </a:bodyPr>
          <a:lstStyle/>
          <a:p>
            <a:pPr algn="ctr"/>
            <a:r>
              <a:rPr sz="2200" b="0">
                <a:solidFill>
                  <a:srgbClr val="FFFFFF"/>
                </a:solidFill>
                <a:latin typeface="Cambria"/>
              </a:rPr>
              <a:t>Revisa una partida en la que tenías ventaja y no ganaste. Busca el momento en que podías transformarla en un final simple con un cambio. ¿Qué te impidió hacerlo?</a:t>
            </a:r>
          </a:p>
        </p:txBody>
      </p:sp>
      <p:sp>
        <p:nvSpPr>
          <p:cNvPr id="8" name="TextBox 7"/>
          <p:cNvSpPr txBox="1"/>
          <p:nvPr/>
        </p:nvSpPr>
        <p:spPr>
          <a:xfrm>
            <a:off x="548640" y="6263640"/>
            <a:ext cx="11064240" cy="365760"/>
          </a:xfrm>
          <a:prstGeom prst="rect">
            <a:avLst/>
          </a:prstGeom>
          <a:noFill/>
        </p:spPr>
        <p:txBody>
          <a:bodyPr wrap="square">
            <a:spAutoFit/>
          </a:bodyPr>
          <a:lstStyle/>
          <a:p>
            <a:pPr algn="ctr"/>
            <a:r>
              <a:rPr sz="1200" b="0">
                <a:solidFill>
                  <a:srgbClr val="9FB3C8"/>
                </a:solidFill>
                <a:latin typeface="Calibri"/>
              </a:rPr>
              <a:t>¿Cambio o no cambio? · Lección 16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