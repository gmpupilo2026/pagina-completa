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Repasar en plenaria; cada respuesta con su artículo.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Repasar en plenaria; cada respuesta con su artículo.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377440"/>
          </a:xfrm>
          <a:prstGeom prst="rect">
            <a:avLst/>
          </a:prstGeom>
          <a:solidFill>
            <a:srgbClr val="F4C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09728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SESIÓN 1  ·  FORMACIÓN AJEDREZ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1033272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Encuadre del curso y reglas básicas del ajedrez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886200"/>
            <a:ext cx="103327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Movimientos legales, jaque, jaque mate, ahogado y tablas, con los errores más frecuentes en el aula.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9FB3C8"/>
                </a:solidFill>
                <a:latin typeface="Calibri"/>
              </a:rPr>
              <a:t>Programa de Formación para Personas Árbitras y Asesoras  ·  Juegos Deportivos Estudiantiles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Al terminar esta sesión, cada participante podrá: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Conocer la organización del curso, sus evaluaciones y la sesión presencial de cierre.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Describir el rol, los deberes y los límites de la persona árbitra y asesora en los JDE.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Aplicar las reglas básicas del movimiento, incluidas las jugadas especiales y la regla de pieza tocada.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Distinguir sin dudar jaque, jaque mate, ahogado, posición muerta y las demás formas de tablas.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Leer y escribir partidas en notación algebraica y conocer las obligaciones de la planilla.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Cronograma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Sesión 1 · 5 horas (300 minutos)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830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463040"/>
                <a:gridCol w="7162495"/>
              </a:tblGrid>
              <a:tr h="41563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Horario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Bienvenida y encuadre del curso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0:15 – 0:45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El rol de la persona árbitra y asesora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0:45 – 1:30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Reglas básicas I: tablero, piezas y jugadas especiales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1:30 – 1:45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1:45 – 2:30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Reglas básicas II: cómo termina una partida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2:30 – 3:00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Notación algebraica y planilla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3:00 – 3:15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3:15 – 4:05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Práctica en salas de trabajo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4:05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Quiz de la sesión y errores frecuentes en el aula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 persona árbitra: deberes y límites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11.9, 12.1, 12.2, 12.3 y 12.6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25"/>
              </a:spcAft>
            </a:pPr>
            <a:r>
              <a:rPr sz="2500" b="0">
                <a:solidFill>
                  <a:srgbClr val="3172AC"/>
                </a:solidFill>
                <a:latin typeface="Calibri"/>
              </a:rPr>
              <a:t>El deber central de quien arbitra es que se cumplan las Leyes y cuidar la competición. De ahí salen los demás: supervisar las partidas (en especial en apuro de tiempo), mantener el orden en la sala, aplicar sanciones proporcionadas y tomar medidas especiales para personas con discapacidad o que necesitan atención médica.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Una sola voz decide: el árbitro principal. Los adjuntos observan, informan y aplican lo acordado.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Quien arbitra no puede jugar el torneo que dirige.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Explica una regla si el jugador lo pide, pero no aconseja sobre la posición.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No avisa que el rival ya movió ni que el jugador olvidó presionar el reloj.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El tablero y el inicio de la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1.1, 2.1, 7.2 y 7.3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3172AC"/>
                </a:solidFill>
                <a:latin typeface="Calibri"/>
              </a:rPr>
              <a:t>El tablero se coloca con una casilla clara en la esquina derecha de cada jugador («clara a la derecha»): h1 y a8 son claras, y la dama empieza en la casilla de su color. Empiezan siempre las blancas y luego se juega por turnos.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Si se descubre que la posición inicial estaba mal armada, la partida se anula y se juega de nuevo.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Si solo el tablero estaba mal orientado, la posición se pasa a un tablero bien colocado y la partida sigue.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Si los colores estaban invertidos y cada bando hizo menos de 10 jugadas, se empieza otra partida con los colores correctos; con 10 o más, se sigue.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Movimientos y jugadas especiales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3.5, 3.7.4, 3.7.5, 3.8.2, 4.2, 4.3 y 4.4.2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3172AC"/>
                </a:solidFill>
                <a:latin typeface="Calibri"/>
              </a:rPr>
              <a:t>Solo el caballo salta por encima de otras piezas. El enroque es una jugada de rey: se toca primero el rey. La captura al paso solo se puede hacer en la jugada inmediatamente siguiente al avance doble. La coronación forma parte de la misma jugada: el peón se cambia en ese momento por dama, torre, alfil o caballo del mismo color.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Mover el rey hace perder los dos enroques; mover una torre, solo el de ese lado, aunque vuelva a su casilla.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Nunca se enroca estando en jaque.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Pieza tocada, pieza jugada: si se toca deliberadamente una pieza propia que tiene jugada legal, hay que moverla.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«Compongo» se dice antes de tocar la pieza y solo en el propio turno.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Movimientos y jugadas especiales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3.5, 3.7.4, 3.7.5, 3.8.2, 4.2, 4.3 y 4.4.2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Si con intención de enrocar se toca primero la torre, hay que mover la torre y ya no se puede enrocar con ella.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15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Cómo termina una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3.9, 5.1, 5.2, 9.1, 9.2 y 9.3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3172AC"/>
                </a:solidFill>
                <a:latin typeface="Calibri"/>
              </a:rPr>
              <a:t>Hay jaque cuando el rey está atacado; se sale capturando la pieza que da jaque, tapando o moviendo el rey. Si no existe ninguna jugada legal para salir del jaque, es jaque mate y la partida termina. Si el bando que mueve no está en jaque pero no tiene ninguna jugada legal, es ahogado: tablas.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Posición muerta: ninguna serie de jugadas legales puede dar mate (por ejemplo, rey contra rey, o rey y alfil contra rey). Son tablas de inmediato, sin reclamo.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Tablas por acuerdo: la oferta se hace después de mover y antes de presionar el reloj; la partida termina cuando el rival acepta.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Triple repetición y regla de las 50 jugadas: son tablas por reclamo del jugador, con el procedimiento del art. 9.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Darse la mano sin una oferta previa no es un acuerdo de tablas.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Notación algebraica y planilla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8.1, 8.3, 8.7 y apéndice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3172AC"/>
                </a:solidFill>
                <a:latin typeface="Calibri"/>
              </a:rPr>
              <a:t>En competencias de ritmo clásico cada jugador anota sus jugadas y las del rival, jugada a jugada, de forma legible y en notación algebraica. Las iniciales de las piezas pueden ser las del idioma del jugador (R, D, T, A, C en español).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No se anota la jugada antes de hacerla, salvo para reclamar tablas.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La planilla debe estar a la vista del árbitro durante toda la partida.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Las ofertas de tablas se anotan con el signo (=).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Al terminar, ambos jugadores firman las dos planillas con el resultado. Firmar no quita el derecho a apelar.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Las planillas pertenecen al organizador.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Errores frecuentes en el ámbito escolar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3.7, 3.8, 5.2.2 y 7.5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3172AC"/>
                </a:solidFill>
                <a:latin typeface="Calibri"/>
              </a:rPr>
              <a:t>En los torneos estudiantiles se repiten siempre las mismas confusiones. Conocerlas permite anticiparlas en la charla técnica previa a la primera ronda.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Llamar «mate» a un ahogado, o al revés.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Dejar el peón en la octava fila sin cambiarlo y presionar el reloj: es una jugada ilegal.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Enrocar después de haber movido el rey y haberlo devuelto a su casilla.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Capturar al paso una o dos jugadas tarde.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Seguir jugando con rey contra rey «para ver qué pasa»: la partida ya terminó en tablas.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El enroque que empezó por la torre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Con el rey y la torre de h1 sin mover, un estudiante toma primero la torre para enrocar corto.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El enroque que empezó por la torre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4.4.2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Aplica pieza tocada: como tocó primero la torre, debe mover esa torre y no puede enrocar con ella. El enroque se hace tocando primero el rey.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El peón que llegó a la octava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Un peón blanco llega a e8, el jugador lo deja como peón y presiona el reloj.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El peón que llegó a la octava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3.7.5, 7.5.2 y 7.5.5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Es una jugada ilegal completada: el cambio del peón es parte de la misma jugada. No se repone la posición: el peón se cambia por una dama del mismo color y se aplica la sanción de la primera jugada ilegal (dos minutos más para el rival en ritmo clásico, uno en rápidas y relámpago).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Rey contra rey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Tras varios cambios quedan solo los dos reyes. Los jugadores quieren seguir moviendo.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Rey contra rey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5.2.2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La partida terminó en tablas en el momento en que se llegó a esa posición: es posición muerta y no hace falta ningún reclamo.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 captura al paso tardía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Un peón negro avanzó de d7 a d5 hace dos jugadas. Ahora el peón blanco de e5 lo captura al paso.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 captura al paso tardía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3.7.4.1 y 7.5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Es una jugada ilegal: el derecho a capturar al paso solo existe en la respuesta inmediata al avance doble.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15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Práctica · Identificación de jugadas legales y finales de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A partir de un set de 8 posiciones, cada participante determina si hay jaque, jaque mate, ahogado o tablas, y justifica su respuesta con base en el reglamento.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1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22</a:t>
            </a:r>
          </a:p>
        </p:txBody>
      </p:sp>
      <p:pic>
        <p:nvPicPr>
          <p:cNvPr id="5" name="Picture 4" descr="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12064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371600"/>
            <a:ext cx="5608015" cy="4846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Posición 1. Juegan las negras. ¿Hay jaque, jaque mate, ahogado o posición muerta? ¿Sigue la partida?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Juegan las negras.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2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23</a:t>
            </a:r>
          </a:p>
        </p:txBody>
      </p:sp>
      <p:pic>
        <p:nvPicPr>
          <p:cNvPr id="5" name="Picture 4" descr="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12064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371600"/>
            <a:ext cx="5608015" cy="4846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Posición 2. Juegan las negras. ¿Qué situación es y cuál es el resultado?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Juegan las negras.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3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24</a:t>
            </a:r>
          </a:p>
        </p:txBody>
      </p:sp>
      <p:pic>
        <p:nvPicPr>
          <p:cNvPr id="5" name="Picture 4" descr="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12064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371600"/>
            <a:ext cx="5608015" cy="4846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Posición 3. Juegan las negras. ¿Qué situación es? ¿Sigue la partida?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Juegan las negras.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4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25</a:t>
            </a:r>
          </a:p>
        </p:txBody>
      </p:sp>
      <p:pic>
        <p:nvPicPr>
          <p:cNvPr id="5" name="Picture 4" descr="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12064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371600"/>
            <a:ext cx="5608015" cy="4846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Posición 4. Juegan las blancas. ¿Puede seguir la partida?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Juegan las blancas.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5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26</a:t>
            </a:r>
          </a:p>
        </p:txBody>
      </p:sp>
      <p:pic>
        <p:nvPicPr>
          <p:cNvPr id="5" name="Picture 4" descr="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12064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371600"/>
            <a:ext cx="5608015" cy="4846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Posición 5. Juegan las blancas. Se llegó tras 1.f3 e5 2.g4 Dh4. ¿Qué situación es?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Juegan las blancas.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6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27</a:t>
            </a:r>
          </a:p>
        </p:txBody>
      </p:sp>
      <p:pic>
        <p:nvPicPr>
          <p:cNvPr id="5" name="Picture 4" descr="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12064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371600"/>
            <a:ext cx="5608015" cy="4846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Posición 6. Juegan las negras. ¿Puede seguir la partida?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Juegan las negras.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7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28</a:t>
            </a:r>
          </a:p>
        </p:txBody>
      </p:sp>
      <p:pic>
        <p:nvPicPr>
          <p:cNvPr id="5" name="Picture 4" descr="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12064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371600"/>
            <a:ext cx="5608015" cy="4846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Posición 7. Juegan las negras. ¿Puede seguir la partida?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Juegan las negras.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8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29</a:t>
            </a:r>
          </a:p>
        </p:txBody>
      </p:sp>
      <p:pic>
        <p:nvPicPr>
          <p:cNvPr id="5" name="Picture 4" descr="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12064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371600"/>
            <a:ext cx="5608015" cy="4846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Posición 8. Juegan las negras. ¿Qué situación es y cuál es el resultado?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Juegan las negras.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Ejercicios: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1. Jaque mate: el rey está en jaque y no tiene ninguna jugada legal. La partida terminó (art. 5.1).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2. Ahogado: el rey no está en jaque y el bando que mueve no tiene ninguna jugada legal. Tablas (art. 5.2.1).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3. Jaque, pero no mate: el rey tiene al menos una jugada legal para salir del jaque. La partida sigue (art. 3.9).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4. Posición muerta: ninguna serie de jugadas legales puede terminar en mate. Tablas de inmediato, sin reclamo (art. 5.2.2).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5. Jaque mate: el rey está en jaque y no tiene ninguna jugada legal. La partida terminó (art. 5.1).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Ejercicios: respuestas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6. Posición muerta: ninguna serie de jugadas legales puede terminar en mate. Tablas de inmediato, sin reclamo (art. 5.2.2).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7. No hay jaque y sí hay material para dar mate: la partida sigue.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8. Ahogado: el rey no está en jaque y el bando que mueve no tiene ninguna jugada legal. Tablas (art. 5.2.1).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1. Un rey está en jaque y no existe ninguna jugada legal que lo saque de esa condición. ¿Cómo se denomina esta situación?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2. Un jugador no está en jaque, pero no dispone de ninguna jugada legal en su turno. ¿Qué resultado corresponde?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3. ¿Cuándo se pierde para siempre el derecho a enrocar de un lado?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4. Quedan en el tablero rey contra rey. ¿Qué corresponde?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5. ¿Cuándo puede un jugador decir «compongo» para acomodar una pieza?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6. ¿Qué debe anotar cada jugador en su planilla en una partida de ritmo clásico?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7. ¿Puede el árbitro principal jugar como participante en el torneo que dirige?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 (continuación)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8. Un jugador le pide al árbitro que le explique qué significa una regla durante la partida. ¿Puede hacerlo?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9. Se descubre a mitad de partida que la posición inicial estaba mal armada desde el principio. ¿Qué corresponde?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10. ¿Hasta qué momento es legal capturar un peón al paso?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11. ¿Qué letras se usan en español para las piezas al anotar una partida en notación algebraica?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12. ¿Puede un jugador escribir en la planilla una jugada antes de hacerla en el tablero?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1. Jaque mate.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2. Partida ahogada (tablas).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3. Cuando ya se movió el rey o la torre de ese lado, aunque hayan vuelto a su casilla.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4. Tablas de inmediato: es posición muerta, sin necesidad de reclamo.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5. Solo en su turno y antes de tocar la pieza.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6. Sus jugadas y las del rival, jugada a jugada, en notación algebraica y de forma legible.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7. No.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8. Sí: puede explicar el significado de la regla, pero no debe opinar sobre la posición actual ni aconsejar una jugada.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9. Se anula la partida y se juega de nuevo (distinto de si solo el tablero estaba mal orientado, donde la posición se traslada a un tablero bien colocado y la partida sigue).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10. Solo en la jugada inmediatamente siguiente al avance doble del peón rival; después se pierde el derecho.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11. R (rey), D (dama), T (torre), A (alfil) y C (caballo); el peón no lleva letra.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12. Solo como excepción, para reclamar tablas por triple repetición o por la regla de las 50 jugadas.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Leer el capítulo de reglas básicas de las Leyes de Ajedrez de la FIDE y completar una ficha breve de reflexión sobre una situación de arbitraje básica vivida en su contexto educativo.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728655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