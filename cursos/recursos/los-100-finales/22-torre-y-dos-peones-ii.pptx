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A4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 i="0">
                <a:solidFill>
                  <a:srgbClr val="F0B429"/>
                </a:solidFill>
                <a:latin typeface="Calibri"/>
              </a:rPr>
              <a:t>Los 100 finales que hay que conocer  ·  Bloque 5: Finales de torre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463040"/>
            <a:ext cx="105156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 i="0">
                <a:solidFill>
                  <a:srgbClr val="FFFFFF"/>
                </a:solidFill>
                <a:latin typeface="Georgia"/>
              </a:rPr>
              <a:t>Lección 22
Torre y dos peones contra torre (II)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4206240"/>
            <a:ext cx="105156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F0F4F8"/>
                </a:solidFill>
                <a:latin typeface="Calibri"/>
              </a:rPr>
              <a:t>Finales 73 a 76 · 9 posiciones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F0B429"/>
                </a:solidFill>
                <a:latin typeface="Calibri"/>
              </a:rPr>
              <a:t>Ajedrez Integral · Oscar Angulo Cubero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Objetivo de la lección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9431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Aplicar el sistema defensivo Gligoric-Smyslov, defender contra peones ligados bloqueados, la torre atascada en séptima y Vancura contra dos peones.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Idea guía: El defensor se salva bloqueando y atacando el peón atrasado; el bando fuerte necesita a su rey activo para romper el bloqueo.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Contenido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73 · El sistema defensivo (Gligoric - Smyslov)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74 · Peones ligados bloqueados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75 · Torre atascada delante de su peón en séptima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Final 76 · Defensa de Vancura contra dos peones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73 · El sistema defensivo (Gligoric - Smyslov)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los peones más atrás y el rey no empujado a octava, el defensor tiene buenas posibilidades. La partida Gligoric - Smyslov es un compendio de ideas defensivas: torre en la quinta fila o en el ángulo, rey en f7/g7, y delante del peón cuando llega a sexta.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Evitar el rey cortado en octava, que pierde a menudo.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La torre está bien en la quinta dificultando el paso del rey; después espera en el ángulo (a1/b1) lista para jaques por detrás y laterales.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rey espera en g7 o f7; si recibe jaque en la columna de caballo, a igualdad de condiciones va a la de alfil.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Cuando un peón llega a sexta, el rey defensor se coloca delante.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el peón de torre avanzado a h6 hay que tener paciencia: esperar con la torre en a1 hasta que el peón llegue a séptima y entonces tomar contacto con el rey.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Gligoric - Smyslov, Moscú 1947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1.Tg6+ Rf7 2.Tg5 Tb1 3.Tc5 Rf6 4.Tc6+ Rg7 5.Rg5 Tg1+ 6.Rf5 Ta1 7.Tc7+ Rh6 8.Te7 Tb1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977025"/>
            <a:ext cx="5486400" cy="314945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1...Rf7! (columna f mejor que h). 2.f5 Tb1! y en cuanto los peones llegan a quinta la torre se prepara para jaquear por detrás. 4...Rg7! evita que la oposición lo mande a octava.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la situación crítica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1.Tc5 Rf6 2.Tc6+ Rg7 3.Rg5 Tg1+ 4.Rf5 Ta1 5.Tc7+ Rh6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5540"/>
            <a:ext cx="5486400" cy="327093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lucha por no verse desplazado a la octava fila es la clave. Nunca ir a la primera fila con el rey.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Diagrama de análisis: el peón llega a sexta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1...Rh7 2.Td6 Ta2 3.Rg5 Tg2+ 4.Rf6 Rxh6 5.Re7+ Rh7 6.f5 Te2+ 7.Te6 Ta2 8.f6 Ta8 9.Rf7 Rh6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00538"/>
            <a:ext cx="5486400" cy="312594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17.h6+, 17...Rh7! se coloca delante del peón. Al final se llega a un final de torre y peón con lado largo y torre en la octava: tablas.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3-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73 · El sistema defensivo (Gligoric - Smyslov)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Una variante importante: el avance del peón de torre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negras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1...Ta1 2.Tg7+ Rf6 3.Tc7 Rg6 4.h7 Th1 5.Rf3 Rf5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35946"/>
            <a:ext cx="5486400" cy="329053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Tras 3.h6, 3...Ta1! espera con paciencia hasta que el peón llegue a séptima (3...Tg1+? 4.Rf5 Th1 5.Tg7+! pierde). Cuando llega a h7 el rey toma contacto con el peón f y las tablas son evidentes.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74 · Peones ligados bloqueados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1658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Sorprende la primera vez: dos peones ligados no siempre ganan si el rey defensor se incrusta entre ellos y los bloquea. Hace falta alguna dificultad añadida, como la banda del tablero o la pasividad de las piezas blancas.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583180"/>
            <a:ext cx="10972800" cy="3634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Bloqueo de peones ligados por el rey: funciona con peones de caballo y torre (Kling y Horwitz 1851) y en algunas posiciones centrales con el rey blanco cortado.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peones centrales y el rey fuerte bien situado, el bloqueo se rompe forzando un final de peones ganado.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4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74 · Peones ligados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Bloqueo en la banda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1.Td4 Tb6 2.Td8 Tb4+ 3.Re5 Tb7 4.Tg8+ Rh7 5.Te8 Rg6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51621"/>
            <a:ext cx="5486400" cy="327485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 torre blanca intenta sacar al rey de su resistente posición, pero 3...Tb7! amenaza el peón g y cubre g7 y h7.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4-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74 · Peones ligados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ligados centrales: el bloqueo se rompe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Ganan blancas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1.Te4 Tb6 2.Te6+ Txe6 3.fxe6 Rxe6 4.Rg5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804595"/>
            <a:ext cx="5486400" cy="332188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Con el rey blanco bien situado, las blancas fuerzan un final de peones ganado (con el rey en g4 sería tablas).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4-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74 · Peones ligados bloqueados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Peones centrales con el rey blanco cortado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627D98"/>
                </a:solidFill>
                <a:latin typeface="Calibri"/>
              </a:rPr>
              <a:t>Juegan blancas   ·   Tablas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1.Rf6 Te1 2.Tg3 Te2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2726218"/>
            <a:ext cx="5486400" cy="3400261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Aquí el bloqueo funciona porque el rey blanco está cortado y no puede ayudar.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75 · Torre atascada delante de su peón en séptima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El caso de tablas más conocido: un peón en séptima con la torre propia delante pierde toda su actividad, y ni un segundo peón alcanza para ganar si está en las columnas g o h.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la torre atascada delante del peón en séptima, las piezas defensoras esperan: torre en la columna del peón y rey en g7/h7; jaques sólo cuando el rey rival defiende el peón.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El segundo peón en g o h no sirve para sacar al rey de su zona segura; en cualquier otra columna sí ganaría.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Pensarlo muy bien antes de avanzar un peón a séptima con la torre propia delante.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5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75 · Torre atascada delante de su peón en séptima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La torre atascada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blancas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1.Rf3 Ta2 2.Re4 Ta1 3.Rd5 Ta2 4.Rc6 Ta1 5.Rb6 Tb1+ 6.Rc6 Ta1 7.g4 Ta2 8.g5 Ta1 9.g6 Ta2 10.Rb7 Tb2+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39726"/>
            <a:ext cx="5486400" cy="308675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Las negras no tienen ninguna intención de comer el peón g. Cuando el rey blanco defiende el peón a, empiezan los jaques.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Final 76 · Defensa de Vancura contra dos peones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Con peones en las columnas a y h existe una extensión de la defensa de Vancura: la torre negra ataca de lado el peón de torre y no deja salir a la torre blanca de su pasiva posición delante del peón.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286000"/>
            <a:ext cx="109728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Contra peones a y h: la torre defensora toma la posición de Vancura (ataca el peón a de lado) y el rey se queda en g7/h7.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Si el peón avanza a séptima, la torre se pone detrás y volvemos al caso anterior.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Con una disposición defensiva errónea (torre detrás del peón desde el principio), las blancas ganan sin problemas.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F76-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85800"/>
            <a:ext cx="5577840" cy="557784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309360" y="41148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 i="0">
                <a:solidFill>
                  <a:srgbClr val="627D98"/>
                </a:solidFill>
                <a:latin typeface="Calibri"/>
              </a:rPr>
              <a:t>Final 76 · Defensa de Vancura contra dos peones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09360" y="777240"/>
            <a:ext cx="5486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102A43"/>
                </a:solidFill>
                <a:latin typeface="Georgia"/>
              </a:rPr>
              <a:t>Vancura contra dos peones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309360" y="1828800"/>
            <a:ext cx="5486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 i="0">
                <a:solidFill>
                  <a:srgbClr val="F0B429"/>
                </a:solidFill>
                <a:latin typeface="Calibri"/>
              </a:rPr>
              <a:t>Juegan negras   ·   Tablas   ·   posición clave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309360" y="2240280"/>
            <a:ext cx="54864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0" i="0">
                <a:solidFill>
                  <a:srgbClr val="243B53"/>
                </a:solidFill>
                <a:latin typeface="Consolas"/>
              </a:rPr>
              <a:t>1...Te4 2.a5 Te5 3.Rf3 Th5 4.Rg3 Tc5 5.a6 Tc6 6.Rf4 Rh7 7.Re5 Tb6 8.Rd5 Tg6 9.Rc5 Tf6 10.Rb5 Tf5+ 11.Rb6 Tf6+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3078915"/>
            <a:ext cx="5486400" cy="304756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 i="0">
                <a:solidFill>
                  <a:srgbClr val="1F2937"/>
                </a:solidFill>
                <a:latin typeface="Calibri"/>
              </a:rPr>
              <a:t>1...Te4! única. En cuanto el rey blanco se aleja del peón a pueden cesar los jaques. 1...Ta1? 2.Rf4 y el rey llega a a7: se gana como en el Final 66.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800" b="1" i="0">
                <a:solidFill>
                  <a:srgbClr val="102A43"/>
                </a:solidFill>
                <a:latin typeface="Georgia"/>
              </a:rPr>
              <a:t>Para practicar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109728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Reproducí la defensa Gligoric-Smyslov desde el diagrama hasta el bloqueo.</a:t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/>
            </a:r>
          </a:p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F2937"/>
                </a:solidFill>
                <a:latin typeface="Calibri"/>
              </a:rPr>
              <a:t>En la página del curso cada posición se puede jugar contra el motor (Stockfish) al nivel que elijas; la hoja de ejercicios en PDF reúne las posiciones de esta lección para resolver sin tablero.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063240"/>
            <a:ext cx="10972800" cy="31546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Recorré cada línea principal hasta entender el porqué de cada jugada.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Practicá primero las posiciones clave, después las demás.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2937"/>
                </a:solidFill>
                <a:latin typeface="Calibri"/>
              </a:rPr>
              <a:t>•  Anotá las reglas de cada final con tus palabras.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 i="0">
                <a:solidFill>
                  <a:srgbClr val="627D98"/>
                </a:solidFill>
                <a:latin typeface="Calibri"/>
              </a:rPr>
              <a:t>Los 100 finales que hay que conocer · Lección 22 · Ajedrez Integral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