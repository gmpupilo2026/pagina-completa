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notesMaster" Target="notesMasters/notesMaster1.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Dejar que el grupo decida antes de pasar a la siguiente diapositiva.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Dejar que el grupo decida antes de pasar a la siguiente diapositiva.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Dejar que el grupo decida antes de pasar a la siguiente diapositiva.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Repasar en plenaria; cada respuesta con su artículo.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minuto por pregunta, y después las respuestas.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minuto por pregunta, y después las respuestas.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728655" y="6419088"/>
            <a:ext cx="1097280" cy="365760"/>
          </a:xfrm>
          <a:prstGeom prst="rect">
            <a:avLst/>
          </a:prstGeom>
          <a:noFill/>
        </p:spPr>
        <p:txBody>
          <a:bodyPr wrap="square" lIns="45720" rIns="45720">
            <a:spAutoFit/>
          </a:bodyPr>
          <a:lstStyle/>
          <a:p>
            <a:pPr algn="ctr">
              <a:spcAft>
                <a:spcPts val="540"/>
              </a:spcAft>
            </a:pPr>
            <a:r>
              <a:rPr sz="1200" b="0">
                <a:solidFill>
                  <a:srgbClr val="9FB3C8"/>
                </a:solidFill>
                <a:latin typeface="Calibri"/>
              </a:rPr>
              <a:t>1</a:t>
            </a:r>
          </a:p>
        </p:txBody>
      </p:sp>
      <p:sp>
        <p:nvSpPr>
          <p:cNvPr id="4" name="Rectangle 3"/>
          <p:cNvSpPr/>
          <p:nvPr/>
        </p:nvSpPr>
        <p:spPr>
          <a:xfrm>
            <a:off x="731520" y="2011680"/>
            <a:ext cx="109728" cy="2377440"/>
          </a:xfrm>
          <a:prstGeom prst="rect">
            <a:avLst/>
          </a:prstGeom>
          <a:solidFill>
            <a:srgbClr val="F4C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1097280"/>
            <a:ext cx="10058400" cy="548640"/>
          </a:xfrm>
          <a:prstGeom prst="rect">
            <a:avLst/>
          </a:prstGeom>
          <a:noFill/>
        </p:spPr>
        <p:txBody>
          <a:bodyPr wrap="square" lIns="45720" rIns="45720">
            <a:spAutoFit/>
          </a:bodyPr>
          <a:lstStyle/>
          <a:p>
            <a:pPr>
              <a:spcAft>
                <a:spcPts val="900"/>
              </a:spcAft>
            </a:pPr>
            <a:r>
              <a:rPr sz="2000" b="1">
                <a:solidFill>
                  <a:srgbClr val="F4C430"/>
                </a:solidFill>
                <a:latin typeface="Calibri"/>
              </a:rPr>
              <a:t>SESIÓN 6  ·  FORMACIÓN AJEDREZ</a:t>
            </a:r>
          </a:p>
        </p:txBody>
      </p:sp>
      <p:sp>
        <p:nvSpPr>
          <p:cNvPr id="6" name="TextBox 5"/>
          <p:cNvSpPr txBox="1"/>
          <p:nvPr/>
        </p:nvSpPr>
        <p:spPr>
          <a:xfrm>
            <a:off x="1051560" y="1920240"/>
            <a:ext cx="10332720" cy="1828800"/>
          </a:xfrm>
          <a:prstGeom prst="rect">
            <a:avLst/>
          </a:prstGeom>
          <a:noFill/>
        </p:spPr>
        <p:txBody>
          <a:bodyPr wrap="square" lIns="45720" rIns="45720">
            <a:spAutoFit/>
          </a:bodyPr>
          <a:lstStyle/>
          <a:p>
            <a:pPr>
              <a:spcAft>
                <a:spcPts val="1980"/>
              </a:spcAft>
            </a:pPr>
            <a:r>
              <a:rPr sz="4400" b="1">
                <a:solidFill>
                  <a:srgbClr val="FFFFFF"/>
                </a:solidFill>
                <a:latin typeface="Calibri"/>
              </a:rPr>
              <a:t>Resolución de casos en grupos y experiencias regionales</a:t>
            </a:r>
          </a:p>
        </p:txBody>
      </p:sp>
      <p:sp>
        <p:nvSpPr>
          <p:cNvPr id="7" name="TextBox 6"/>
          <p:cNvSpPr txBox="1"/>
          <p:nvPr/>
        </p:nvSpPr>
        <p:spPr>
          <a:xfrm>
            <a:off x="1051560" y="3886200"/>
            <a:ext cx="10332720" cy="1280160"/>
          </a:xfrm>
          <a:prstGeom prst="rect">
            <a:avLst/>
          </a:prstGeom>
          <a:noFill/>
        </p:spPr>
        <p:txBody>
          <a:bodyPr wrap="square" lIns="45720" rIns="45720">
            <a:spAutoFit/>
          </a:bodyPr>
          <a:lstStyle/>
          <a:p>
            <a:pPr>
              <a:spcAft>
                <a:spcPts val="990"/>
              </a:spcAft>
            </a:pPr>
            <a:r>
              <a:rPr sz="2200" b="0">
                <a:solidFill>
                  <a:srgbClr val="CADCFC"/>
                </a:solidFill>
                <a:latin typeface="Calibri"/>
              </a:rPr>
              <a:t>Casos integradores de arbitraje y elementos logísticos de un torneo estudiantil.</a:t>
            </a:r>
          </a:p>
        </p:txBody>
      </p:sp>
      <p:sp>
        <p:nvSpPr>
          <p:cNvPr id="8" name="TextBox 7"/>
          <p:cNvSpPr txBox="1"/>
          <p:nvPr/>
        </p:nvSpPr>
        <p:spPr>
          <a:xfrm>
            <a:off x="1051560" y="5760720"/>
            <a:ext cx="10332720" cy="457200"/>
          </a:xfrm>
          <a:prstGeom prst="rect">
            <a:avLst/>
          </a:prstGeom>
          <a:noFill/>
        </p:spPr>
        <p:txBody>
          <a:bodyPr wrap="square" lIns="45720" rIns="45720">
            <a:spAutoFit/>
          </a:bodyPr>
          <a:lstStyle/>
          <a:p>
            <a:pPr>
              <a:spcAft>
                <a:spcPts val="720"/>
              </a:spcAft>
            </a:pPr>
            <a:r>
              <a:rPr sz="1600" b="0">
                <a:solidFill>
                  <a:srgbClr val="9FB3C8"/>
                </a:solidFill>
                <a:latin typeface="Calibri"/>
              </a:rPr>
              <a:t>Programa de Formación para Personas Árbitras y Asesoras  ·  Juegos Deportivos Estudiantiles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3172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277295" cy="777240"/>
          </a:xfrm>
          <a:prstGeom prst="rect">
            <a:avLst/>
          </a:prstGeom>
          <a:noFill/>
        </p:spPr>
        <p:txBody>
          <a:bodyPr wrap="square" lIns="45720" rIns="45720" anchor="ctr">
            <a:spAutoFit/>
          </a:bodyPr>
          <a:lstStyle/>
          <a:p>
            <a:pPr algn="ctr">
              <a:spcAft>
                <a:spcPts val="1530"/>
              </a:spcAft>
            </a:pPr>
            <a:r>
              <a:rPr sz="3400" b="1">
                <a:solidFill>
                  <a:srgbClr val="FFFFFF"/>
                </a:solidFill>
                <a:latin typeface="Calibri"/>
              </a:rPr>
              <a:t>Objetivos de la sesión</a:t>
            </a:r>
          </a:p>
        </p:txBody>
      </p:sp>
      <p:sp>
        <p:nvSpPr>
          <p:cNvPr id="4" name="Rectangle 3"/>
          <p:cNvSpPr/>
          <p:nvPr/>
        </p:nvSpPr>
        <p:spPr>
          <a:xfrm>
            <a:off x="0" y="960120"/>
            <a:ext cx="12191695" cy="548640"/>
          </a:xfrm>
          <a:prstGeom prst="rect">
            <a:avLst/>
          </a:prstGeom>
          <a:solidFill>
            <a:srgbClr val="4E6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87552"/>
            <a:ext cx="11277295" cy="502920"/>
          </a:xfrm>
          <a:prstGeom prst="rect">
            <a:avLst/>
          </a:prstGeom>
          <a:noFill/>
        </p:spPr>
        <p:txBody>
          <a:bodyPr wrap="square" lIns="45720" rIns="45720" anchor="ctr">
            <a:spAutoFit/>
          </a:bodyPr>
          <a:lstStyle/>
          <a:p>
            <a:pPr algn="ctr">
              <a:spcAft>
                <a:spcPts val="945"/>
              </a:spcAft>
            </a:pPr>
            <a:r>
              <a:rPr sz="2100" b="0">
                <a:solidFill>
                  <a:srgbClr val="FFFFFF"/>
                </a:solidFill>
                <a:latin typeface="Calibri"/>
              </a:rPr>
              <a:t>Al terminar esta sesión, cada participante podrá:</a:t>
            </a:r>
          </a:p>
        </p:txBody>
      </p:sp>
      <p:sp>
        <p:nvSpPr>
          <p:cNvPr id="6" name="TextBox 5"/>
          <p:cNvSpPr txBox="1"/>
          <p:nvPr/>
        </p:nvSpPr>
        <p:spPr>
          <a:xfrm>
            <a:off x="10728655" y="6419088"/>
            <a:ext cx="1097280" cy="365760"/>
          </a:xfrm>
          <a:prstGeom prst="rect">
            <a:avLst/>
          </a:prstGeom>
          <a:noFill/>
        </p:spPr>
        <p:txBody>
          <a:bodyPr wrap="square" lIns="45720" rIns="45720">
            <a:spAutoFit/>
          </a:bodyPr>
          <a:lstStyle/>
          <a:p>
            <a:pPr algn="ctr">
              <a:spcAft>
                <a:spcPts val="540"/>
              </a:spcAft>
            </a:pPr>
            <a:r>
              <a:rPr sz="1200" b="0">
                <a:solidFill>
                  <a:srgbClr val="627D98"/>
                </a:solidFill>
                <a:latin typeface="Calibri"/>
              </a:rPr>
              <a:t>2</a:t>
            </a:r>
          </a:p>
        </p:txBody>
      </p:sp>
      <p:sp>
        <p:nvSpPr>
          <p:cNvPr id="7" name="Rectangle 6"/>
          <p:cNvSpPr/>
          <p:nvPr/>
        </p:nvSpPr>
        <p:spPr>
          <a:xfrm>
            <a:off x="457200" y="1783080"/>
            <a:ext cx="11277295" cy="438912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920240"/>
            <a:ext cx="10637215" cy="4114800"/>
          </a:xfrm>
          <a:prstGeom prst="rect">
            <a:avLst/>
          </a:prstGeom>
          <a:noFill/>
        </p:spPr>
        <p:txBody>
          <a:bodyPr wrap="square" lIns="45720" rIns="45720">
            <a:spAutoFit/>
          </a:bodyPr>
          <a:lstStyle/>
          <a:p>
            <a:pPr>
              <a:spcAft>
                <a:spcPts val="1350"/>
              </a:spcAft>
            </a:pPr>
            <a:r>
              <a:rPr sz="3000" b="0">
                <a:solidFill>
                  <a:srgbClr val="102A43"/>
                </a:solidFill>
                <a:latin typeface="Calibri"/>
              </a:rPr>
              <a:t>•  Resolver casos complejos con un método: hechos, artículo, decisión y registro.</a:t>
            </a:r>
          </a:p>
          <a:p>
            <a:pPr>
              <a:spcAft>
                <a:spcPts val="1350"/>
              </a:spcAft>
            </a:pPr>
            <a:r>
              <a:rPr sz="3000" b="0">
                <a:solidFill>
                  <a:srgbClr val="102A43"/>
                </a:solidFill>
                <a:latin typeface="Calibri"/>
              </a:rPr>
              <a:t>•  Planificar la logística de un torneo estudiantil antes, durante y después de las rondas.</a:t>
            </a:r>
          </a:p>
          <a:p>
            <a:pPr>
              <a:spcAft>
                <a:spcPts val="1350"/>
              </a:spcAft>
            </a:pPr>
            <a:r>
              <a:rPr sz="3000" b="0">
                <a:solidFill>
                  <a:srgbClr val="102A43"/>
                </a:solidFill>
                <a:latin typeface="Calibri"/>
              </a:rPr>
              <a:t>•  Comunicar decisiones arbitrales con claridad a estudiantes, familias y docentes.</a:t>
            </a:r>
          </a:p>
          <a:p>
            <a:pPr>
              <a:spcAft>
                <a:spcPts val="1350"/>
              </a:spcAft>
            </a:pPr>
            <a:r>
              <a:rPr sz="3000" b="0">
                <a:solidFill>
                  <a:srgbClr val="102A43"/>
                </a:solidFill>
                <a:latin typeface="Calibri"/>
              </a:rPr>
              <a:t>•  Redactar el informe de una incidencia.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3172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277295" cy="777240"/>
          </a:xfrm>
          <a:prstGeom prst="rect">
            <a:avLst/>
          </a:prstGeom>
          <a:noFill/>
        </p:spPr>
        <p:txBody>
          <a:bodyPr wrap="square" lIns="45720" rIns="45720" anchor="ctr">
            <a:spAutoFit/>
          </a:bodyPr>
          <a:lstStyle/>
          <a:p>
            <a:pPr algn="ctr">
              <a:spcAft>
                <a:spcPts val="1530"/>
              </a:spcAft>
            </a:pPr>
            <a:r>
              <a:rPr sz="3400" b="1">
                <a:solidFill>
                  <a:srgbClr val="FFFFFF"/>
                </a:solidFill>
                <a:latin typeface="Calibri"/>
              </a:rPr>
              <a:t>Cronograma de la sesión</a:t>
            </a:r>
          </a:p>
        </p:txBody>
      </p:sp>
      <p:sp>
        <p:nvSpPr>
          <p:cNvPr id="4" name="Rectangle 3"/>
          <p:cNvSpPr/>
          <p:nvPr/>
        </p:nvSpPr>
        <p:spPr>
          <a:xfrm>
            <a:off x="0" y="960120"/>
            <a:ext cx="12191695" cy="548640"/>
          </a:xfrm>
          <a:prstGeom prst="rect">
            <a:avLst/>
          </a:prstGeom>
          <a:solidFill>
            <a:srgbClr val="4E6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87552"/>
            <a:ext cx="11277295" cy="502920"/>
          </a:xfrm>
          <a:prstGeom prst="rect">
            <a:avLst/>
          </a:prstGeom>
          <a:noFill/>
        </p:spPr>
        <p:txBody>
          <a:bodyPr wrap="square" lIns="45720" rIns="45720" anchor="ctr">
            <a:spAutoFit/>
          </a:bodyPr>
          <a:lstStyle/>
          <a:p>
            <a:pPr algn="ctr">
              <a:spcAft>
                <a:spcPts val="945"/>
              </a:spcAft>
            </a:pPr>
            <a:r>
              <a:rPr sz="2100" b="0">
                <a:solidFill>
                  <a:srgbClr val="FFFFFF"/>
                </a:solidFill>
                <a:latin typeface="Calibri"/>
              </a:rPr>
              <a:t>Sesión 6 · 5 horas (300 minutos)</a:t>
            </a:r>
          </a:p>
        </p:txBody>
      </p:sp>
      <p:sp>
        <p:nvSpPr>
          <p:cNvPr id="6" name="TextBox 5"/>
          <p:cNvSpPr txBox="1"/>
          <p:nvPr/>
        </p:nvSpPr>
        <p:spPr>
          <a:xfrm>
            <a:off x="10728655" y="6419088"/>
            <a:ext cx="1097280" cy="365760"/>
          </a:xfrm>
          <a:prstGeom prst="rect">
            <a:avLst/>
          </a:prstGeom>
          <a:noFill/>
        </p:spPr>
        <p:txBody>
          <a:bodyPr wrap="square" lIns="45720" rIns="45720">
            <a:spAutoFit/>
          </a:bodyPr>
          <a:lstStyle/>
          <a:p>
            <a:pPr algn="ctr">
              <a:spcAft>
                <a:spcPts val="540"/>
              </a:spcAft>
            </a:pPr>
            <a:r>
              <a:rPr sz="1200" b="0">
                <a:solidFill>
                  <a:srgbClr val="627D98"/>
                </a:solidFill>
                <a:latin typeface="Calibri"/>
              </a:rPr>
              <a:t>3</a:t>
            </a:r>
          </a:p>
        </p:txBody>
      </p:sp>
      <p:graphicFrame>
        <p:nvGraphicFramePr>
          <p:cNvPr id="7" name="Table 6"/>
          <p:cNvGraphicFramePr>
            <a:graphicFrameLocks noGrp="1"/>
          </p:cNvGraphicFramePr>
          <p:nvPr/>
        </p:nvGraphicFramePr>
        <p:xfrm>
          <a:off x="731520" y="1783080"/>
          <a:ext cx="10728655" cy="4572000"/>
        </p:xfrm>
        <a:graphic>
          <a:graphicData uri="http://schemas.openxmlformats.org/drawingml/2006/table">
            <a:tbl>
              <a:tblPr firstRow="1" bandRow="1">
                <a:tableStyleId>{5C22544A-7EE6-4342-B048-85BDC9FD1C3A}</a:tableStyleId>
              </a:tblPr>
              <a:tblGrid>
                <a:gridCol w="2103120"/>
                <a:gridCol w="1463040"/>
                <a:gridCol w="7162495"/>
              </a:tblGrid>
              <a:tr h="415636">
                <a:tc>
                  <a:txBody>
                    <a:bodyPr/>
                    <a:lstStyle/>
                    <a:p>
                      <a:r>
                        <a:rPr sz="1800" b="1">
                          <a:solidFill>
                            <a:srgbClr val="FFFFFF"/>
                          </a:solidFill>
                          <a:latin typeface="Calibri"/>
                        </a:rPr>
                        <a:t>Horario</a:t>
                      </a:r>
                    </a:p>
                  </a:txBody>
                  <a:tcPr>
                    <a:solidFill>
                      <a:srgbClr val="3172AC"/>
                    </a:solidFill>
                  </a:tcPr>
                </a:tc>
                <a:tc>
                  <a:txBody>
                    <a:bodyPr/>
                    <a:lstStyle/>
                    <a:p>
                      <a:r>
                        <a:rPr sz="1800" b="1">
                          <a:solidFill>
                            <a:srgbClr val="FFFFFF"/>
                          </a:solidFill>
                          <a:latin typeface="Calibri"/>
                        </a:rPr>
                        <a:t>Duración</a:t>
                      </a:r>
                    </a:p>
                  </a:txBody>
                  <a:tcPr>
                    <a:solidFill>
                      <a:srgbClr val="3172AC"/>
                    </a:solidFill>
                  </a:tcPr>
                </a:tc>
                <a:tc>
                  <a:txBody>
                    <a:bodyPr/>
                    <a:lstStyle/>
                    <a:p>
                      <a:r>
                        <a:rPr sz="1800" b="1">
                          <a:solidFill>
                            <a:srgbClr val="FFFFFF"/>
                          </a:solidFill>
                          <a:latin typeface="Calibri"/>
                        </a:rPr>
                        <a:t>Bloque</a:t>
                      </a:r>
                    </a:p>
                  </a:txBody>
                  <a:tcPr>
                    <a:solidFill>
                      <a:srgbClr val="3172AC"/>
                    </a:solidFill>
                  </a:tcPr>
                </a:tc>
              </a:tr>
              <a:tr h="415636">
                <a:tc>
                  <a:txBody>
                    <a:bodyPr/>
                    <a:lstStyle/>
                    <a:p>
                      <a:r>
                        <a:rPr sz="1600" b="0">
                          <a:solidFill>
                            <a:srgbClr val="102A43"/>
                          </a:solidFill>
                          <a:latin typeface="Calibri"/>
                        </a:rPr>
                        <a:t>0:00 – 0:15</a:t>
                      </a:r>
                    </a:p>
                  </a:txBody>
                  <a:tcPr>
                    <a:solidFill>
                      <a:srgbClr val="F0F4F8"/>
                    </a:solidFill>
                  </a:tcPr>
                </a:tc>
                <a:tc>
                  <a:txBody>
                    <a:bodyPr/>
                    <a:lstStyle/>
                    <a:p>
                      <a:r>
                        <a:rPr sz="1600" b="0">
                          <a:solidFill>
                            <a:srgbClr val="102A43"/>
                          </a:solidFill>
                          <a:latin typeface="Calibri"/>
                        </a:rPr>
                        <a:t>15 min</a:t>
                      </a:r>
                    </a:p>
                  </a:txBody>
                  <a:tcPr>
                    <a:solidFill>
                      <a:srgbClr val="F0F4F8"/>
                    </a:solidFill>
                  </a:tcPr>
                </a:tc>
                <a:tc>
                  <a:txBody>
                    <a:bodyPr/>
                    <a:lstStyle/>
                    <a:p>
                      <a:r>
                        <a:rPr sz="1600" b="0">
                          <a:solidFill>
                            <a:srgbClr val="102A43"/>
                          </a:solidFill>
                          <a:latin typeface="Calibri"/>
                        </a:rPr>
                        <a:t>Repaso y revisión de la tarea</a:t>
                      </a:r>
                    </a:p>
                  </a:txBody>
                  <a:tcPr>
                    <a:solidFill>
                      <a:srgbClr val="F0F4F8"/>
                    </a:solidFill>
                  </a:tcPr>
                </a:tc>
              </a:tr>
              <a:tr h="415636">
                <a:tc>
                  <a:txBody>
                    <a:bodyPr/>
                    <a:lstStyle/>
                    <a:p>
                      <a:r>
                        <a:rPr sz="1600" b="0">
                          <a:solidFill>
                            <a:srgbClr val="102A43"/>
                          </a:solidFill>
                          <a:latin typeface="Calibri"/>
                        </a:rPr>
                        <a:t>0:15 – 0:55</a:t>
                      </a:r>
                    </a:p>
                  </a:txBody>
                  <a:tcPr>
                    <a:solidFill>
                      <a:srgbClr val="FFFFFF"/>
                    </a:solidFill>
                  </a:tcPr>
                </a:tc>
                <a:tc>
                  <a:txBody>
                    <a:bodyPr/>
                    <a:lstStyle/>
                    <a:p>
                      <a:r>
                        <a:rPr sz="1600" b="0">
                          <a:solidFill>
                            <a:srgbClr val="102A43"/>
                          </a:solidFill>
                          <a:latin typeface="Calibri"/>
                        </a:rPr>
                        <a:t>40 min</a:t>
                      </a:r>
                    </a:p>
                  </a:txBody>
                  <a:tcPr>
                    <a:solidFill>
                      <a:srgbClr val="FFFFFF"/>
                    </a:solidFill>
                  </a:tcPr>
                </a:tc>
                <a:tc>
                  <a:txBody>
                    <a:bodyPr/>
                    <a:lstStyle/>
                    <a:p>
                      <a:r>
                        <a:rPr sz="1600" b="0">
                          <a:solidFill>
                            <a:srgbClr val="102A43"/>
                          </a:solidFill>
                          <a:latin typeface="Calibri"/>
                        </a:rPr>
                        <a:t>Método para resolver un caso arbitral</a:t>
                      </a:r>
                    </a:p>
                  </a:txBody>
                  <a:tcPr>
                    <a:solidFill>
                      <a:srgbClr val="FFFFFF"/>
                    </a:solidFill>
                  </a:tcPr>
                </a:tc>
              </a:tr>
              <a:tr h="415636">
                <a:tc>
                  <a:txBody>
                    <a:bodyPr/>
                    <a:lstStyle/>
                    <a:p>
                      <a:r>
                        <a:rPr sz="1600" b="0">
                          <a:solidFill>
                            <a:srgbClr val="102A43"/>
                          </a:solidFill>
                          <a:latin typeface="Calibri"/>
                        </a:rPr>
                        <a:t>0:55 – 1:40</a:t>
                      </a:r>
                    </a:p>
                  </a:txBody>
                  <a:tcPr>
                    <a:solidFill>
                      <a:srgbClr val="F0F4F8"/>
                    </a:solidFill>
                  </a:tcPr>
                </a:tc>
                <a:tc>
                  <a:txBody>
                    <a:bodyPr/>
                    <a:lstStyle/>
                    <a:p>
                      <a:r>
                        <a:rPr sz="1600" b="0">
                          <a:solidFill>
                            <a:srgbClr val="102A43"/>
                          </a:solidFill>
                          <a:latin typeface="Calibri"/>
                        </a:rPr>
                        <a:t>45 min</a:t>
                      </a:r>
                    </a:p>
                  </a:txBody>
                  <a:tcPr>
                    <a:solidFill>
                      <a:srgbClr val="F0F4F8"/>
                    </a:solidFill>
                  </a:tcPr>
                </a:tc>
                <a:tc>
                  <a:txBody>
                    <a:bodyPr/>
                    <a:lstStyle/>
                    <a:p>
                      <a:r>
                        <a:rPr sz="1600" b="0">
                          <a:solidFill>
                            <a:srgbClr val="102A43"/>
                          </a:solidFill>
                          <a:latin typeface="Calibri"/>
                        </a:rPr>
                        <a:t>Logística de un torneo estudiantil</a:t>
                      </a:r>
                    </a:p>
                  </a:txBody>
                  <a:tcPr>
                    <a:solidFill>
                      <a:srgbClr val="F0F4F8"/>
                    </a:solidFill>
                  </a:tcPr>
                </a:tc>
              </a:tr>
              <a:tr h="415636">
                <a:tc>
                  <a:txBody>
                    <a:bodyPr/>
                    <a:lstStyle/>
                    <a:p>
                      <a:r>
                        <a:rPr sz="1600" b="1">
                          <a:solidFill>
                            <a:srgbClr val="102A43"/>
                          </a:solidFill>
                          <a:latin typeface="Calibri"/>
                        </a:rPr>
                        <a:t>1:40 – 1:55</a:t>
                      </a:r>
                    </a:p>
                  </a:txBody>
                  <a:tcPr>
                    <a:solidFill>
                      <a:srgbClr val="FDF3D7"/>
                    </a:solidFill>
                  </a:tcPr>
                </a:tc>
                <a:tc>
                  <a:txBody>
                    <a:bodyPr/>
                    <a:lstStyle/>
                    <a:p>
                      <a:r>
                        <a:rPr sz="1600" b="1">
                          <a:solidFill>
                            <a:srgbClr val="102A43"/>
                          </a:solidFill>
                          <a:latin typeface="Calibri"/>
                        </a:rPr>
                        <a:t>15 min</a:t>
                      </a:r>
                    </a:p>
                  </a:txBody>
                  <a:tcPr>
                    <a:solidFill>
                      <a:srgbClr val="FDF3D7"/>
                    </a:solidFill>
                  </a:tcPr>
                </a:tc>
                <a:tc>
                  <a:txBody>
                    <a:bodyPr/>
                    <a:lstStyle/>
                    <a:p>
                      <a:r>
                        <a:rPr sz="1600" b="1">
                          <a:solidFill>
                            <a:srgbClr val="102A43"/>
                          </a:solidFill>
                          <a:latin typeface="Calibri"/>
                        </a:rPr>
                        <a:t>Receso</a:t>
                      </a:r>
                    </a:p>
                  </a:txBody>
                  <a:tcPr>
                    <a:solidFill>
                      <a:srgbClr val="FDF3D7"/>
                    </a:solidFill>
                  </a:tcPr>
                </a:tc>
              </a:tr>
              <a:tr h="415636">
                <a:tc>
                  <a:txBody>
                    <a:bodyPr/>
                    <a:lstStyle/>
                    <a:p>
                      <a:r>
                        <a:rPr sz="1600" b="0">
                          <a:solidFill>
                            <a:srgbClr val="102A43"/>
                          </a:solidFill>
                          <a:latin typeface="Calibri"/>
                        </a:rPr>
                        <a:t>1:55 – 2:55</a:t>
                      </a:r>
                    </a:p>
                  </a:txBody>
                  <a:tcPr>
                    <a:solidFill>
                      <a:srgbClr val="F0F4F8"/>
                    </a:solidFill>
                  </a:tcPr>
                </a:tc>
                <a:tc>
                  <a:txBody>
                    <a:bodyPr/>
                    <a:lstStyle/>
                    <a:p>
                      <a:r>
                        <a:rPr sz="1600" b="0">
                          <a:solidFill>
                            <a:srgbClr val="102A43"/>
                          </a:solidFill>
                          <a:latin typeface="Calibri"/>
                        </a:rPr>
                        <a:t>60 min</a:t>
                      </a:r>
                    </a:p>
                  </a:txBody>
                  <a:tcPr>
                    <a:solidFill>
                      <a:srgbClr val="F0F4F8"/>
                    </a:solidFill>
                  </a:tcPr>
                </a:tc>
                <a:tc>
                  <a:txBody>
                    <a:bodyPr/>
                    <a:lstStyle/>
                    <a:p>
                      <a:r>
                        <a:rPr sz="1600" b="0">
                          <a:solidFill>
                            <a:srgbClr val="102A43"/>
                          </a:solidFill>
                          <a:latin typeface="Calibri"/>
                        </a:rPr>
                        <a:t>Casos integradores en grupos</a:t>
                      </a:r>
                    </a:p>
                  </a:txBody>
                  <a:tcPr>
                    <a:solidFill>
                      <a:srgbClr val="F0F4F8"/>
                    </a:solidFill>
                  </a:tcPr>
                </a:tc>
              </a:tr>
              <a:tr h="415636">
                <a:tc>
                  <a:txBody>
                    <a:bodyPr/>
                    <a:lstStyle/>
                    <a:p>
                      <a:r>
                        <a:rPr sz="1600" b="0">
                          <a:solidFill>
                            <a:srgbClr val="102A43"/>
                          </a:solidFill>
                          <a:latin typeface="Calibri"/>
                        </a:rPr>
                        <a:t>2:55 – 3:35</a:t>
                      </a:r>
                    </a:p>
                  </a:txBody>
                  <a:tcPr>
                    <a:solidFill>
                      <a:srgbClr val="FFFFFF"/>
                    </a:solidFill>
                  </a:tcPr>
                </a:tc>
                <a:tc>
                  <a:txBody>
                    <a:bodyPr/>
                    <a:lstStyle/>
                    <a:p>
                      <a:r>
                        <a:rPr sz="1600" b="0">
                          <a:solidFill>
                            <a:srgbClr val="102A43"/>
                          </a:solidFill>
                          <a:latin typeface="Calibri"/>
                        </a:rPr>
                        <a:t>40 min</a:t>
                      </a:r>
                    </a:p>
                  </a:txBody>
                  <a:tcPr>
                    <a:solidFill>
                      <a:srgbClr val="FFFFFF"/>
                    </a:solidFill>
                  </a:tcPr>
                </a:tc>
                <a:tc>
                  <a:txBody>
                    <a:bodyPr/>
                    <a:lstStyle/>
                    <a:p>
                      <a:r>
                        <a:rPr sz="1600" b="0">
                          <a:solidFill>
                            <a:srgbClr val="102A43"/>
                          </a:solidFill>
                          <a:latin typeface="Calibri"/>
                        </a:rPr>
                        <a:t>Plenaria de soluciones</a:t>
                      </a:r>
                    </a:p>
                  </a:txBody>
                  <a:tcPr>
                    <a:solidFill>
                      <a:srgbClr val="FFFFFF"/>
                    </a:solidFill>
                  </a:tcPr>
                </a:tc>
              </a:tr>
              <a:tr h="415636">
                <a:tc>
                  <a:txBody>
                    <a:bodyPr/>
                    <a:lstStyle/>
                    <a:p>
                      <a:r>
                        <a:rPr sz="1600" b="1">
                          <a:solidFill>
                            <a:srgbClr val="102A43"/>
                          </a:solidFill>
                          <a:latin typeface="Calibri"/>
                        </a:rPr>
                        <a:t>3:35 – 3:50</a:t>
                      </a:r>
                    </a:p>
                  </a:txBody>
                  <a:tcPr>
                    <a:solidFill>
                      <a:srgbClr val="FDF3D7"/>
                    </a:solidFill>
                  </a:tcPr>
                </a:tc>
                <a:tc>
                  <a:txBody>
                    <a:bodyPr/>
                    <a:lstStyle/>
                    <a:p>
                      <a:r>
                        <a:rPr sz="1600" b="1">
                          <a:solidFill>
                            <a:srgbClr val="102A43"/>
                          </a:solidFill>
                          <a:latin typeface="Calibri"/>
                        </a:rPr>
                        <a:t>15 min</a:t>
                      </a:r>
                    </a:p>
                  </a:txBody>
                  <a:tcPr>
                    <a:solidFill>
                      <a:srgbClr val="FDF3D7"/>
                    </a:solidFill>
                  </a:tcPr>
                </a:tc>
                <a:tc>
                  <a:txBody>
                    <a:bodyPr/>
                    <a:lstStyle/>
                    <a:p>
                      <a:r>
                        <a:rPr sz="1600" b="1">
                          <a:solidFill>
                            <a:srgbClr val="102A43"/>
                          </a:solidFill>
                          <a:latin typeface="Calibri"/>
                        </a:rPr>
                        <a:t>Receso</a:t>
                      </a:r>
                    </a:p>
                  </a:txBody>
                  <a:tcPr>
                    <a:solidFill>
                      <a:srgbClr val="FDF3D7"/>
                    </a:solidFill>
                  </a:tcPr>
                </a:tc>
              </a:tr>
              <a:tr h="415636">
                <a:tc>
                  <a:txBody>
                    <a:bodyPr/>
                    <a:lstStyle/>
                    <a:p>
                      <a:r>
                        <a:rPr sz="1600" b="0">
                          <a:solidFill>
                            <a:srgbClr val="102A43"/>
                          </a:solidFill>
                          <a:latin typeface="Calibri"/>
                        </a:rPr>
                        <a:t>3:50 – 4:20</a:t>
                      </a:r>
                    </a:p>
                  </a:txBody>
                  <a:tcPr>
                    <a:solidFill>
                      <a:srgbClr val="FFFFFF"/>
                    </a:solidFill>
                  </a:tcPr>
                </a:tc>
                <a:tc>
                  <a:txBody>
                    <a:bodyPr/>
                    <a:lstStyle/>
                    <a:p>
                      <a:r>
                        <a:rPr sz="1600" b="0">
                          <a:solidFill>
                            <a:srgbClr val="102A43"/>
                          </a:solidFill>
                          <a:latin typeface="Calibri"/>
                        </a:rPr>
                        <a:t>30 min</a:t>
                      </a:r>
                    </a:p>
                  </a:txBody>
                  <a:tcPr>
                    <a:solidFill>
                      <a:srgbClr val="FFFFFF"/>
                    </a:solidFill>
                  </a:tcPr>
                </a:tc>
                <a:tc>
                  <a:txBody>
                    <a:bodyPr/>
                    <a:lstStyle/>
                    <a:p>
                      <a:r>
                        <a:rPr sz="1600" b="0">
                          <a:solidFill>
                            <a:srgbClr val="102A43"/>
                          </a:solidFill>
                          <a:latin typeface="Calibri"/>
                        </a:rPr>
                        <a:t>Fortalecer el desempeño como persona asesora y árbitra</a:t>
                      </a:r>
                    </a:p>
                  </a:txBody>
                  <a:tcPr>
                    <a:solidFill>
                      <a:srgbClr val="FFFFFF"/>
                    </a:solidFill>
                  </a:tcPr>
                </a:tc>
              </a:tr>
              <a:tr h="415636">
                <a:tc>
                  <a:txBody>
                    <a:bodyPr/>
                    <a:lstStyle/>
                    <a:p>
                      <a:r>
                        <a:rPr sz="1600" b="0">
                          <a:solidFill>
                            <a:srgbClr val="102A43"/>
                          </a:solidFill>
                          <a:latin typeface="Calibri"/>
                        </a:rPr>
                        <a:t>4:20 – 4:45</a:t>
                      </a:r>
                    </a:p>
                  </a:txBody>
                  <a:tcPr>
                    <a:solidFill>
                      <a:srgbClr val="F0F4F8"/>
                    </a:solidFill>
                  </a:tcPr>
                </a:tc>
                <a:tc>
                  <a:txBody>
                    <a:bodyPr/>
                    <a:lstStyle/>
                    <a:p>
                      <a:r>
                        <a:rPr sz="1600" b="0">
                          <a:solidFill>
                            <a:srgbClr val="102A43"/>
                          </a:solidFill>
                          <a:latin typeface="Calibri"/>
                        </a:rPr>
                        <a:t>25 min</a:t>
                      </a:r>
                    </a:p>
                  </a:txBody>
                  <a:tcPr>
                    <a:solidFill>
                      <a:srgbClr val="F0F4F8"/>
                    </a:solidFill>
                  </a:tcPr>
                </a:tc>
                <a:tc>
                  <a:txBody>
                    <a:bodyPr/>
                    <a:lstStyle/>
                    <a:p>
                      <a:r>
                        <a:rPr sz="1600" b="0">
                          <a:solidFill>
                            <a:srgbClr val="102A43"/>
                          </a:solidFill>
                          <a:latin typeface="Calibri"/>
                        </a:rPr>
                        <a:t>Quiz de la sesión</a:t>
                      </a:r>
                    </a:p>
                  </a:txBody>
                  <a:tcPr>
                    <a:solidFill>
                      <a:srgbClr val="F0F4F8"/>
                    </a:solidFill>
                  </a:tcPr>
                </a:tc>
              </a:tr>
              <a:tr h="415640">
                <a:tc>
                  <a:txBody>
                    <a:bodyPr/>
                    <a:lstStyle/>
                    <a:p>
                      <a:r>
                        <a:rPr sz="1600" b="0">
                          <a:solidFill>
                            <a:srgbClr val="102A43"/>
                          </a:solidFill>
                          <a:latin typeface="Calibri"/>
                        </a:rPr>
                        <a:t>4:45 – 5:00</a:t>
                      </a:r>
                    </a:p>
                  </a:txBody>
                  <a:tcPr>
                    <a:solidFill>
                      <a:srgbClr val="FFFFFF"/>
                    </a:solidFill>
                  </a:tcPr>
                </a:tc>
                <a:tc>
                  <a:txBody>
                    <a:bodyPr/>
                    <a:lstStyle/>
                    <a:p>
                      <a:r>
                        <a:rPr sz="1600" b="0">
                          <a:solidFill>
                            <a:srgbClr val="102A43"/>
                          </a:solidFill>
                          <a:latin typeface="Calibri"/>
                        </a:rPr>
                        <a:t>15 min</a:t>
                      </a:r>
                    </a:p>
                  </a:txBody>
                  <a:tcPr>
                    <a:solidFill>
                      <a:srgbClr val="FFFFFF"/>
                    </a:solidFill>
                  </a:tcPr>
                </a:tc>
                <a:tc>
                  <a:txBody>
                    <a:bodyPr/>
                    <a:lstStyle/>
                    <a:p>
                      <a:r>
                        <a:rPr sz="1600" b="0">
                          <a:solidFill>
                            <a:srgbClr val="102A43"/>
                          </a:solidFill>
                          <a:latin typeface="Calibri"/>
                        </a:rPr>
                        <a:t>Cierre</a:t>
                      </a:r>
                    </a:p>
                  </a:txBody>
                  <a:tcPr>
                    <a:solidFill>
                      <a:srgbClr val="FFFFFF"/>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3172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277295" cy="777240"/>
          </a:xfrm>
          <a:prstGeom prst="rect">
            <a:avLst/>
          </a:prstGeom>
          <a:noFill/>
        </p:spPr>
        <p:txBody>
          <a:bodyPr wrap="square" lIns="45720" rIns="45720" anchor="ctr">
            <a:spAutoFit/>
          </a:bodyPr>
          <a:lstStyle/>
          <a:p>
            <a:pPr algn="ctr">
              <a:spcAft>
                <a:spcPts val="1530"/>
              </a:spcAft>
            </a:pPr>
            <a:r>
              <a:rPr sz="3400" b="1">
                <a:solidFill>
                  <a:srgbClr val="FFFFFF"/>
                </a:solidFill>
                <a:latin typeface="Calibri"/>
              </a:rPr>
              <a:t>Método para resolver un caso</a:t>
            </a:r>
          </a:p>
        </p:txBody>
      </p:sp>
      <p:sp>
        <p:nvSpPr>
          <p:cNvPr id="4" name="TextBox 3"/>
          <p:cNvSpPr txBox="1"/>
          <p:nvPr/>
        </p:nvSpPr>
        <p:spPr>
          <a:xfrm>
            <a:off x="457200" y="6419088"/>
            <a:ext cx="10180015" cy="365760"/>
          </a:xfrm>
          <a:prstGeom prst="rect">
            <a:avLst/>
          </a:prstGeom>
          <a:noFill/>
        </p:spPr>
        <p:txBody>
          <a:bodyPr wrap="square" lIns="45720" rIns="45720">
            <a:spAutoFit/>
          </a:bodyPr>
          <a:lstStyle/>
          <a:p>
            <a:pPr>
              <a:spcAft>
                <a:spcPts val="540"/>
              </a:spcAft>
            </a:pPr>
            <a:r>
              <a:rPr sz="1200" b="0">
                <a:solidFill>
                  <a:srgbClr val="627D98"/>
                </a:solidFill>
                <a:latin typeface="Calibri"/>
              </a:rPr>
              <a:t>Fuente: Leyes del Ajedrez 2023 (Handbook E.I.01), art. 12.1 y 12.2</a:t>
            </a:r>
          </a:p>
        </p:txBody>
      </p:sp>
      <p:sp>
        <p:nvSpPr>
          <p:cNvPr id="5" name="TextBox 4"/>
          <p:cNvSpPr txBox="1"/>
          <p:nvPr/>
        </p:nvSpPr>
        <p:spPr>
          <a:xfrm>
            <a:off x="10728655" y="6419088"/>
            <a:ext cx="1097280" cy="365760"/>
          </a:xfrm>
          <a:prstGeom prst="rect">
            <a:avLst/>
          </a:prstGeom>
          <a:noFill/>
        </p:spPr>
        <p:txBody>
          <a:bodyPr wrap="square" lIns="45720" rIns="45720">
            <a:spAutoFit/>
          </a:bodyPr>
          <a:lstStyle/>
          <a:p>
            <a:pPr algn="ctr">
              <a:spcAft>
                <a:spcPts val="540"/>
              </a:spcAft>
            </a:pPr>
            <a:r>
              <a:rPr sz="1200" b="0">
                <a:solidFill>
                  <a:srgbClr val="627D98"/>
                </a:solidFill>
                <a:latin typeface="Calibri"/>
              </a:rPr>
              <a:t>4</a:t>
            </a:r>
          </a:p>
        </p:txBody>
      </p:sp>
      <p:sp>
        <p:nvSpPr>
          <p:cNvPr id="6" name="Rectangle 5"/>
          <p:cNvSpPr/>
          <p:nvPr/>
        </p:nvSpPr>
        <p:spPr>
          <a:xfrm>
            <a:off x="457200" y="1280160"/>
            <a:ext cx="11277295" cy="489204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417319"/>
            <a:ext cx="10637215" cy="4617720"/>
          </a:xfrm>
          <a:prstGeom prst="rect">
            <a:avLst/>
          </a:prstGeom>
          <a:noFill/>
        </p:spPr>
        <p:txBody>
          <a:bodyPr wrap="square" lIns="45720" rIns="45720">
            <a:spAutoFit/>
          </a:bodyPr>
          <a:lstStyle/>
          <a:p>
            <a:pPr>
              <a:spcAft>
                <a:spcPts val="1215"/>
              </a:spcAft>
            </a:pPr>
            <a:r>
              <a:rPr sz="2700" b="0">
                <a:solidFill>
                  <a:srgbClr val="3172AC"/>
                </a:solidFill>
                <a:latin typeface="Calibri"/>
              </a:rPr>
              <a:t>Un caso bien resuelto se puede explicar y defender. Estos cuatro pasos evitan decidir de memoria o por presión.</a:t>
            </a:r>
          </a:p>
          <a:p>
            <a:pPr>
              <a:spcAft>
                <a:spcPts val="1215"/>
              </a:spcAft>
            </a:pPr>
            <a:r>
              <a:rPr sz="2700" b="0">
                <a:solidFill>
                  <a:srgbClr val="102A43"/>
                </a:solidFill>
                <a:latin typeface="Calibri"/>
              </a:rPr>
              <a:t>•  1. Hechos: qué pasó, en qué orden, con qué pruebas (planillas, reloj, testigos, posición).</a:t>
            </a:r>
          </a:p>
          <a:p>
            <a:pPr>
              <a:spcAft>
                <a:spcPts val="1215"/>
              </a:spcAft>
            </a:pPr>
            <a:r>
              <a:rPr sz="2700" b="0">
                <a:solidFill>
                  <a:srgbClr val="102A43"/>
                </a:solidFill>
                <a:latin typeface="Calibri"/>
              </a:rPr>
              <a:t>•  2. Artículo: qué regla se aplica (Leyes de la FIDE y normativa del evento). Si no hay una regla exacta, la más cercana, con imparcialidad.</a:t>
            </a:r>
          </a:p>
          <a:p>
            <a:pPr>
              <a:spcAft>
                <a:spcPts val="1215"/>
              </a:spcAft>
            </a:pPr>
            <a:r>
              <a:rPr sz="2700" b="0">
                <a:solidFill>
                  <a:srgbClr val="102A43"/>
                </a:solidFill>
                <a:latin typeface="Calibri"/>
              </a:rPr>
              <a:t>•  3. Decisión: clara, proporcionada y comunicada a las dos partes, con el artículo.</a:t>
            </a:r>
          </a:p>
          <a:p>
            <a:pPr>
              <a:spcAft>
                <a:spcPts val="1215"/>
              </a:spcAft>
            </a:pPr>
            <a:r>
              <a:rPr sz="2700" b="0">
                <a:solidFill>
                  <a:srgbClr val="102A43"/>
                </a:solidFill>
                <a:latin typeface="Calibri"/>
              </a:rPr>
              <a:t>•  4. Registro: se anota en la planilla o en el acta y en el informe del torneo.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3172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277295" cy="777240"/>
          </a:xfrm>
          <a:prstGeom prst="rect">
            <a:avLst/>
          </a:prstGeom>
          <a:noFill/>
        </p:spPr>
        <p:txBody>
          <a:bodyPr wrap="square" lIns="45720" rIns="45720" anchor="ctr">
            <a:spAutoFit/>
          </a:bodyPr>
          <a:lstStyle/>
          <a:p>
            <a:pPr algn="ctr">
              <a:spcAft>
                <a:spcPts val="1530"/>
              </a:spcAft>
            </a:pPr>
            <a:r>
              <a:rPr sz="3400" b="1">
                <a:solidFill>
                  <a:srgbClr val="FFFFFF"/>
                </a:solidFill>
                <a:latin typeface="Calibri"/>
              </a:rPr>
              <a:t>Logística antes del torneo</a:t>
            </a:r>
          </a:p>
        </p:txBody>
      </p:sp>
      <p:sp>
        <p:nvSpPr>
          <p:cNvPr id="4" name="TextBox 3"/>
          <p:cNvSpPr txBox="1"/>
          <p:nvPr/>
        </p:nvSpPr>
        <p:spPr>
          <a:xfrm>
            <a:off x="457200" y="6419088"/>
            <a:ext cx="10180015" cy="365760"/>
          </a:xfrm>
          <a:prstGeom prst="rect">
            <a:avLst/>
          </a:prstGeom>
          <a:noFill/>
        </p:spPr>
        <p:txBody>
          <a:bodyPr wrap="square" lIns="45720" rIns="45720">
            <a:spAutoFit/>
          </a:bodyPr>
          <a:lstStyle/>
          <a:p>
            <a:pPr>
              <a:spcAft>
                <a:spcPts val="540"/>
              </a:spcAft>
            </a:pPr>
            <a:r>
              <a:rPr sz="1200" b="0">
                <a:solidFill>
                  <a:srgbClr val="627D98"/>
                </a:solidFill>
                <a:latin typeface="Calibri"/>
              </a:rPr>
              <a:t>Fuente: Normativa del Programa Juegos Deportivos Estudiantiles 2026, art. 14, 27, 28, 33, 34 y 66; buenas prácticas de organización</a:t>
            </a:r>
          </a:p>
        </p:txBody>
      </p:sp>
      <p:sp>
        <p:nvSpPr>
          <p:cNvPr id="5" name="TextBox 4"/>
          <p:cNvSpPr txBox="1"/>
          <p:nvPr/>
        </p:nvSpPr>
        <p:spPr>
          <a:xfrm>
            <a:off x="10728655" y="6419088"/>
            <a:ext cx="1097280" cy="365760"/>
          </a:xfrm>
          <a:prstGeom prst="rect">
            <a:avLst/>
          </a:prstGeom>
          <a:noFill/>
        </p:spPr>
        <p:txBody>
          <a:bodyPr wrap="square" lIns="45720" rIns="45720">
            <a:spAutoFit/>
          </a:bodyPr>
          <a:lstStyle/>
          <a:p>
            <a:pPr algn="ctr">
              <a:spcAft>
                <a:spcPts val="540"/>
              </a:spcAft>
            </a:pPr>
            <a:r>
              <a:rPr sz="1200" b="0">
                <a:solidFill>
                  <a:srgbClr val="627D98"/>
                </a:solidFill>
                <a:latin typeface="Calibri"/>
              </a:rPr>
              <a:t>5</a:t>
            </a:r>
          </a:p>
        </p:txBody>
      </p:sp>
      <p:sp>
        <p:nvSpPr>
          <p:cNvPr id="6" name="Rectangle 5"/>
          <p:cNvSpPr/>
          <p:nvPr/>
        </p:nvSpPr>
        <p:spPr>
          <a:xfrm>
            <a:off x="457200" y="1280160"/>
            <a:ext cx="11277295" cy="489204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417319"/>
            <a:ext cx="10637215" cy="4617720"/>
          </a:xfrm>
          <a:prstGeom prst="rect">
            <a:avLst/>
          </a:prstGeom>
          <a:noFill/>
        </p:spPr>
        <p:txBody>
          <a:bodyPr wrap="square" lIns="45720" rIns="45720">
            <a:spAutoFit/>
          </a:bodyPr>
          <a:lstStyle/>
          <a:p>
            <a:pPr>
              <a:spcAft>
                <a:spcPts val="1035"/>
              </a:spcAft>
            </a:pPr>
            <a:r>
              <a:rPr sz="2300" b="0">
                <a:solidFill>
                  <a:srgbClr val="3172AC"/>
                </a:solidFill>
                <a:latin typeface="Calibri"/>
              </a:rPr>
              <a:t>La mayoría de los problemas de un torneo escolar se evitan antes de la primera ronda.</a:t>
            </a:r>
          </a:p>
          <a:p>
            <a:pPr>
              <a:spcAft>
                <a:spcPts val="1035"/>
              </a:spcAft>
            </a:pPr>
            <a:r>
              <a:rPr sz="2300" b="0">
                <a:solidFill>
                  <a:srgbClr val="102A43"/>
                </a:solidFill>
                <a:latin typeface="Calibri"/>
              </a:rPr>
              <a:t>•  Acreditación con la Boleta Oficial de la Plataforma JDE, revisada por el comité de la etapa; sin los datos completos no se recibe (art. 27 y 28).</a:t>
            </a:r>
          </a:p>
          <a:p>
            <a:pPr>
              <a:spcAft>
                <a:spcPts val="1035"/>
              </a:spcAft>
            </a:pPr>
            <a:r>
              <a:rPr sz="2300" b="0">
                <a:solidFill>
                  <a:srgbClr val="102A43"/>
                </a:solidFill>
                <a:latin typeface="Calibri"/>
              </a:rPr>
              <a:t>•  Congresillo técnico antes de la etapa: sistema, ritmo, orden de tableros y desempates, todo en el acta oficial. Quien no asista acepta lo acordado (art. 33, 34 y 66.4).</a:t>
            </a:r>
          </a:p>
          <a:p>
            <a:pPr>
              <a:spcAft>
                <a:spcPts val="1035"/>
              </a:spcAft>
            </a:pPr>
            <a:r>
              <a:rPr sz="2300" b="0">
                <a:solidFill>
                  <a:srgbClr val="102A43"/>
                </a:solidFill>
                <a:latin typeface="Calibri"/>
              </a:rPr>
              <a:t>•  Quien arbitra en las etapas Circuital, Regional e Interregional debe ser mayor de edad, de preferencia titulado (art. 14).</a:t>
            </a:r>
          </a:p>
          <a:p>
            <a:pPr>
              <a:spcAft>
                <a:spcPts val="1035"/>
              </a:spcAft>
            </a:pPr>
            <a:r>
              <a:rPr sz="2300" b="0">
                <a:solidFill>
                  <a:srgbClr val="102A43"/>
                </a:solidFill>
                <a:latin typeface="Calibri"/>
              </a:rPr>
              <a:t>•  Lista inicial ordenada y publicada; número de rondas y desempates anunciados.</a:t>
            </a:r>
          </a:p>
          <a:p>
            <a:pPr>
              <a:spcAft>
                <a:spcPts val="1035"/>
              </a:spcAft>
            </a:pPr>
            <a:r>
              <a:rPr sz="2300" b="0">
                <a:solidFill>
                  <a:srgbClr val="102A43"/>
                </a:solidFill>
                <a:latin typeface="Calibri"/>
              </a:rPr>
              <a:t>•  Sala con buena luz y ventilación, mesas numeradas, espacio entre mesas y zona separada para público.</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3172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277295" cy="777240"/>
          </a:xfrm>
          <a:prstGeom prst="rect">
            <a:avLst/>
          </a:prstGeom>
          <a:noFill/>
        </p:spPr>
        <p:txBody>
          <a:bodyPr wrap="square" lIns="45720" rIns="45720" anchor="ctr">
            <a:spAutoFit/>
          </a:bodyPr>
          <a:lstStyle/>
          <a:p>
            <a:pPr algn="ctr">
              <a:spcAft>
                <a:spcPts val="1530"/>
              </a:spcAft>
            </a:pPr>
            <a:r>
              <a:rPr sz="3400" b="1">
                <a:solidFill>
                  <a:srgbClr val="FFFFFF"/>
                </a:solidFill>
                <a:latin typeface="Calibri"/>
              </a:rPr>
              <a:t>Logística antes del torneo (continuación)</a:t>
            </a:r>
          </a:p>
        </p:txBody>
      </p:sp>
      <p:sp>
        <p:nvSpPr>
          <p:cNvPr id="4" name="TextBox 3"/>
          <p:cNvSpPr txBox="1"/>
          <p:nvPr/>
        </p:nvSpPr>
        <p:spPr>
          <a:xfrm>
            <a:off x="457200" y="6419088"/>
            <a:ext cx="10180015" cy="365760"/>
          </a:xfrm>
          <a:prstGeom prst="rect">
            <a:avLst/>
          </a:prstGeom>
          <a:noFill/>
        </p:spPr>
        <p:txBody>
          <a:bodyPr wrap="square" lIns="45720" rIns="45720">
            <a:spAutoFit/>
          </a:bodyPr>
          <a:lstStyle/>
          <a:p>
            <a:pPr>
              <a:spcAft>
                <a:spcPts val="540"/>
              </a:spcAft>
            </a:pPr>
            <a:r>
              <a:rPr sz="1200" b="0">
                <a:solidFill>
                  <a:srgbClr val="627D98"/>
                </a:solidFill>
                <a:latin typeface="Calibri"/>
              </a:rPr>
              <a:t>Fuente: Normativa del Programa Juegos Deportivos Estudiantiles 2026, art. 14, 27, 28, 33, 34 y 66; buenas prácticas de organización</a:t>
            </a:r>
          </a:p>
        </p:txBody>
      </p:sp>
      <p:sp>
        <p:nvSpPr>
          <p:cNvPr id="5" name="TextBox 4"/>
          <p:cNvSpPr txBox="1"/>
          <p:nvPr/>
        </p:nvSpPr>
        <p:spPr>
          <a:xfrm>
            <a:off x="10728655" y="6419088"/>
            <a:ext cx="1097280" cy="365760"/>
          </a:xfrm>
          <a:prstGeom prst="rect">
            <a:avLst/>
          </a:prstGeom>
          <a:noFill/>
        </p:spPr>
        <p:txBody>
          <a:bodyPr wrap="square" lIns="45720" rIns="45720">
            <a:spAutoFit/>
          </a:bodyPr>
          <a:lstStyle/>
          <a:p>
            <a:pPr algn="ctr">
              <a:spcAft>
                <a:spcPts val="540"/>
              </a:spcAft>
            </a:pPr>
            <a:r>
              <a:rPr sz="1200" b="0">
                <a:solidFill>
                  <a:srgbClr val="627D98"/>
                </a:solidFill>
                <a:latin typeface="Calibri"/>
              </a:rPr>
              <a:t>6</a:t>
            </a:r>
          </a:p>
        </p:txBody>
      </p:sp>
      <p:sp>
        <p:nvSpPr>
          <p:cNvPr id="6" name="Rectangle 5"/>
          <p:cNvSpPr/>
          <p:nvPr/>
        </p:nvSpPr>
        <p:spPr>
          <a:xfrm>
            <a:off x="457200" y="1280160"/>
            <a:ext cx="11277295" cy="489204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417319"/>
            <a:ext cx="10637215" cy="4617720"/>
          </a:xfrm>
          <a:prstGeom prst="rect">
            <a:avLst/>
          </a:prstGeom>
          <a:noFill/>
        </p:spPr>
        <p:txBody>
          <a:bodyPr wrap="square" lIns="45720" rIns="45720">
            <a:spAutoFit/>
          </a:bodyPr>
          <a:lstStyle/>
          <a:p>
            <a:pPr>
              <a:spcAft>
                <a:spcPts val="1350"/>
              </a:spcAft>
            </a:pPr>
            <a:r>
              <a:rPr sz="3000" b="0">
                <a:solidFill>
                  <a:srgbClr val="102A43"/>
                </a:solidFill>
                <a:latin typeface="Calibri"/>
              </a:rPr>
              <a:t>•  Materiales: tableros, piezas y relojes revisados y configurados, repuestos, planillas, actas y formularios.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728655" y="6419088"/>
            <a:ext cx="1097280" cy="365760"/>
          </a:xfrm>
          <a:prstGeom prst="rect">
            <a:avLst/>
          </a:prstGeom>
          <a:noFill/>
        </p:spPr>
        <p:txBody>
          <a:bodyPr wrap="square" lIns="45720" rIns="45720">
            <a:spAutoFit/>
          </a:bodyPr>
          <a:lstStyle/>
          <a:p>
            <a:pPr algn="ctr">
              <a:spcAft>
                <a:spcPts val="540"/>
              </a:spcAft>
            </a:pPr>
            <a:r>
              <a:rPr sz="1200" b="0">
                <a:solidFill>
                  <a:srgbClr val="9FB3C8"/>
                </a:solidFill>
                <a:latin typeface="Calibri"/>
              </a:rPr>
              <a:t>7</a:t>
            </a:r>
          </a:p>
        </p:txBody>
      </p:sp>
      <p:sp>
        <p:nvSpPr>
          <p:cNvPr id="4" name="TextBox 3"/>
          <p:cNvSpPr txBox="1"/>
          <p:nvPr/>
        </p:nvSpPr>
        <p:spPr>
          <a:xfrm>
            <a:off x="457200" y="2103120"/>
            <a:ext cx="11277295" cy="1280160"/>
          </a:xfrm>
          <a:prstGeom prst="rect">
            <a:avLst/>
          </a:prstGeom>
          <a:noFill/>
        </p:spPr>
        <p:txBody>
          <a:bodyPr wrap="square" lIns="45720" rIns="45720">
            <a:spAutoFit/>
          </a:bodyPr>
          <a:lstStyle/>
          <a:p>
            <a:pPr algn="ctr">
              <a:spcAft>
                <a:spcPts val="3240"/>
              </a:spcAft>
            </a:pPr>
            <a:r>
              <a:rPr sz="7200" b="1">
                <a:solidFill>
                  <a:srgbClr val="FFFFFF"/>
                </a:solidFill>
                <a:latin typeface="Calibri"/>
              </a:rPr>
              <a:t>Receso</a:t>
            </a:r>
          </a:p>
        </p:txBody>
      </p:sp>
      <p:sp>
        <p:nvSpPr>
          <p:cNvPr id="5" name="TextBox 4"/>
          <p:cNvSpPr txBox="1"/>
          <p:nvPr/>
        </p:nvSpPr>
        <p:spPr>
          <a:xfrm>
            <a:off x="457200" y="3566160"/>
            <a:ext cx="11277295" cy="1097280"/>
          </a:xfrm>
          <a:prstGeom prst="rect">
            <a:avLst/>
          </a:prstGeom>
          <a:noFill/>
        </p:spPr>
        <p:txBody>
          <a:bodyPr wrap="square" lIns="45720" rIns="45720">
            <a:spAutoFit/>
          </a:bodyPr>
          <a:lstStyle/>
          <a:p>
            <a:pPr algn="ctr">
              <a:spcAft>
                <a:spcPts val="1260"/>
              </a:spcAft>
            </a:pPr>
            <a:r>
              <a:rPr sz="2800" b="0">
                <a:solidFill>
                  <a:srgbClr val="CADCFC"/>
                </a:solidFill>
                <a:latin typeface="Calibri"/>
              </a:rPr>
              <a:t>15 minutos</a:t>
            </a:r>
          </a:p>
          <a:p>
            <a:pPr algn="ctr">
              <a:spcAft>
                <a:spcPts val="1260"/>
              </a:spcAft>
            </a:pPr>
            <a:r>
              <a:rPr sz="2800" b="0">
                <a:solidFill>
                  <a:srgbClr val="CADCFC"/>
                </a:solidFill>
                <a:latin typeface="Calibri"/>
              </a:rPr>
              <a:t>Pausa los relojes: seguimos en breve.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3172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277295" cy="777240"/>
          </a:xfrm>
          <a:prstGeom prst="rect">
            <a:avLst/>
          </a:prstGeom>
          <a:noFill/>
        </p:spPr>
        <p:txBody>
          <a:bodyPr wrap="square" lIns="45720" rIns="45720" anchor="ctr">
            <a:spAutoFit/>
          </a:bodyPr>
          <a:lstStyle/>
          <a:p>
            <a:pPr algn="ctr">
              <a:spcAft>
                <a:spcPts val="1530"/>
              </a:spcAft>
            </a:pPr>
            <a:r>
              <a:rPr sz="3400" b="1">
                <a:solidFill>
                  <a:srgbClr val="FFFFFF"/>
                </a:solidFill>
                <a:latin typeface="Calibri"/>
              </a:rPr>
              <a:t>Durante y después de las rondas</a:t>
            </a:r>
          </a:p>
        </p:txBody>
      </p:sp>
      <p:sp>
        <p:nvSpPr>
          <p:cNvPr id="4" name="TextBox 3"/>
          <p:cNvSpPr txBox="1"/>
          <p:nvPr/>
        </p:nvSpPr>
        <p:spPr>
          <a:xfrm>
            <a:off x="457200" y="6419088"/>
            <a:ext cx="10180015" cy="365760"/>
          </a:xfrm>
          <a:prstGeom prst="rect">
            <a:avLst/>
          </a:prstGeom>
          <a:noFill/>
        </p:spPr>
        <p:txBody>
          <a:bodyPr wrap="square" lIns="45720" rIns="45720">
            <a:spAutoFit/>
          </a:bodyPr>
          <a:lstStyle/>
          <a:p>
            <a:pPr>
              <a:spcAft>
                <a:spcPts val="540"/>
              </a:spcAft>
            </a:pPr>
            <a:r>
              <a:rPr sz="1200" b="0">
                <a:solidFill>
                  <a:srgbClr val="627D98"/>
                </a:solidFill>
                <a:latin typeface="Calibri"/>
              </a:rPr>
              <a:t>Fuente: Leyes del Ajedrez 2023 (Handbook E.I.01), art. 8.7 y 12.3; Reglas generales de manejo del sistema suizo (Handbook C.04.2)</a:t>
            </a:r>
          </a:p>
        </p:txBody>
      </p:sp>
      <p:sp>
        <p:nvSpPr>
          <p:cNvPr id="5" name="TextBox 4"/>
          <p:cNvSpPr txBox="1"/>
          <p:nvPr/>
        </p:nvSpPr>
        <p:spPr>
          <a:xfrm>
            <a:off x="10728655" y="6419088"/>
            <a:ext cx="1097280" cy="365760"/>
          </a:xfrm>
          <a:prstGeom prst="rect">
            <a:avLst/>
          </a:prstGeom>
          <a:noFill/>
        </p:spPr>
        <p:txBody>
          <a:bodyPr wrap="square" lIns="45720" rIns="45720">
            <a:spAutoFit/>
          </a:bodyPr>
          <a:lstStyle/>
          <a:p>
            <a:pPr algn="ctr">
              <a:spcAft>
                <a:spcPts val="540"/>
              </a:spcAft>
            </a:pPr>
            <a:r>
              <a:rPr sz="1200" b="0">
                <a:solidFill>
                  <a:srgbClr val="627D98"/>
                </a:solidFill>
                <a:latin typeface="Calibri"/>
              </a:rPr>
              <a:t>8</a:t>
            </a:r>
          </a:p>
        </p:txBody>
      </p:sp>
      <p:sp>
        <p:nvSpPr>
          <p:cNvPr id="6" name="Rectangle 5"/>
          <p:cNvSpPr/>
          <p:nvPr/>
        </p:nvSpPr>
        <p:spPr>
          <a:xfrm>
            <a:off x="457200" y="1280160"/>
            <a:ext cx="11277295" cy="489204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417319"/>
            <a:ext cx="10637215" cy="4617720"/>
          </a:xfrm>
          <a:prstGeom prst="rect">
            <a:avLst/>
          </a:prstGeom>
          <a:noFill/>
        </p:spPr>
        <p:txBody>
          <a:bodyPr wrap="square" lIns="45720" rIns="45720">
            <a:spAutoFit/>
          </a:bodyPr>
          <a:lstStyle/>
          <a:p>
            <a:pPr>
              <a:spcAft>
                <a:spcPts val="1350"/>
              </a:spcAft>
            </a:pPr>
            <a:r>
              <a:rPr sz="3000" b="0">
                <a:solidFill>
                  <a:srgbClr val="3172AC"/>
                </a:solidFill>
                <a:latin typeface="Calibri"/>
              </a:rPr>
              <a:t>Durante el torneo, el orden de las tareas se repite ronda a ronda.</a:t>
            </a:r>
          </a:p>
          <a:p>
            <a:pPr>
              <a:spcAft>
                <a:spcPts val="1350"/>
              </a:spcAft>
            </a:pPr>
            <a:r>
              <a:rPr sz="3000" b="0">
                <a:solidFill>
                  <a:srgbClr val="102A43"/>
                </a:solidFill>
                <a:latin typeface="Calibri"/>
              </a:rPr>
              <a:t>•  Publicar el emparejamiento con tiempo y en un lugar visible.</a:t>
            </a:r>
          </a:p>
          <a:p>
            <a:pPr>
              <a:spcAft>
                <a:spcPts val="1350"/>
              </a:spcAft>
            </a:pPr>
            <a:r>
              <a:rPr sz="3000" b="0">
                <a:solidFill>
                  <a:srgbClr val="102A43"/>
                </a:solidFill>
                <a:latin typeface="Calibri"/>
              </a:rPr>
              <a:t>•  Iniciar puntual, recorrer la sala y observar en especial las partidas en apuro de tiempo.</a:t>
            </a:r>
          </a:p>
          <a:p>
            <a:pPr>
              <a:spcAft>
                <a:spcPts val="1350"/>
              </a:spcAft>
            </a:pPr>
            <a:r>
              <a:rPr sz="3000" b="0">
                <a:solidFill>
                  <a:srgbClr val="102A43"/>
                </a:solidFill>
                <a:latin typeface="Calibri"/>
              </a:rPr>
              <a:t>•  Recoger resultados firmados, revisarlos e ingresarlos antes de emparejar la ronda siguiente.</a:t>
            </a:r>
          </a:p>
          <a:p>
            <a:pPr>
              <a:spcAft>
                <a:spcPts val="1350"/>
              </a:spcAft>
            </a:pPr>
            <a:r>
              <a:rPr sz="3000" b="0">
                <a:solidFill>
                  <a:srgbClr val="102A43"/>
                </a:solidFill>
                <a:latin typeface="Calibri"/>
              </a:rPr>
              <a:t>•  Al final: tabla con desempates, acta del torneo, informe de incidencias y premiación.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3172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277295" cy="777240"/>
          </a:xfrm>
          <a:prstGeom prst="rect">
            <a:avLst/>
          </a:prstGeom>
          <a:noFill/>
        </p:spPr>
        <p:txBody>
          <a:bodyPr wrap="square" lIns="45720" rIns="45720" anchor="ctr">
            <a:spAutoFit/>
          </a:bodyPr>
          <a:lstStyle/>
          <a:p>
            <a:pPr algn="ctr">
              <a:spcAft>
                <a:spcPts val="1530"/>
              </a:spcAft>
            </a:pPr>
            <a:r>
              <a:rPr sz="3400" b="1">
                <a:solidFill>
                  <a:srgbClr val="FFFFFF"/>
                </a:solidFill>
                <a:latin typeface="Calibri"/>
              </a:rPr>
              <a:t>Comunicar decisiones</a:t>
            </a:r>
          </a:p>
        </p:txBody>
      </p:sp>
      <p:sp>
        <p:nvSpPr>
          <p:cNvPr id="4" name="TextBox 3"/>
          <p:cNvSpPr txBox="1"/>
          <p:nvPr/>
        </p:nvSpPr>
        <p:spPr>
          <a:xfrm>
            <a:off x="457200" y="6419088"/>
            <a:ext cx="10180015" cy="365760"/>
          </a:xfrm>
          <a:prstGeom prst="rect">
            <a:avLst/>
          </a:prstGeom>
          <a:noFill/>
        </p:spPr>
        <p:txBody>
          <a:bodyPr wrap="square" lIns="45720" rIns="45720">
            <a:spAutoFit/>
          </a:bodyPr>
          <a:lstStyle/>
          <a:p>
            <a:pPr>
              <a:spcAft>
                <a:spcPts val="540"/>
              </a:spcAft>
            </a:pPr>
            <a:r>
              <a:rPr sz="1200" b="0">
                <a:solidFill>
                  <a:srgbClr val="627D98"/>
                </a:solidFill>
                <a:latin typeface="Calibri"/>
              </a:rPr>
              <a:t>Fuente: Leyes del Ajedrez 2023 (Handbook E.I.01), art. 11.9, 11.10 y 12.7</a:t>
            </a:r>
          </a:p>
        </p:txBody>
      </p:sp>
      <p:sp>
        <p:nvSpPr>
          <p:cNvPr id="5" name="TextBox 4"/>
          <p:cNvSpPr txBox="1"/>
          <p:nvPr/>
        </p:nvSpPr>
        <p:spPr>
          <a:xfrm>
            <a:off x="10728655" y="6419088"/>
            <a:ext cx="1097280" cy="365760"/>
          </a:xfrm>
          <a:prstGeom prst="rect">
            <a:avLst/>
          </a:prstGeom>
          <a:noFill/>
        </p:spPr>
        <p:txBody>
          <a:bodyPr wrap="square" lIns="45720" rIns="45720">
            <a:spAutoFit/>
          </a:bodyPr>
          <a:lstStyle/>
          <a:p>
            <a:pPr algn="ctr">
              <a:spcAft>
                <a:spcPts val="540"/>
              </a:spcAft>
            </a:pPr>
            <a:r>
              <a:rPr sz="1200" b="0">
                <a:solidFill>
                  <a:srgbClr val="627D98"/>
                </a:solidFill>
                <a:latin typeface="Calibri"/>
              </a:rPr>
              <a:t>9</a:t>
            </a:r>
          </a:p>
        </p:txBody>
      </p:sp>
      <p:sp>
        <p:nvSpPr>
          <p:cNvPr id="6" name="Rectangle 5"/>
          <p:cNvSpPr/>
          <p:nvPr/>
        </p:nvSpPr>
        <p:spPr>
          <a:xfrm>
            <a:off x="457200" y="1280160"/>
            <a:ext cx="11277295" cy="489204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417319"/>
            <a:ext cx="10637215" cy="4617720"/>
          </a:xfrm>
          <a:prstGeom prst="rect">
            <a:avLst/>
          </a:prstGeom>
          <a:noFill/>
        </p:spPr>
        <p:txBody>
          <a:bodyPr wrap="square" lIns="45720" rIns="45720">
            <a:spAutoFit/>
          </a:bodyPr>
          <a:lstStyle/>
          <a:p>
            <a:pPr>
              <a:spcAft>
                <a:spcPts val="1215"/>
              </a:spcAft>
            </a:pPr>
            <a:r>
              <a:rPr sz="2700" b="0">
                <a:solidFill>
                  <a:srgbClr val="3172AC"/>
                </a:solidFill>
                <a:latin typeface="Calibri"/>
              </a:rPr>
              <a:t>En un torneo estudiantil, la decisión arbitral la escuchan estudiantes, familias y docentes. Una decisión correcta mal comunicada genera tanto conflicto como una incorrecta.</a:t>
            </a:r>
          </a:p>
          <a:p>
            <a:pPr>
              <a:spcAft>
                <a:spcPts val="1215"/>
              </a:spcAft>
            </a:pPr>
            <a:r>
              <a:rPr sz="2700" b="0">
                <a:solidFill>
                  <a:srgbClr val="102A43"/>
                </a:solidFill>
                <a:latin typeface="Calibri"/>
              </a:rPr>
              <a:t>•  Habla primero con los dos jugadores, en voz baja y lejos de otras mesas.</a:t>
            </a:r>
          </a:p>
          <a:p>
            <a:pPr>
              <a:spcAft>
                <a:spcPts val="1215"/>
              </a:spcAft>
            </a:pPr>
            <a:r>
              <a:rPr sz="2700" b="0">
                <a:solidFill>
                  <a:srgbClr val="102A43"/>
                </a:solidFill>
                <a:latin typeface="Calibri"/>
              </a:rPr>
              <a:t>•  Explica la regla y el artículo, sin discutir la posición.</a:t>
            </a:r>
          </a:p>
          <a:p>
            <a:pPr>
              <a:spcAft>
                <a:spcPts val="1215"/>
              </a:spcAft>
            </a:pPr>
            <a:r>
              <a:rPr sz="2700" b="0">
                <a:solidFill>
                  <a:srgbClr val="102A43"/>
                </a:solidFill>
                <a:latin typeface="Calibri"/>
              </a:rPr>
              <a:t>•  Las familias y el público no intervienen en las partidas; sus inquietudes se atienden fuera de la sala.</a:t>
            </a:r>
          </a:p>
          <a:p>
            <a:pPr>
              <a:spcAft>
                <a:spcPts val="1215"/>
              </a:spcAft>
            </a:pPr>
            <a:r>
              <a:rPr sz="2700" b="0">
                <a:solidFill>
                  <a:srgbClr val="102A43"/>
                </a:solidFill>
                <a:latin typeface="Calibri"/>
              </a:rPr>
              <a:t>•  Si hay una apelación, informa ante quién y en qué plazo según el reglamento.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3172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277295" cy="777240"/>
          </a:xfrm>
          <a:prstGeom prst="rect">
            <a:avLst/>
          </a:prstGeom>
          <a:noFill/>
        </p:spPr>
        <p:txBody>
          <a:bodyPr wrap="square" lIns="45720" rIns="45720" anchor="ctr">
            <a:spAutoFit/>
          </a:bodyPr>
          <a:lstStyle/>
          <a:p>
            <a:pPr algn="ctr">
              <a:spcAft>
                <a:spcPts val="1530"/>
              </a:spcAft>
            </a:pPr>
            <a:r>
              <a:rPr sz="3400" b="1">
                <a:solidFill>
                  <a:srgbClr val="FFFFFF"/>
                </a:solidFill>
                <a:latin typeface="Calibri"/>
              </a:rPr>
              <a:t>Caso 1 · ¿Qué decide la persona árbitra?</a:t>
            </a:r>
          </a:p>
        </p:txBody>
      </p:sp>
      <p:sp>
        <p:nvSpPr>
          <p:cNvPr id="4" name="Rectangle 3"/>
          <p:cNvSpPr/>
          <p:nvPr/>
        </p:nvSpPr>
        <p:spPr>
          <a:xfrm>
            <a:off x="0" y="960120"/>
            <a:ext cx="12191695" cy="548640"/>
          </a:xfrm>
          <a:prstGeom prst="rect">
            <a:avLst/>
          </a:prstGeom>
          <a:solidFill>
            <a:srgbClr val="4E6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87552"/>
            <a:ext cx="11277295" cy="502920"/>
          </a:xfrm>
          <a:prstGeom prst="rect">
            <a:avLst/>
          </a:prstGeom>
          <a:noFill/>
        </p:spPr>
        <p:txBody>
          <a:bodyPr wrap="square" lIns="45720" rIns="45720" anchor="ctr">
            <a:spAutoFit/>
          </a:bodyPr>
          <a:lstStyle/>
          <a:p>
            <a:pPr algn="ctr">
              <a:spcAft>
                <a:spcPts val="945"/>
              </a:spcAft>
            </a:pPr>
            <a:r>
              <a:rPr sz="2100" b="0">
                <a:solidFill>
                  <a:srgbClr val="FFFFFF"/>
                </a:solidFill>
                <a:latin typeface="Calibri"/>
              </a:rPr>
              <a:t>Caso integrador 1: la ronda que empezó tarde</a:t>
            </a:r>
          </a:p>
        </p:txBody>
      </p:sp>
      <p:sp>
        <p:nvSpPr>
          <p:cNvPr id="6" name="TextBox 5"/>
          <p:cNvSpPr txBox="1"/>
          <p:nvPr/>
        </p:nvSpPr>
        <p:spPr>
          <a:xfrm>
            <a:off x="10728655" y="6419088"/>
            <a:ext cx="1097280" cy="365760"/>
          </a:xfrm>
          <a:prstGeom prst="rect">
            <a:avLst/>
          </a:prstGeom>
          <a:noFill/>
        </p:spPr>
        <p:txBody>
          <a:bodyPr wrap="square" lIns="45720" rIns="45720">
            <a:spAutoFit/>
          </a:bodyPr>
          <a:lstStyle/>
          <a:p>
            <a:pPr algn="ctr">
              <a:spcAft>
                <a:spcPts val="540"/>
              </a:spcAft>
            </a:pPr>
            <a:r>
              <a:rPr sz="1200" b="0">
                <a:solidFill>
                  <a:srgbClr val="627D98"/>
                </a:solidFill>
                <a:latin typeface="Calibri"/>
              </a:rPr>
              <a:t>10</a:t>
            </a:r>
          </a:p>
        </p:txBody>
      </p:sp>
      <p:sp>
        <p:nvSpPr>
          <p:cNvPr id="7" name="Rectangle 6"/>
          <p:cNvSpPr/>
          <p:nvPr/>
        </p:nvSpPr>
        <p:spPr>
          <a:xfrm>
            <a:off x="457200" y="1783080"/>
            <a:ext cx="11277295" cy="438912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011680"/>
            <a:ext cx="10545775" cy="3931920"/>
          </a:xfrm>
          <a:prstGeom prst="rect">
            <a:avLst/>
          </a:prstGeom>
          <a:noFill/>
        </p:spPr>
        <p:txBody>
          <a:bodyPr wrap="square" lIns="45720" rIns="45720" anchor="ctr">
            <a:spAutoFit/>
          </a:bodyPr>
          <a:lstStyle/>
          <a:p>
            <a:pPr>
              <a:spcAft>
                <a:spcPts val="1530"/>
              </a:spcAft>
            </a:pPr>
            <a:r>
              <a:rPr sz="3400" b="0">
                <a:solidFill>
                  <a:srgbClr val="102A43"/>
                </a:solidFill>
                <a:latin typeface="Calibri"/>
              </a:rPr>
              <a:t>Un suizo escolar a 15 minutos más 5 segundos, 5 rondas. La ronda 3 se publicó con 20 minutos de retraso. Un jugador de blancas llega 5 minutos después de la hora de inicio publicada; el reglamento fija 10 minutos de tolerancia. En su partida, el rival completa una jugada ilegal y, más tarde, suena el celular del jugador que llegó tarde. El reglamento sanciona el celular con la pérdida de la partida.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3172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277295" cy="777240"/>
          </a:xfrm>
          <a:prstGeom prst="rect">
            <a:avLst/>
          </a:prstGeom>
          <a:noFill/>
        </p:spPr>
        <p:txBody>
          <a:bodyPr wrap="square" lIns="45720" rIns="45720" anchor="ctr">
            <a:spAutoFit/>
          </a:bodyPr>
          <a:lstStyle/>
          <a:p>
            <a:pPr algn="ctr">
              <a:spcAft>
                <a:spcPts val="1530"/>
              </a:spcAft>
            </a:pPr>
            <a:r>
              <a:rPr sz="3400" b="1">
                <a:solidFill>
                  <a:srgbClr val="FFFFFF"/>
                </a:solidFill>
                <a:latin typeface="Calibri"/>
              </a:rPr>
              <a:t>Caso 1 · Decisión</a:t>
            </a:r>
          </a:p>
        </p:txBody>
      </p:sp>
      <p:sp>
        <p:nvSpPr>
          <p:cNvPr id="4" name="Rectangle 3"/>
          <p:cNvSpPr/>
          <p:nvPr/>
        </p:nvSpPr>
        <p:spPr>
          <a:xfrm>
            <a:off x="0" y="960120"/>
            <a:ext cx="12191695" cy="548640"/>
          </a:xfrm>
          <a:prstGeom prst="rect">
            <a:avLst/>
          </a:prstGeom>
          <a:solidFill>
            <a:srgbClr val="4E6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87552"/>
            <a:ext cx="11277295" cy="502920"/>
          </a:xfrm>
          <a:prstGeom prst="rect">
            <a:avLst/>
          </a:prstGeom>
          <a:noFill/>
        </p:spPr>
        <p:txBody>
          <a:bodyPr wrap="square" lIns="45720" rIns="45720" anchor="ctr">
            <a:spAutoFit/>
          </a:bodyPr>
          <a:lstStyle/>
          <a:p>
            <a:pPr algn="ctr">
              <a:spcAft>
                <a:spcPts val="945"/>
              </a:spcAft>
            </a:pPr>
            <a:r>
              <a:rPr sz="2100" b="0">
                <a:solidFill>
                  <a:srgbClr val="FFFFFF"/>
                </a:solidFill>
                <a:latin typeface="Calibri"/>
              </a:rPr>
              <a:t>Caso integrador 1: la ronda que empezó tarde</a:t>
            </a:r>
          </a:p>
        </p:txBody>
      </p:sp>
      <p:sp>
        <p:nvSpPr>
          <p:cNvPr id="6" name="TextBox 5"/>
          <p:cNvSpPr txBox="1"/>
          <p:nvPr/>
        </p:nvSpPr>
        <p:spPr>
          <a:xfrm>
            <a:off x="457200" y="6419088"/>
            <a:ext cx="10180015" cy="365760"/>
          </a:xfrm>
          <a:prstGeom prst="rect">
            <a:avLst/>
          </a:prstGeom>
          <a:noFill/>
        </p:spPr>
        <p:txBody>
          <a:bodyPr wrap="square" lIns="45720" rIns="45720">
            <a:spAutoFit/>
          </a:bodyPr>
          <a:lstStyle/>
          <a:p>
            <a:pPr>
              <a:spcAft>
                <a:spcPts val="540"/>
              </a:spcAft>
            </a:pPr>
            <a:r>
              <a:rPr sz="1200" b="0">
                <a:solidFill>
                  <a:srgbClr val="627D98"/>
                </a:solidFill>
                <a:latin typeface="Calibri"/>
              </a:rPr>
              <a:t>Fuente: Leyes del Ajedrez 2023 (Handbook E.I.01), art. 6.7, 7.5, 11.3.2 y apéndice A.3</a:t>
            </a:r>
          </a:p>
        </p:txBody>
      </p:sp>
      <p:sp>
        <p:nvSpPr>
          <p:cNvPr id="7" name="TextBox 6"/>
          <p:cNvSpPr txBox="1"/>
          <p:nvPr/>
        </p:nvSpPr>
        <p:spPr>
          <a:xfrm>
            <a:off x="10728655" y="6419088"/>
            <a:ext cx="1097280" cy="365760"/>
          </a:xfrm>
          <a:prstGeom prst="rect">
            <a:avLst/>
          </a:prstGeom>
          <a:noFill/>
        </p:spPr>
        <p:txBody>
          <a:bodyPr wrap="square" lIns="45720" rIns="45720">
            <a:spAutoFit/>
          </a:bodyPr>
          <a:lstStyle/>
          <a:p>
            <a:pPr algn="ctr">
              <a:spcAft>
                <a:spcPts val="540"/>
              </a:spcAft>
            </a:pPr>
            <a:r>
              <a:rPr sz="1200" b="0">
                <a:solidFill>
                  <a:srgbClr val="627D98"/>
                </a:solidFill>
                <a:latin typeface="Calibri"/>
              </a:rPr>
              <a:t>11</a:t>
            </a:r>
          </a:p>
        </p:txBody>
      </p:sp>
      <p:sp>
        <p:nvSpPr>
          <p:cNvPr id="8" name="Rectangle 7"/>
          <p:cNvSpPr/>
          <p:nvPr/>
        </p:nvSpPr>
        <p:spPr>
          <a:xfrm>
            <a:off x="457200" y="1783080"/>
            <a:ext cx="11277295" cy="4389120"/>
          </a:xfrm>
          <a:prstGeom prst="rect">
            <a:avLst/>
          </a:prstGeom>
          <a:solidFill>
            <a:srgbClr val="EEF7EE"/>
          </a:solidFill>
          <a:ln w="19050">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011680"/>
            <a:ext cx="10545775" cy="3931920"/>
          </a:xfrm>
          <a:prstGeom prst="rect">
            <a:avLst/>
          </a:prstGeom>
          <a:noFill/>
        </p:spPr>
        <p:txBody>
          <a:bodyPr wrap="square" lIns="45720" rIns="45720" anchor="ctr">
            <a:spAutoFit/>
          </a:bodyPr>
          <a:lstStyle/>
          <a:p>
            <a:pPr>
              <a:spcAft>
                <a:spcPts val="1350"/>
              </a:spcAft>
            </a:pPr>
            <a:r>
              <a:rPr sz="3000" b="0">
                <a:solidFill>
                  <a:srgbClr val="102A43"/>
                </a:solidFill>
                <a:latin typeface="Calibri"/>
              </a:rPr>
              <a:t>El jugador juega: llegó dentro de la tolerancia, con 5 minutos menos en su reloj. La jugada ilegal del rival (primera, en rápidas) se corrige: se repone la posición y el que llegó tarde recibe un minuto. El celular: pierde la partida según el reglamento. Se registra todo en el acta y se revisa por qué la ronda se publicó tarde.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3172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277295" cy="777240"/>
          </a:xfrm>
          <a:prstGeom prst="rect">
            <a:avLst/>
          </a:prstGeom>
          <a:noFill/>
        </p:spPr>
        <p:txBody>
          <a:bodyPr wrap="square" lIns="45720" rIns="45720" anchor="ctr">
            <a:spAutoFit/>
          </a:bodyPr>
          <a:lstStyle/>
          <a:p>
            <a:pPr algn="ctr">
              <a:spcAft>
                <a:spcPts val="1530"/>
              </a:spcAft>
            </a:pPr>
            <a:r>
              <a:rPr sz="3400" b="1">
                <a:solidFill>
                  <a:srgbClr val="FFFFFF"/>
                </a:solidFill>
                <a:latin typeface="Calibri"/>
              </a:rPr>
              <a:t>Caso 2 · ¿Qué decide la persona árbitra?</a:t>
            </a:r>
          </a:p>
        </p:txBody>
      </p:sp>
      <p:sp>
        <p:nvSpPr>
          <p:cNvPr id="4" name="Rectangle 3"/>
          <p:cNvSpPr/>
          <p:nvPr/>
        </p:nvSpPr>
        <p:spPr>
          <a:xfrm>
            <a:off x="0" y="960120"/>
            <a:ext cx="12191695" cy="548640"/>
          </a:xfrm>
          <a:prstGeom prst="rect">
            <a:avLst/>
          </a:prstGeom>
          <a:solidFill>
            <a:srgbClr val="4E6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87552"/>
            <a:ext cx="11277295" cy="502920"/>
          </a:xfrm>
          <a:prstGeom prst="rect">
            <a:avLst/>
          </a:prstGeom>
          <a:noFill/>
        </p:spPr>
        <p:txBody>
          <a:bodyPr wrap="square" lIns="45720" rIns="45720" anchor="ctr">
            <a:spAutoFit/>
          </a:bodyPr>
          <a:lstStyle/>
          <a:p>
            <a:pPr algn="ctr">
              <a:spcAft>
                <a:spcPts val="945"/>
              </a:spcAft>
            </a:pPr>
            <a:r>
              <a:rPr sz="2100" b="0">
                <a:solidFill>
                  <a:srgbClr val="FFFFFF"/>
                </a:solidFill>
                <a:latin typeface="Calibri"/>
              </a:rPr>
              <a:t>Caso integrador 2: empate en el primer lugar</a:t>
            </a:r>
          </a:p>
        </p:txBody>
      </p:sp>
      <p:sp>
        <p:nvSpPr>
          <p:cNvPr id="6" name="TextBox 5"/>
          <p:cNvSpPr txBox="1"/>
          <p:nvPr/>
        </p:nvSpPr>
        <p:spPr>
          <a:xfrm>
            <a:off x="10728655" y="6419088"/>
            <a:ext cx="1097280" cy="365760"/>
          </a:xfrm>
          <a:prstGeom prst="rect">
            <a:avLst/>
          </a:prstGeom>
          <a:noFill/>
        </p:spPr>
        <p:txBody>
          <a:bodyPr wrap="square" lIns="45720" rIns="45720">
            <a:spAutoFit/>
          </a:bodyPr>
          <a:lstStyle/>
          <a:p>
            <a:pPr algn="ctr">
              <a:spcAft>
                <a:spcPts val="540"/>
              </a:spcAft>
            </a:pPr>
            <a:r>
              <a:rPr sz="1200" b="0">
                <a:solidFill>
                  <a:srgbClr val="627D98"/>
                </a:solidFill>
                <a:latin typeface="Calibri"/>
              </a:rPr>
              <a:t>12</a:t>
            </a:r>
          </a:p>
        </p:txBody>
      </p:sp>
      <p:sp>
        <p:nvSpPr>
          <p:cNvPr id="7" name="Rectangle 6"/>
          <p:cNvSpPr/>
          <p:nvPr/>
        </p:nvSpPr>
        <p:spPr>
          <a:xfrm>
            <a:off x="457200" y="1783080"/>
            <a:ext cx="11277295" cy="438912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011680"/>
            <a:ext cx="10545775" cy="3931920"/>
          </a:xfrm>
          <a:prstGeom prst="rect">
            <a:avLst/>
          </a:prstGeom>
          <a:noFill/>
        </p:spPr>
        <p:txBody>
          <a:bodyPr wrap="square" lIns="45720" rIns="45720" anchor="ctr">
            <a:spAutoFit/>
          </a:bodyPr>
          <a:lstStyle/>
          <a:p>
            <a:pPr>
              <a:spcAft>
                <a:spcPts val="1530"/>
              </a:spcAft>
            </a:pPr>
            <a:r>
              <a:rPr sz="3400" b="0">
                <a:solidFill>
                  <a:srgbClr val="102A43"/>
                </a:solidFill>
                <a:latin typeface="Calibri"/>
              </a:rPr>
              <a:t>En un todos contra todos de 6 jugadores, dos estudiantes empatan en el primer lugar. Las bases anuncian: 1) encuentro directo, 2) Sonneborn-Berger, 3) número de victorias. Empataron su partida entre sí.</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3172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277295" cy="777240"/>
          </a:xfrm>
          <a:prstGeom prst="rect">
            <a:avLst/>
          </a:prstGeom>
          <a:noFill/>
        </p:spPr>
        <p:txBody>
          <a:bodyPr wrap="square" lIns="45720" rIns="45720" anchor="ctr">
            <a:spAutoFit/>
          </a:bodyPr>
          <a:lstStyle/>
          <a:p>
            <a:pPr algn="ctr">
              <a:spcAft>
                <a:spcPts val="1530"/>
              </a:spcAft>
            </a:pPr>
            <a:r>
              <a:rPr sz="3400" b="1">
                <a:solidFill>
                  <a:srgbClr val="FFFFFF"/>
                </a:solidFill>
                <a:latin typeface="Calibri"/>
              </a:rPr>
              <a:t>Caso 2 · Decisión</a:t>
            </a:r>
          </a:p>
        </p:txBody>
      </p:sp>
      <p:sp>
        <p:nvSpPr>
          <p:cNvPr id="4" name="Rectangle 3"/>
          <p:cNvSpPr/>
          <p:nvPr/>
        </p:nvSpPr>
        <p:spPr>
          <a:xfrm>
            <a:off x="0" y="960120"/>
            <a:ext cx="12191695" cy="548640"/>
          </a:xfrm>
          <a:prstGeom prst="rect">
            <a:avLst/>
          </a:prstGeom>
          <a:solidFill>
            <a:srgbClr val="4E6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87552"/>
            <a:ext cx="11277295" cy="502920"/>
          </a:xfrm>
          <a:prstGeom prst="rect">
            <a:avLst/>
          </a:prstGeom>
          <a:noFill/>
        </p:spPr>
        <p:txBody>
          <a:bodyPr wrap="square" lIns="45720" rIns="45720" anchor="ctr">
            <a:spAutoFit/>
          </a:bodyPr>
          <a:lstStyle/>
          <a:p>
            <a:pPr algn="ctr">
              <a:spcAft>
                <a:spcPts val="945"/>
              </a:spcAft>
            </a:pPr>
            <a:r>
              <a:rPr sz="2100" b="0">
                <a:solidFill>
                  <a:srgbClr val="FFFFFF"/>
                </a:solidFill>
                <a:latin typeface="Calibri"/>
              </a:rPr>
              <a:t>Caso integrador 2: empate en el primer lugar</a:t>
            </a:r>
          </a:p>
        </p:txBody>
      </p:sp>
      <p:sp>
        <p:nvSpPr>
          <p:cNvPr id="6" name="TextBox 5"/>
          <p:cNvSpPr txBox="1"/>
          <p:nvPr/>
        </p:nvSpPr>
        <p:spPr>
          <a:xfrm>
            <a:off x="457200" y="6419088"/>
            <a:ext cx="10180015" cy="365760"/>
          </a:xfrm>
          <a:prstGeom prst="rect">
            <a:avLst/>
          </a:prstGeom>
          <a:noFill/>
        </p:spPr>
        <p:txBody>
          <a:bodyPr wrap="square" lIns="45720" rIns="45720">
            <a:spAutoFit/>
          </a:bodyPr>
          <a:lstStyle/>
          <a:p>
            <a:pPr>
              <a:spcAft>
                <a:spcPts val="540"/>
              </a:spcAft>
            </a:pPr>
            <a:r>
              <a:rPr sz="1200" b="0">
                <a:solidFill>
                  <a:srgbClr val="627D98"/>
                </a:solidFill>
                <a:latin typeface="Calibri"/>
              </a:rPr>
              <a:t>Fuente: Reglamento de desempates de la FIDE (Handbook C.07)</a:t>
            </a:r>
          </a:p>
        </p:txBody>
      </p:sp>
      <p:sp>
        <p:nvSpPr>
          <p:cNvPr id="7" name="TextBox 6"/>
          <p:cNvSpPr txBox="1"/>
          <p:nvPr/>
        </p:nvSpPr>
        <p:spPr>
          <a:xfrm>
            <a:off x="10728655" y="6419088"/>
            <a:ext cx="1097280" cy="365760"/>
          </a:xfrm>
          <a:prstGeom prst="rect">
            <a:avLst/>
          </a:prstGeom>
          <a:noFill/>
        </p:spPr>
        <p:txBody>
          <a:bodyPr wrap="square" lIns="45720" rIns="45720">
            <a:spAutoFit/>
          </a:bodyPr>
          <a:lstStyle/>
          <a:p>
            <a:pPr algn="ctr">
              <a:spcAft>
                <a:spcPts val="540"/>
              </a:spcAft>
            </a:pPr>
            <a:r>
              <a:rPr sz="1200" b="0">
                <a:solidFill>
                  <a:srgbClr val="627D98"/>
                </a:solidFill>
                <a:latin typeface="Calibri"/>
              </a:rPr>
              <a:t>13</a:t>
            </a:r>
          </a:p>
        </p:txBody>
      </p:sp>
      <p:sp>
        <p:nvSpPr>
          <p:cNvPr id="8" name="Rectangle 7"/>
          <p:cNvSpPr/>
          <p:nvPr/>
        </p:nvSpPr>
        <p:spPr>
          <a:xfrm>
            <a:off x="457200" y="1783080"/>
            <a:ext cx="11277295" cy="4389120"/>
          </a:xfrm>
          <a:prstGeom prst="rect">
            <a:avLst/>
          </a:prstGeom>
          <a:solidFill>
            <a:srgbClr val="EEF7EE"/>
          </a:solidFill>
          <a:ln w="19050">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011680"/>
            <a:ext cx="10545775" cy="3931920"/>
          </a:xfrm>
          <a:prstGeom prst="rect">
            <a:avLst/>
          </a:prstGeom>
          <a:noFill/>
        </p:spPr>
        <p:txBody>
          <a:bodyPr wrap="square" lIns="45720" rIns="45720" anchor="ctr">
            <a:spAutoFit/>
          </a:bodyPr>
          <a:lstStyle/>
          <a:p>
            <a:pPr>
              <a:spcAft>
                <a:spcPts val="1350"/>
              </a:spcAft>
            </a:pPr>
            <a:r>
              <a:rPr sz="3000" b="0">
                <a:solidFill>
                  <a:srgbClr val="102A43"/>
                </a:solidFill>
                <a:latin typeface="Calibri"/>
              </a:rPr>
              <a:t>El encuentro directo no los separa. Se calcula el Sonneborn-Berger de cada uno (ver el ejemplo de la sesión 3) y, si siguen empatados, el número de victorias. Si todo se agota, sorteo, salvo que las bases digan otra cosa.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3172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277295" cy="777240"/>
          </a:xfrm>
          <a:prstGeom prst="rect">
            <a:avLst/>
          </a:prstGeom>
          <a:noFill/>
        </p:spPr>
        <p:txBody>
          <a:bodyPr wrap="square" lIns="45720" rIns="45720" anchor="ctr">
            <a:spAutoFit/>
          </a:bodyPr>
          <a:lstStyle/>
          <a:p>
            <a:pPr algn="ctr">
              <a:spcAft>
                <a:spcPts val="1530"/>
              </a:spcAft>
            </a:pPr>
            <a:r>
              <a:rPr sz="3400" b="1">
                <a:solidFill>
                  <a:srgbClr val="FFFFFF"/>
                </a:solidFill>
                <a:latin typeface="Calibri"/>
              </a:rPr>
              <a:t>Caso 3 · ¿Qué decide la persona árbitra?</a:t>
            </a:r>
          </a:p>
        </p:txBody>
      </p:sp>
      <p:sp>
        <p:nvSpPr>
          <p:cNvPr id="4" name="Rectangle 3"/>
          <p:cNvSpPr/>
          <p:nvPr/>
        </p:nvSpPr>
        <p:spPr>
          <a:xfrm>
            <a:off x="0" y="960120"/>
            <a:ext cx="12191695" cy="548640"/>
          </a:xfrm>
          <a:prstGeom prst="rect">
            <a:avLst/>
          </a:prstGeom>
          <a:solidFill>
            <a:srgbClr val="4E6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87552"/>
            <a:ext cx="11277295" cy="502920"/>
          </a:xfrm>
          <a:prstGeom prst="rect">
            <a:avLst/>
          </a:prstGeom>
          <a:noFill/>
        </p:spPr>
        <p:txBody>
          <a:bodyPr wrap="square" lIns="45720" rIns="45720" anchor="ctr">
            <a:spAutoFit/>
          </a:bodyPr>
          <a:lstStyle/>
          <a:p>
            <a:pPr algn="ctr">
              <a:spcAft>
                <a:spcPts val="945"/>
              </a:spcAft>
            </a:pPr>
            <a:r>
              <a:rPr sz="2100" b="0">
                <a:solidFill>
                  <a:srgbClr val="FFFFFF"/>
                </a:solidFill>
                <a:latin typeface="Calibri"/>
              </a:rPr>
              <a:t>Caso integrador 3: la logística que falló</a:t>
            </a:r>
          </a:p>
        </p:txBody>
      </p:sp>
      <p:sp>
        <p:nvSpPr>
          <p:cNvPr id="6" name="TextBox 5"/>
          <p:cNvSpPr txBox="1"/>
          <p:nvPr/>
        </p:nvSpPr>
        <p:spPr>
          <a:xfrm>
            <a:off x="10728655" y="6419088"/>
            <a:ext cx="1097280" cy="365760"/>
          </a:xfrm>
          <a:prstGeom prst="rect">
            <a:avLst/>
          </a:prstGeom>
          <a:noFill/>
        </p:spPr>
        <p:txBody>
          <a:bodyPr wrap="square" lIns="45720" rIns="45720">
            <a:spAutoFit/>
          </a:bodyPr>
          <a:lstStyle/>
          <a:p>
            <a:pPr algn="ctr">
              <a:spcAft>
                <a:spcPts val="540"/>
              </a:spcAft>
            </a:pPr>
            <a:r>
              <a:rPr sz="1200" b="0">
                <a:solidFill>
                  <a:srgbClr val="627D98"/>
                </a:solidFill>
                <a:latin typeface="Calibri"/>
              </a:rPr>
              <a:t>14</a:t>
            </a:r>
          </a:p>
        </p:txBody>
      </p:sp>
      <p:sp>
        <p:nvSpPr>
          <p:cNvPr id="7" name="Rectangle 6"/>
          <p:cNvSpPr/>
          <p:nvPr/>
        </p:nvSpPr>
        <p:spPr>
          <a:xfrm>
            <a:off x="457200" y="1783080"/>
            <a:ext cx="11277295" cy="438912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011680"/>
            <a:ext cx="10545775" cy="3931920"/>
          </a:xfrm>
          <a:prstGeom prst="rect">
            <a:avLst/>
          </a:prstGeom>
          <a:noFill/>
        </p:spPr>
        <p:txBody>
          <a:bodyPr wrap="square" lIns="45720" rIns="45720" anchor="ctr">
            <a:spAutoFit/>
          </a:bodyPr>
          <a:lstStyle/>
          <a:p>
            <a:pPr>
              <a:spcAft>
                <a:spcPts val="1530"/>
              </a:spcAft>
            </a:pPr>
            <a:r>
              <a:rPr sz="3400" b="0">
                <a:solidFill>
                  <a:srgbClr val="102A43"/>
                </a:solidFill>
                <a:latin typeface="Calibri"/>
              </a:rPr>
              <a:t>Al empezar la ronda 1 faltan 4 relojes y 3 tableros tienen piezas incompletas. Hay 30 estudiantes inscritos.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3172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277295" cy="777240"/>
          </a:xfrm>
          <a:prstGeom prst="rect">
            <a:avLst/>
          </a:prstGeom>
          <a:noFill/>
        </p:spPr>
        <p:txBody>
          <a:bodyPr wrap="square" lIns="45720" rIns="45720" anchor="ctr">
            <a:spAutoFit/>
          </a:bodyPr>
          <a:lstStyle/>
          <a:p>
            <a:pPr algn="ctr">
              <a:spcAft>
                <a:spcPts val="1530"/>
              </a:spcAft>
            </a:pPr>
            <a:r>
              <a:rPr sz="3400" b="1">
                <a:solidFill>
                  <a:srgbClr val="FFFFFF"/>
                </a:solidFill>
                <a:latin typeface="Calibri"/>
              </a:rPr>
              <a:t>Caso 3 · Decisión</a:t>
            </a:r>
          </a:p>
        </p:txBody>
      </p:sp>
      <p:sp>
        <p:nvSpPr>
          <p:cNvPr id="4" name="Rectangle 3"/>
          <p:cNvSpPr/>
          <p:nvPr/>
        </p:nvSpPr>
        <p:spPr>
          <a:xfrm>
            <a:off x="0" y="960120"/>
            <a:ext cx="12191695" cy="548640"/>
          </a:xfrm>
          <a:prstGeom prst="rect">
            <a:avLst/>
          </a:prstGeom>
          <a:solidFill>
            <a:srgbClr val="4E6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87552"/>
            <a:ext cx="11277295" cy="502920"/>
          </a:xfrm>
          <a:prstGeom prst="rect">
            <a:avLst/>
          </a:prstGeom>
          <a:noFill/>
        </p:spPr>
        <p:txBody>
          <a:bodyPr wrap="square" lIns="45720" rIns="45720" anchor="ctr">
            <a:spAutoFit/>
          </a:bodyPr>
          <a:lstStyle/>
          <a:p>
            <a:pPr algn="ctr">
              <a:spcAft>
                <a:spcPts val="945"/>
              </a:spcAft>
            </a:pPr>
            <a:r>
              <a:rPr sz="2100" b="0">
                <a:solidFill>
                  <a:srgbClr val="FFFFFF"/>
                </a:solidFill>
                <a:latin typeface="Calibri"/>
              </a:rPr>
              <a:t>Caso integrador 3: la logística que falló</a:t>
            </a:r>
          </a:p>
        </p:txBody>
      </p:sp>
      <p:sp>
        <p:nvSpPr>
          <p:cNvPr id="6" name="TextBox 5"/>
          <p:cNvSpPr txBox="1"/>
          <p:nvPr/>
        </p:nvSpPr>
        <p:spPr>
          <a:xfrm>
            <a:off x="457200" y="6419088"/>
            <a:ext cx="10180015" cy="365760"/>
          </a:xfrm>
          <a:prstGeom prst="rect">
            <a:avLst/>
          </a:prstGeom>
          <a:noFill/>
        </p:spPr>
        <p:txBody>
          <a:bodyPr wrap="square" lIns="45720" rIns="45720">
            <a:spAutoFit/>
          </a:bodyPr>
          <a:lstStyle/>
          <a:p>
            <a:pPr>
              <a:spcAft>
                <a:spcPts val="540"/>
              </a:spcAft>
            </a:pPr>
            <a:r>
              <a:rPr sz="1200" b="0">
                <a:solidFill>
                  <a:srgbClr val="627D98"/>
                </a:solidFill>
                <a:latin typeface="Calibri"/>
              </a:rPr>
              <a:t>Fuente: Buenas prácticas de organización</a:t>
            </a:r>
          </a:p>
        </p:txBody>
      </p:sp>
      <p:sp>
        <p:nvSpPr>
          <p:cNvPr id="7" name="TextBox 6"/>
          <p:cNvSpPr txBox="1"/>
          <p:nvPr/>
        </p:nvSpPr>
        <p:spPr>
          <a:xfrm>
            <a:off x="10728655" y="6419088"/>
            <a:ext cx="1097280" cy="365760"/>
          </a:xfrm>
          <a:prstGeom prst="rect">
            <a:avLst/>
          </a:prstGeom>
          <a:noFill/>
        </p:spPr>
        <p:txBody>
          <a:bodyPr wrap="square" lIns="45720" rIns="45720">
            <a:spAutoFit/>
          </a:bodyPr>
          <a:lstStyle/>
          <a:p>
            <a:pPr algn="ctr">
              <a:spcAft>
                <a:spcPts val="540"/>
              </a:spcAft>
            </a:pPr>
            <a:r>
              <a:rPr sz="1200" b="0">
                <a:solidFill>
                  <a:srgbClr val="627D98"/>
                </a:solidFill>
                <a:latin typeface="Calibri"/>
              </a:rPr>
              <a:t>15</a:t>
            </a:r>
          </a:p>
        </p:txBody>
      </p:sp>
      <p:sp>
        <p:nvSpPr>
          <p:cNvPr id="8" name="Rectangle 7"/>
          <p:cNvSpPr/>
          <p:nvPr/>
        </p:nvSpPr>
        <p:spPr>
          <a:xfrm>
            <a:off x="457200" y="1783080"/>
            <a:ext cx="11277295" cy="4389120"/>
          </a:xfrm>
          <a:prstGeom prst="rect">
            <a:avLst/>
          </a:prstGeom>
          <a:solidFill>
            <a:srgbClr val="EEF7EE"/>
          </a:solidFill>
          <a:ln w="19050">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011680"/>
            <a:ext cx="10545775" cy="3931920"/>
          </a:xfrm>
          <a:prstGeom prst="rect">
            <a:avLst/>
          </a:prstGeom>
          <a:noFill/>
        </p:spPr>
        <p:txBody>
          <a:bodyPr wrap="square" lIns="45720" rIns="45720" anchor="ctr">
            <a:spAutoFit/>
          </a:bodyPr>
          <a:lstStyle/>
          <a:p>
            <a:pPr>
              <a:spcAft>
                <a:spcPts val="1350"/>
              </a:spcAft>
            </a:pPr>
            <a:r>
              <a:rPr sz="3000" b="0">
                <a:solidFill>
                  <a:srgbClr val="102A43"/>
                </a:solidFill>
                <a:latin typeface="Calibri"/>
              </a:rPr>
              <a:t>Se reorganiza sin perder la puntualidad: se usan los repuestos, se completa con piezas de otros juegos revisando cada tablero, y las mesas sin reloj juegan con un control anunciado por el árbitro o se ubican cerca de la mesa de control con un adjunto. Se registra la incidencia y, para el día presencial, la lista de materiales incluye repuestos.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728655" y="6419088"/>
            <a:ext cx="1097280" cy="365760"/>
          </a:xfrm>
          <a:prstGeom prst="rect">
            <a:avLst/>
          </a:prstGeom>
          <a:noFill/>
        </p:spPr>
        <p:txBody>
          <a:bodyPr wrap="square" lIns="45720" rIns="45720">
            <a:spAutoFit/>
          </a:bodyPr>
          <a:lstStyle/>
          <a:p>
            <a:pPr algn="ctr">
              <a:spcAft>
                <a:spcPts val="540"/>
              </a:spcAft>
            </a:pPr>
            <a:r>
              <a:rPr sz="1200" b="0">
                <a:solidFill>
                  <a:srgbClr val="9FB3C8"/>
                </a:solidFill>
                <a:latin typeface="Calibri"/>
              </a:rPr>
              <a:t>16</a:t>
            </a:r>
          </a:p>
        </p:txBody>
      </p:sp>
      <p:sp>
        <p:nvSpPr>
          <p:cNvPr id="4" name="TextBox 3"/>
          <p:cNvSpPr txBox="1"/>
          <p:nvPr/>
        </p:nvSpPr>
        <p:spPr>
          <a:xfrm>
            <a:off x="457200" y="2103120"/>
            <a:ext cx="11277295" cy="1280160"/>
          </a:xfrm>
          <a:prstGeom prst="rect">
            <a:avLst/>
          </a:prstGeom>
          <a:noFill/>
        </p:spPr>
        <p:txBody>
          <a:bodyPr wrap="square" lIns="45720" rIns="45720">
            <a:spAutoFit/>
          </a:bodyPr>
          <a:lstStyle/>
          <a:p>
            <a:pPr algn="ctr">
              <a:spcAft>
                <a:spcPts val="3240"/>
              </a:spcAft>
            </a:pPr>
            <a:r>
              <a:rPr sz="7200" b="1">
                <a:solidFill>
                  <a:srgbClr val="FFFFFF"/>
                </a:solidFill>
                <a:latin typeface="Calibri"/>
              </a:rPr>
              <a:t>Receso</a:t>
            </a:r>
          </a:p>
        </p:txBody>
      </p:sp>
      <p:sp>
        <p:nvSpPr>
          <p:cNvPr id="5" name="TextBox 4"/>
          <p:cNvSpPr txBox="1"/>
          <p:nvPr/>
        </p:nvSpPr>
        <p:spPr>
          <a:xfrm>
            <a:off x="457200" y="3566160"/>
            <a:ext cx="11277295" cy="1097280"/>
          </a:xfrm>
          <a:prstGeom prst="rect">
            <a:avLst/>
          </a:prstGeom>
          <a:noFill/>
        </p:spPr>
        <p:txBody>
          <a:bodyPr wrap="square" lIns="45720" rIns="45720">
            <a:spAutoFit/>
          </a:bodyPr>
          <a:lstStyle/>
          <a:p>
            <a:pPr algn="ctr">
              <a:spcAft>
                <a:spcPts val="1260"/>
              </a:spcAft>
            </a:pPr>
            <a:r>
              <a:rPr sz="2800" b="0">
                <a:solidFill>
                  <a:srgbClr val="CADCFC"/>
                </a:solidFill>
                <a:latin typeface="Calibri"/>
              </a:rPr>
              <a:t>15 minutos</a:t>
            </a:r>
          </a:p>
          <a:p>
            <a:pPr algn="ctr">
              <a:spcAft>
                <a:spcPts val="1260"/>
              </a:spcAft>
            </a:pPr>
            <a:r>
              <a:rPr sz="2800" b="0">
                <a:solidFill>
                  <a:srgbClr val="CADCFC"/>
                </a:solidFill>
                <a:latin typeface="Calibri"/>
              </a:rPr>
              <a:t>Pausa los relojes: seguimos en breve.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3172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277295" cy="777240"/>
          </a:xfrm>
          <a:prstGeom prst="rect">
            <a:avLst/>
          </a:prstGeom>
          <a:noFill/>
        </p:spPr>
        <p:txBody>
          <a:bodyPr wrap="square" lIns="45720" rIns="45720" anchor="ctr">
            <a:spAutoFit/>
          </a:bodyPr>
          <a:lstStyle/>
          <a:p>
            <a:pPr algn="ctr">
              <a:spcAft>
                <a:spcPts val="1530"/>
              </a:spcAft>
            </a:pPr>
            <a:r>
              <a:rPr sz="3400" b="1">
                <a:solidFill>
                  <a:srgbClr val="FFFFFF"/>
                </a:solidFill>
                <a:latin typeface="Calibri"/>
              </a:rPr>
              <a:t>Práctica · Resolución grupal de casos integradores</a:t>
            </a:r>
          </a:p>
        </p:txBody>
      </p:sp>
      <p:sp>
        <p:nvSpPr>
          <p:cNvPr id="4" name="TextBox 3"/>
          <p:cNvSpPr txBox="1"/>
          <p:nvPr/>
        </p:nvSpPr>
        <p:spPr>
          <a:xfrm>
            <a:off x="10728655" y="6419088"/>
            <a:ext cx="1097280" cy="365760"/>
          </a:xfrm>
          <a:prstGeom prst="rect">
            <a:avLst/>
          </a:prstGeom>
          <a:noFill/>
        </p:spPr>
        <p:txBody>
          <a:bodyPr wrap="square" lIns="45720" rIns="45720">
            <a:spAutoFit/>
          </a:bodyPr>
          <a:lstStyle/>
          <a:p>
            <a:pPr algn="ctr">
              <a:spcAft>
                <a:spcPts val="540"/>
              </a:spcAft>
            </a:pPr>
            <a:r>
              <a:rPr sz="1200" b="0">
                <a:solidFill>
                  <a:srgbClr val="627D98"/>
                </a:solidFill>
                <a:latin typeface="Calibri"/>
              </a:rPr>
              <a:t>17</a:t>
            </a:r>
          </a:p>
        </p:txBody>
      </p:sp>
      <p:sp>
        <p:nvSpPr>
          <p:cNvPr id="5" name="Rectangle 4"/>
          <p:cNvSpPr/>
          <p:nvPr/>
        </p:nvSpPr>
        <p:spPr>
          <a:xfrm>
            <a:off x="457200" y="1280160"/>
            <a:ext cx="11277295" cy="489204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463040"/>
            <a:ext cx="10545775" cy="4480560"/>
          </a:xfrm>
          <a:prstGeom prst="rect">
            <a:avLst/>
          </a:prstGeom>
          <a:noFill/>
        </p:spPr>
        <p:txBody>
          <a:bodyPr wrap="square" lIns="45720" rIns="45720" anchor="ctr">
            <a:spAutoFit/>
          </a:bodyPr>
          <a:lstStyle/>
          <a:p>
            <a:pPr>
              <a:spcAft>
                <a:spcPts val="1440"/>
              </a:spcAft>
            </a:pPr>
            <a:r>
              <a:rPr sz="3200" b="0">
                <a:solidFill>
                  <a:srgbClr val="102A43"/>
                </a:solidFill>
                <a:latin typeface="Calibri"/>
              </a:rPr>
              <a:t>En grupos, se analiza un caso integrador que combina reglas de competición, desempates y logística, y se presenta la solución fundamentada.</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3172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277295" cy="777240"/>
          </a:xfrm>
          <a:prstGeom prst="rect">
            <a:avLst/>
          </a:prstGeom>
          <a:noFill/>
        </p:spPr>
        <p:txBody>
          <a:bodyPr wrap="square" lIns="45720" rIns="45720" anchor="ctr">
            <a:spAutoFit/>
          </a:bodyPr>
          <a:lstStyle/>
          <a:p>
            <a:pPr algn="ctr">
              <a:spcAft>
                <a:spcPts val="1530"/>
              </a:spcAft>
            </a:pPr>
            <a:r>
              <a:rPr sz="3400" b="1">
                <a:solidFill>
                  <a:srgbClr val="FFFFFF"/>
                </a:solidFill>
                <a:latin typeface="Calibri"/>
              </a:rPr>
              <a:t>Ejercicio 1 de 3</a:t>
            </a:r>
          </a:p>
        </p:txBody>
      </p:sp>
      <p:sp>
        <p:nvSpPr>
          <p:cNvPr id="4" name="TextBox 3"/>
          <p:cNvSpPr txBox="1"/>
          <p:nvPr/>
        </p:nvSpPr>
        <p:spPr>
          <a:xfrm>
            <a:off x="10728655" y="6419088"/>
            <a:ext cx="1097280" cy="365760"/>
          </a:xfrm>
          <a:prstGeom prst="rect">
            <a:avLst/>
          </a:prstGeom>
          <a:noFill/>
        </p:spPr>
        <p:txBody>
          <a:bodyPr wrap="square" lIns="45720" rIns="45720">
            <a:spAutoFit/>
          </a:bodyPr>
          <a:lstStyle/>
          <a:p>
            <a:pPr algn="ctr">
              <a:spcAft>
                <a:spcPts val="540"/>
              </a:spcAft>
            </a:pPr>
            <a:r>
              <a:rPr sz="1200" b="0">
                <a:solidFill>
                  <a:srgbClr val="627D98"/>
                </a:solidFill>
                <a:latin typeface="Calibri"/>
              </a:rPr>
              <a:t>18</a:t>
            </a:r>
          </a:p>
        </p:txBody>
      </p:sp>
      <p:sp>
        <p:nvSpPr>
          <p:cNvPr id="5" name="Rectangle 4"/>
          <p:cNvSpPr/>
          <p:nvPr/>
        </p:nvSpPr>
        <p:spPr>
          <a:xfrm>
            <a:off x="457200" y="1280160"/>
            <a:ext cx="11277295" cy="489204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463040"/>
            <a:ext cx="10545775" cy="4480560"/>
          </a:xfrm>
          <a:prstGeom prst="rect">
            <a:avLst/>
          </a:prstGeom>
          <a:noFill/>
        </p:spPr>
        <p:txBody>
          <a:bodyPr wrap="square" lIns="45720" rIns="45720" anchor="ctr">
            <a:spAutoFit/>
          </a:bodyPr>
          <a:lstStyle/>
          <a:p>
            <a:pPr>
              <a:spcAft>
                <a:spcPts val="1440"/>
              </a:spcAft>
            </a:pPr>
            <a:r>
              <a:rPr sz="3200" b="0">
                <a:solidFill>
                  <a:srgbClr val="102A43"/>
                </a:solidFill>
                <a:latin typeface="Calibri"/>
              </a:rPr>
              <a:t>Aplica los cuatro pasos del método al caso «suena un celular» de la sesión 2 y redacta el registro para el acta.</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3172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277295" cy="777240"/>
          </a:xfrm>
          <a:prstGeom prst="rect">
            <a:avLst/>
          </a:prstGeom>
          <a:noFill/>
        </p:spPr>
        <p:txBody>
          <a:bodyPr wrap="square" lIns="45720" rIns="45720" anchor="ctr">
            <a:spAutoFit/>
          </a:bodyPr>
          <a:lstStyle/>
          <a:p>
            <a:pPr algn="ctr">
              <a:spcAft>
                <a:spcPts val="1530"/>
              </a:spcAft>
            </a:pPr>
            <a:r>
              <a:rPr sz="3400" b="1">
                <a:solidFill>
                  <a:srgbClr val="FFFFFF"/>
                </a:solidFill>
                <a:latin typeface="Calibri"/>
              </a:rPr>
              <a:t>Ejercicio 2 de 3</a:t>
            </a:r>
          </a:p>
        </p:txBody>
      </p:sp>
      <p:sp>
        <p:nvSpPr>
          <p:cNvPr id="4" name="TextBox 3"/>
          <p:cNvSpPr txBox="1"/>
          <p:nvPr/>
        </p:nvSpPr>
        <p:spPr>
          <a:xfrm>
            <a:off x="10728655" y="6419088"/>
            <a:ext cx="1097280" cy="365760"/>
          </a:xfrm>
          <a:prstGeom prst="rect">
            <a:avLst/>
          </a:prstGeom>
          <a:noFill/>
        </p:spPr>
        <p:txBody>
          <a:bodyPr wrap="square" lIns="45720" rIns="45720">
            <a:spAutoFit/>
          </a:bodyPr>
          <a:lstStyle/>
          <a:p>
            <a:pPr algn="ctr">
              <a:spcAft>
                <a:spcPts val="540"/>
              </a:spcAft>
            </a:pPr>
            <a:r>
              <a:rPr sz="1200" b="0">
                <a:solidFill>
                  <a:srgbClr val="627D98"/>
                </a:solidFill>
                <a:latin typeface="Calibri"/>
              </a:rPr>
              <a:t>19</a:t>
            </a:r>
          </a:p>
        </p:txBody>
      </p:sp>
      <p:sp>
        <p:nvSpPr>
          <p:cNvPr id="5" name="Rectangle 4"/>
          <p:cNvSpPr/>
          <p:nvPr/>
        </p:nvSpPr>
        <p:spPr>
          <a:xfrm>
            <a:off x="457200" y="1280160"/>
            <a:ext cx="11277295" cy="489204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463040"/>
            <a:ext cx="10545775" cy="4480560"/>
          </a:xfrm>
          <a:prstGeom prst="rect">
            <a:avLst/>
          </a:prstGeom>
          <a:noFill/>
        </p:spPr>
        <p:txBody>
          <a:bodyPr wrap="square" lIns="45720" rIns="45720" anchor="ctr">
            <a:spAutoFit/>
          </a:bodyPr>
          <a:lstStyle/>
          <a:p>
            <a:pPr>
              <a:spcAft>
                <a:spcPts val="1440"/>
              </a:spcAft>
            </a:pPr>
            <a:r>
              <a:rPr sz="3200" b="0">
                <a:solidFill>
                  <a:srgbClr val="102A43"/>
                </a:solidFill>
                <a:latin typeface="Calibri"/>
              </a:rPr>
              <a:t>Escribe la lista de materiales para un torneo de 40 estudiantes (20 mesas).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3172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277295" cy="777240"/>
          </a:xfrm>
          <a:prstGeom prst="rect">
            <a:avLst/>
          </a:prstGeom>
          <a:noFill/>
        </p:spPr>
        <p:txBody>
          <a:bodyPr wrap="square" lIns="45720" rIns="45720" anchor="ctr">
            <a:spAutoFit/>
          </a:bodyPr>
          <a:lstStyle/>
          <a:p>
            <a:pPr algn="ctr">
              <a:spcAft>
                <a:spcPts val="1530"/>
              </a:spcAft>
            </a:pPr>
            <a:r>
              <a:rPr sz="3400" b="1">
                <a:solidFill>
                  <a:srgbClr val="FFFFFF"/>
                </a:solidFill>
                <a:latin typeface="Calibri"/>
              </a:rPr>
              <a:t>Ejercicio 3 de 3</a:t>
            </a:r>
          </a:p>
        </p:txBody>
      </p:sp>
      <p:sp>
        <p:nvSpPr>
          <p:cNvPr id="4" name="TextBox 3"/>
          <p:cNvSpPr txBox="1"/>
          <p:nvPr/>
        </p:nvSpPr>
        <p:spPr>
          <a:xfrm>
            <a:off x="10728655" y="6419088"/>
            <a:ext cx="1097280" cy="365760"/>
          </a:xfrm>
          <a:prstGeom prst="rect">
            <a:avLst/>
          </a:prstGeom>
          <a:noFill/>
        </p:spPr>
        <p:txBody>
          <a:bodyPr wrap="square" lIns="45720" rIns="45720">
            <a:spAutoFit/>
          </a:bodyPr>
          <a:lstStyle/>
          <a:p>
            <a:pPr algn="ctr">
              <a:spcAft>
                <a:spcPts val="540"/>
              </a:spcAft>
            </a:pPr>
            <a:r>
              <a:rPr sz="1200" b="0">
                <a:solidFill>
                  <a:srgbClr val="627D98"/>
                </a:solidFill>
                <a:latin typeface="Calibri"/>
              </a:rPr>
              <a:t>20</a:t>
            </a:r>
          </a:p>
        </p:txBody>
      </p:sp>
      <p:sp>
        <p:nvSpPr>
          <p:cNvPr id="5" name="Rectangle 4"/>
          <p:cNvSpPr/>
          <p:nvPr/>
        </p:nvSpPr>
        <p:spPr>
          <a:xfrm>
            <a:off x="457200" y="1280160"/>
            <a:ext cx="11277295" cy="489204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463040"/>
            <a:ext cx="10545775" cy="4480560"/>
          </a:xfrm>
          <a:prstGeom prst="rect">
            <a:avLst/>
          </a:prstGeom>
          <a:noFill/>
        </p:spPr>
        <p:txBody>
          <a:bodyPr wrap="square" lIns="45720" rIns="45720" anchor="ctr">
            <a:spAutoFit/>
          </a:bodyPr>
          <a:lstStyle/>
          <a:p>
            <a:pPr>
              <a:spcAft>
                <a:spcPts val="1440"/>
              </a:spcAft>
            </a:pPr>
            <a:r>
              <a:rPr sz="3200" b="0">
                <a:solidFill>
                  <a:srgbClr val="102A43"/>
                </a:solidFill>
                <a:latin typeface="Calibri"/>
              </a:rPr>
              <a:t>Un familiar le señala a su hija una jugada desde el público. ¿Qué haces?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3172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277295" cy="777240"/>
          </a:xfrm>
          <a:prstGeom prst="rect">
            <a:avLst/>
          </a:prstGeom>
          <a:noFill/>
        </p:spPr>
        <p:txBody>
          <a:bodyPr wrap="square" lIns="45720" rIns="45720" anchor="ctr">
            <a:spAutoFit/>
          </a:bodyPr>
          <a:lstStyle/>
          <a:p>
            <a:pPr algn="ctr">
              <a:spcAft>
                <a:spcPts val="1530"/>
              </a:spcAft>
            </a:pPr>
            <a:r>
              <a:rPr sz="3400" b="1">
                <a:solidFill>
                  <a:srgbClr val="FFFFFF"/>
                </a:solidFill>
                <a:latin typeface="Calibri"/>
              </a:rPr>
              <a:t>Ejercicios: respuestas</a:t>
            </a:r>
          </a:p>
        </p:txBody>
      </p:sp>
      <p:sp>
        <p:nvSpPr>
          <p:cNvPr id="4" name="TextBox 3"/>
          <p:cNvSpPr txBox="1"/>
          <p:nvPr/>
        </p:nvSpPr>
        <p:spPr>
          <a:xfrm>
            <a:off x="10728655" y="6419088"/>
            <a:ext cx="1097280" cy="365760"/>
          </a:xfrm>
          <a:prstGeom prst="rect">
            <a:avLst/>
          </a:prstGeom>
          <a:noFill/>
        </p:spPr>
        <p:txBody>
          <a:bodyPr wrap="square" lIns="45720" rIns="45720">
            <a:spAutoFit/>
          </a:bodyPr>
          <a:lstStyle/>
          <a:p>
            <a:pPr algn="ctr">
              <a:spcAft>
                <a:spcPts val="540"/>
              </a:spcAft>
            </a:pPr>
            <a:r>
              <a:rPr sz="1200" b="0">
                <a:solidFill>
                  <a:srgbClr val="627D98"/>
                </a:solidFill>
                <a:latin typeface="Calibri"/>
              </a:rPr>
              <a:t>21</a:t>
            </a:r>
          </a:p>
        </p:txBody>
      </p:sp>
      <p:sp>
        <p:nvSpPr>
          <p:cNvPr id="5" name="Rectangle 4"/>
          <p:cNvSpPr/>
          <p:nvPr/>
        </p:nvSpPr>
        <p:spPr>
          <a:xfrm>
            <a:off x="457200" y="1280160"/>
            <a:ext cx="11277295" cy="489204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417319"/>
            <a:ext cx="10637215" cy="4617720"/>
          </a:xfrm>
          <a:prstGeom prst="rect">
            <a:avLst/>
          </a:prstGeom>
          <a:noFill/>
        </p:spPr>
        <p:txBody>
          <a:bodyPr wrap="square" lIns="45720" rIns="45720">
            <a:spAutoFit/>
          </a:bodyPr>
          <a:lstStyle/>
          <a:p>
            <a:pPr>
              <a:spcAft>
                <a:spcPts val="1035"/>
              </a:spcAft>
            </a:pPr>
            <a:r>
              <a:rPr sz="2300" b="0">
                <a:solidFill>
                  <a:srgbClr val="102A43"/>
                </a:solidFill>
                <a:latin typeface="Calibri"/>
              </a:rPr>
              <a:t>•  1. Hechos: suena el celular del jugador X en la mesa N, ronda R, a tal hora. Artículo: 11.3.2 y el reglamento del torneo. Decisión: pérdida de la partida (o la sanción menor que prevea el reglamento), comunicada a las dos partes. Registro: «Ronda R, mesa N: suena el celular del jugador X durante la partida; se aplica el art. 11.3.2 y se declara la partida perdida. Firma del árbitro».</a:t>
            </a:r>
          </a:p>
          <a:p>
            <a:pPr>
              <a:spcAft>
                <a:spcPts val="1035"/>
              </a:spcAft>
            </a:pPr>
            <a:r>
              <a:rPr sz="2300" b="0">
                <a:solidFill>
                  <a:srgbClr val="102A43"/>
                </a:solidFill>
                <a:latin typeface="Calibri"/>
              </a:rPr>
              <a:t>•  2. 20 tableros y 20 juegos de piezas completos, más 2 o 3 de repuesto; 20 relojes configurados, más 2 o 3 de repuesto; planillas para cada ronda; actas de resultados; formularios de inscripción; lista de cotejo; numeración de mesas; hojas de emparejamiento y tabla para publicar.</a:t>
            </a:r>
          </a:p>
          <a:p>
            <a:pPr>
              <a:spcAft>
                <a:spcPts val="1035"/>
              </a:spcAft>
            </a:pPr>
            <a:r>
              <a:rPr sz="2300" b="0">
                <a:solidFill>
                  <a:srgbClr val="102A43"/>
                </a:solidFill>
                <a:latin typeface="Calibri"/>
              </a:rPr>
              <a:t>•  3. Nadie puede comentar ni interferir en una partida en curso. Se retira al familiar de la zona de juego y se evalúa si hubo ayuda: si la hubo, se sanciona a la jugadora según el art. 12.9. Se registra la incidencia (art. 11.3.1 y 12.7).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3172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277295" cy="777240"/>
          </a:xfrm>
          <a:prstGeom prst="rect">
            <a:avLst/>
          </a:prstGeom>
          <a:noFill/>
        </p:spPr>
        <p:txBody>
          <a:bodyPr wrap="square" lIns="45720" rIns="45720" anchor="ctr">
            <a:spAutoFit/>
          </a:bodyPr>
          <a:lstStyle/>
          <a:p>
            <a:pPr algn="ctr">
              <a:spcAft>
                <a:spcPts val="1530"/>
              </a:spcAft>
            </a:pPr>
            <a:r>
              <a:rPr sz="3400" b="1">
                <a:solidFill>
                  <a:srgbClr val="FFFFFF"/>
                </a:solidFill>
                <a:latin typeface="Calibri"/>
              </a:rPr>
              <a:t>Quiz de la sesión</a:t>
            </a:r>
          </a:p>
        </p:txBody>
      </p:sp>
      <p:sp>
        <p:nvSpPr>
          <p:cNvPr id="4" name="Rectangle 3"/>
          <p:cNvSpPr/>
          <p:nvPr/>
        </p:nvSpPr>
        <p:spPr>
          <a:xfrm>
            <a:off x="0" y="960120"/>
            <a:ext cx="12191695" cy="548640"/>
          </a:xfrm>
          <a:prstGeom prst="rect">
            <a:avLst/>
          </a:prstGeom>
          <a:solidFill>
            <a:srgbClr val="4E6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87552"/>
            <a:ext cx="11277295" cy="502920"/>
          </a:xfrm>
          <a:prstGeom prst="rect">
            <a:avLst/>
          </a:prstGeom>
          <a:noFill/>
        </p:spPr>
        <p:txBody>
          <a:bodyPr wrap="square" lIns="45720" rIns="45720" anchor="ctr">
            <a:spAutoFit/>
          </a:bodyPr>
          <a:lstStyle/>
          <a:p>
            <a:pPr algn="ctr">
              <a:spcAft>
                <a:spcPts val="945"/>
              </a:spcAft>
            </a:pPr>
            <a:r>
              <a:rPr sz="2100" b="0">
                <a:solidFill>
                  <a:srgbClr val="FFFFFF"/>
                </a:solidFill>
                <a:latin typeface="Calibri"/>
              </a:rPr>
              <a:t>Responde de forma individual</a:t>
            </a:r>
          </a:p>
        </p:txBody>
      </p:sp>
      <p:sp>
        <p:nvSpPr>
          <p:cNvPr id="6" name="TextBox 5"/>
          <p:cNvSpPr txBox="1"/>
          <p:nvPr/>
        </p:nvSpPr>
        <p:spPr>
          <a:xfrm>
            <a:off x="10728655" y="6419088"/>
            <a:ext cx="1097280" cy="365760"/>
          </a:xfrm>
          <a:prstGeom prst="rect">
            <a:avLst/>
          </a:prstGeom>
          <a:noFill/>
        </p:spPr>
        <p:txBody>
          <a:bodyPr wrap="square" lIns="45720" rIns="45720">
            <a:spAutoFit/>
          </a:bodyPr>
          <a:lstStyle/>
          <a:p>
            <a:pPr algn="ctr">
              <a:spcAft>
                <a:spcPts val="540"/>
              </a:spcAft>
            </a:pPr>
            <a:r>
              <a:rPr sz="1200" b="0">
                <a:solidFill>
                  <a:srgbClr val="627D98"/>
                </a:solidFill>
                <a:latin typeface="Calibri"/>
              </a:rPr>
              <a:t>22</a:t>
            </a:r>
          </a:p>
        </p:txBody>
      </p:sp>
      <p:sp>
        <p:nvSpPr>
          <p:cNvPr id="7" name="Rectangle 6"/>
          <p:cNvSpPr/>
          <p:nvPr/>
        </p:nvSpPr>
        <p:spPr>
          <a:xfrm>
            <a:off x="457200" y="1783080"/>
            <a:ext cx="11277295" cy="438912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920240"/>
            <a:ext cx="10637215" cy="4114800"/>
          </a:xfrm>
          <a:prstGeom prst="rect">
            <a:avLst/>
          </a:prstGeom>
          <a:noFill/>
        </p:spPr>
        <p:txBody>
          <a:bodyPr wrap="square" lIns="45720" rIns="45720">
            <a:spAutoFit/>
          </a:bodyPr>
          <a:lstStyle/>
          <a:p>
            <a:pPr>
              <a:spcAft>
                <a:spcPts val="990"/>
              </a:spcAft>
            </a:pPr>
            <a:r>
              <a:rPr sz="2200" b="0">
                <a:solidFill>
                  <a:srgbClr val="102A43"/>
                </a:solidFill>
                <a:latin typeface="Calibri"/>
              </a:rPr>
              <a:t>•  1. ¿Cuál de estos elementos NO forma parte de la logística previa a un torneo escolar?</a:t>
            </a:r>
          </a:p>
          <a:p>
            <a:pPr>
              <a:spcAft>
                <a:spcPts val="990"/>
              </a:spcAft>
            </a:pPr>
            <a:r>
              <a:rPr sz="2200" b="0">
                <a:solidFill>
                  <a:srgbClr val="102A43"/>
                </a:solidFill>
                <a:latin typeface="Calibri"/>
              </a:rPr>
              <a:t>•  2. Ante una situación arbitral no contemplada explícitamente en el reglamento, ¿qué debe primar?</a:t>
            </a:r>
          </a:p>
          <a:p>
            <a:pPr>
              <a:spcAft>
                <a:spcPts val="990"/>
              </a:spcAft>
            </a:pPr>
            <a:r>
              <a:rPr sz="2200" b="0">
                <a:solidFill>
                  <a:srgbClr val="102A43"/>
                </a:solidFill>
                <a:latin typeface="Calibri"/>
              </a:rPr>
              <a:t>•  3. ¿Cuáles son los cuatro pasos para resolver un caso arbitral?</a:t>
            </a:r>
          </a:p>
          <a:p>
            <a:pPr>
              <a:spcAft>
                <a:spcPts val="990"/>
              </a:spcAft>
            </a:pPr>
            <a:r>
              <a:rPr sz="2200" b="0">
                <a:solidFill>
                  <a:srgbClr val="102A43"/>
                </a:solidFill>
                <a:latin typeface="Calibri"/>
              </a:rPr>
              <a:t>•  4. ¿Qué se revisa antes de emparejar la ronda siguiente?</a:t>
            </a:r>
          </a:p>
          <a:p>
            <a:pPr>
              <a:spcAft>
                <a:spcPts val="990"/>
              </a:spcAft>
            </a:pPr>
            <a:r>
              <a:rPr sz="2200" b="0">
                <a:solidFill>
                  <a:srgbClr val="102A43"/>
                </a:solidFill>
                <a:latin typeface="Calibri"/>
              </a:rPr>
              <a:t>•  5. ¿Dónde se atienden las inquietudes del público durante una ronda?</a:t>
            </a:r>
          </a:p>
          <a:p>
            <a:pPr>
              <a:spcAft>
                <a:spcPts val="990"/>
              </a:spcAft>
            </a:pPr>
            <a:r>
              <a:rPr sz="2200" b="0">
                <a:solidFill>
                  <a:srgbClr val="102A43"/>
                </a:solidFill>
                <a:latin typeface="Calibri"/>
              </a:rPr>
              <a:t>•  6. Además del número de rondas, ¿qué más debe anunciarse en las bases de un torneo antes de empezar?</a:t>
            </a:r>
          </a:p>
          <a:p>
            <a:pPr>
              <a:spcAft>
                <a:spcPts val="990"/>
              </a:spcAft>
            </a:pPr>
            <a:r>
              <a:rPr sz="2200" b="0">
                <a:solidFill>
                  <a:srgbClr val="102A43"/>
                </a:solidFill>
                <a:latin typeface="Calibri"/>
              </a:rPr>
              <a:t>•  7. ¿Dónde y cómo debe el árbitro comunicar una decisión a los jugadores involucrados?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3172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277295" cy="777240"/>
          </a:xfrm>
          <a:prstGeom prst="rect">
            <a:avLst/>
          </a:prstGeom>
          <a:noFill/>
        </p:spPr>
        <p:txBody>
          <a:bodyPr wrap="square" lIns="45720" rIns="45720" anchor="ctr">
            <a:spAutoFit/>
          </a:bodyPr>
          <a:lstStyle/>
          <a:p>
            <a:pPr algn="ctr">
              <a:spcAft>
                <a:spcPts val="1530"/>
              </a:spcAft>
            </a:pPr>
            <a:r>
              <a:rPr sz="3400" b="1">
                <a:solidFill>
                  <a:srgbClr val="FFFFFF"/>
                </a:solidFill>
                <a:latin typeface="Calibri"/>
              </a:rPr>
              <a:t>Quiz de la sesión (continuación)</a:t>
            </a:r>
          </a:p>
        </p:txBody>
      </p:sp>
      <p:sp>
        <p:nvSpPr>
          <p:cNvPr id="4" name="Rectangle 3"/>
          <p:cNvSpPr/>
          <p:nvPr/>
        </p:nvSpPr>
        <p:spPr>
          <a:xfrm>
            <a:off x="0" y="960120"/>
            <a:ext cx="12191695" cy="548640"/>
          </a:xfrm>
          <a:prstGeom prst="rect">
            <a:avLst/>
          </a:prstGeom>
          <a:solidFill>
            <a:srgbClr val="4E6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87552"/>
            <a:ext cx="11277295" cy="502920"/>
          </a:xfrm>
          <a:prstGeom prst="rect">
            <a:avLst/>
          </a:prstGeom>
          <a:noFill/>
        </p:spPr>
        <p:txBody>
          <a:bodyPr wrap="square" lIns="45720" rIns="45720" anchor="ctr">
            <a:spAutoFit/>
          </a:bodyPr>
          <a:lstStyle/>
          <a:p>
            <a:pPr algn="ctr">
              <a:spcAft>
                <a:spcPts val="945"/>
              </a:spcAft>
            </a:pPr>
            <a:r>
              <a:rPr sz="2100" b="0">
                <a:solidFill>
                  <a:srgbClr val="FFFFFF"/>
                </a:solidFill>
                <a:latin typeface="Calibri"/>
              </a:rPr>
              <a:t>Responde de forma individual</a:t>
            </a:r>
          </a:p>
        </p:txBody>
      </p:sp>
      <p:sp>
        <p:nvSpPr>
          <p:cNvPr id="6" name="TextBox 5"/>
          <p:cNvSpPr txBox="1"/>
          <p:nvPr/>
        </p:nvSpPr>
        <p:spPr>
          <a:xfrm>
            <a:off x="10728655" y="6419088"/>
            <a:ext cx="1097280" cy="365760"/>
          </a:xfrm>
          <a:prstGeom prst="rect">
            <a:avLst/>
          </a:prstGeom>
          <a:noFill/>
        </p:spPr>
        <p:txBody>
          <a:bodyPr wrap="square" lIns="45720" rIns="45720">
            <a:spAutoFit/>
          </a:bodyPr>
          <a:lstStyle/>
          <a:p>
            <a:pPr algn="ctr">
              <a:spcAft>
                <a:spcPts val="540"/>
              </a:spcAft>
            </a:pPr>
            <a:r>
              <a:rPr sz="1200" b="0">
                <a:solidFill>
                  <a:srgbClr val="627D98"/>
                </a:solidFill>
                <a:latin typeface="Calibri"/>
              </a:rPr>
              <a:t>23</a:t>
            </a:r>
          </a:p>
        </p:txBody>
      </p:sp>
      <p:sp>
        <p:nvSpPr>
          <p:cNvPr id="7" name="Rectangle 6"/>
          <p:cNvSpPr/>
          <p:nvPr/>
        </p:nvSpPr>
        <p:spPr>
          <a:xfrm>
            <a:off x="457200" y="1783080"/>
            <a:ext cx="11277295" cy="438912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920240"/>
            <a:ext cx="10637215" cy="4114800"/>
          </a:xfrm>
          <a:prstGeom prst="rect">
            <a:avLst/>
          </a:prstGeom>
          <a:noFill/>
        </p:spPr>
        <p:txBody>
          <a:bodyPr wrap="square" lIns="45720" rIns="45720">
            <a:spAutoFit/>
          </a:bodyPr>
          <a:lstStyle/>
          <a:p>
            <a:pPr>
              <a:spcAft>
                <a:spcPts val="1350"/>
              </a:spcAft>
            </a:pPr>
            <a:r>
              <a:rPr sz="3000" b="0">
                <a:solidFill>
                  <a:srgbClr val="102A43"/>
                </a:solidFill>
                <a:latin typeface="Calibri"/>
              </a:rPr>
              <a:t>•  8. Si un jugador quiere apelar una decisión arbitral, ¿qué debe informarle el árbitro?</a:t>
            </a:r>
          </a:p>
          <a:p>
            <a:pPr>
              <a:spcAft>
                <a:spcPts val="1350"/>
              </a:spcAft>
            </a:pPr>
            <a:r>
              <a:rPr sz="3000" b="0">
                <a:solidFill>
                  <a:srgbClr val="102A43"/>
                </a:solidFill>
                <a:latin typeface="Calibri"/>
              </a:rPr>
              <a:t>•  9. ¿Qué se arma al cerrar un torneo, después de la última ronda?</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3172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277295" cy="777240"/>
          </a:xfrm>
          <a:prstGeom prst="rect">
            <a:avLst/>
          </a:prstGeom>
          <a:noFill/>
        </p:spPr>
        <p:txBody>
          <a:bodyPr wrap="square" lIns="45720" rIns="45720" anchor="ctr">
            <a:spAutoFit/>
          </a:bodyPr>
          <a:lstStyle/>
          <a:p>
            <a:pPr algn="ctr">
              <a:spcAft>
                <a:spcPts val="1530"/>
              </a:spcAft>
            </a:pPr>
            <a:r>
              <a:rPr sz="3400" b="1">
                <a:solidFill>
                  <a:srgbClr val="FFFFFF"/>
                </a:solidFill>
                <a:latin typeface="Calibri"/>
              </a:rPr>
              <a:t>Quiz: respuestas</a:t>
            </a:r>
          </a:p>
        </p:txBody>
      </p:sp>
      <p:sp>
        <p:nvSpPr>
          <p:cNvPr id="4" name="TextBox 3"/>
          <p:cNvSpPr txBox="1"/>
          <p:nvPr/>
        </p:nvSpPr>
        <p:spPr>
          <a:xfrm>
            <a:off x="10728655" y="6419088"/>
            <a:ext cx="1097280" cy="365760"/>
          </a:xfrm>
          <a:prstGeom prst="rect">
            <a:avLst/>
          </a:prstGeom>
          <a:noFill/>
        </p:spPr>
        <p:txBody>
          <a:bodyPr wrap="square" lIns="45720" rIns="45720">
            <a:spAutoFit/>
          </a:bodyPr>
          <a:lstStyle/>
          <a:p>
            <a:pPr algn="ctr">
              <a:spcAft>
                <a:spcPts val="540"/>
              </a:spcAft>
            </a:pPr>
            <a:r>
              <a:rPr sz="1200" b="0">
                <a:solidFill>
                  <a:srgbClr val="627D98"/>
                </a:solidFill>
                <a:latin typeface="Calibri"/>
              </a:rPr>
              <a:t>24</a:t>
            </a:r>
          </a:p>
        </p:txBody>
      </p:sp>
      <p:sp>
        <p:nvSpPr>
          <p:cNvPr id="5" name="Rectangle 4"/>
          <p:cNvSpPr/>
          <p:nvPr/>
        </p:nvSpPr>
        <p:spPr>
          <a:xfrm>
            <a:off x="457200" y="1280160"/>
            <a:ext cx="11277295" cy="489204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417319"/>
            <a:ext cx="10637215" cy="4617720"/>
          </a:xfrm>
          <a:prstGeom prst="rect">
            <a:avLst/>
          </a:prstGeom>
          <a:noFill/>
        </p:spPr>
        <p:txBody>
          <a:bodyPr wrap="square" lIns="45720" rIns="45720">
            <a:spAutoFit/>
          </a:bodyPr>
          <a:lstStyle/>
          <a:p>
            <a:pPr>
              <a:spcAft>
                <a:spcPts val="990"/>
              </a:spcAft>
            </a:pPr>
            <a:r>
              <a:rPr sz="2200" b="0">
                <a:solidFill>
                  <a:srgbClr val="102A43"/>
                </a:solidFill>
                <a:latin typeface="Calibri"/>
              </a:rPr>
              <a:t>•  1. El resultado final de las partidas.</a:t>
            </a:r>
          </a:p>
          <a:p>
            <a:pPr>
              <a:spcAft>
                <a:spcPts val="990"/>
              </a:spcAft>
            </a:pPr>
            <a:r>
              <a:rPr sz="2200" b="0">
                <a:solidFill>
                  <a:srgbClr val="102A43"/>
                </a:solidFill>
                <a:latin typeface="Calibri"/>
              </a:rPr>
              <a:t>•  2. Aplicar el criterio más cercano del reglamento con imparcialidad, y justificarlo.</a:t>
            </a:r>
          </a:p>
          <a:p>
            <a:pPr>
              <a:spcAft>
                <a:spcPts val="990"/>
              </a:spcAft>
            </a:pPr>
            <a:r>
              <a:rPr sz="2200" b="0">
                <a:solidFill>
                  <a:srgbClr val="102A43"/>
                </a:solidFill>
                <a:latin typeface="Calibri"/>
              </a:rPr>
              <a:t>•  3. Hechos, artículo, decisión y registro.</a:t>
            </a:r>
          </a:p>
          <a:p>
            <a:pPr>
              <a:spcAft>
                <a:spcPts val="990"/>
              </a:spcAft>
            </a:pPr>
            <a:r>
              <a:rPr sz="2200" b="0">
                <a:solidFill>
                  <a:srgbClr val="102A43"/>
                </a:solidFill>
                <a:latin typeface="Calibri"/>
              </a:rPr>
              <a:t>•  4. Que todos los resultados estén firmados, revisados e ingresados.</a:t>
            </a:r>
          </a:p>
          <a:p>
            <a:pPr>
              <a:spcAft>
                <a:spcPts val="990"/>
              </a:spcAft>
            </a:pPr>
            <a:r>
              <a:rPr sz="2200" b="0">
                <a:solidFill>
                  <a:srgbClr val="102A43"/>
                </a:solidFill>
                <a:latin typeface="Calibri"/>
              </a:rPr>
              <a:t>•  5. Fuera de la sala de juego: el público no interviene en las partidas.</a:t>
            </a:r>
          </a:p>
          <a:p>
            <a:pPr>
              <a:spcAft>
                <a:spcPts val="990"/>
              </a:spcAft>
            </a:pPr>
            <a:r>
              <a:rPr sz="2200" b="0">
                <a:solidFill>
                  <a:srgbClr val="102A43"/>
                </a:solidFill>
                <a:latin typeface="Calibri"/>
              </a:rPr>
              <a:t>•  6. El sistema de desempates y su orden.</a:t>
            </a:r>
          </a:p>
          <a:p>
            <a:pPr>
              <a:spcAft>
                <a:spcPts val="990"/>
              </a:spcAft>
            </a:pPr>
            <a:r>
              <a:rPr sz="2200" b="0">
                <a:solidFill>
                  <a:srgbClr val="102A43"/>
                </a:solidFill>
                <a:latin typeface="Calibri"/>
              </a:rPr>
              <a:t>•  7. Hablando con los dos jugadores, en voz baja y lejos de otras mesas.</a:t>
            </a:r>
          </a:p>
          <a:p>
            <a:pPr>
              <a:spcAft>
                <a:spcPts val="990"/>
              </a:spcAft>
            </a:pPr>
            <a:r>
              <a:rPr sz="2200" b="0">
                <a:solidFill>
                  <a:srgbClr val="102A43"/>
                </a:solidFill>
                <a:latin typeface="Calibri"/>
              </a:rPr>
              <a:t>•  8. Ante quién se presenta la apelación y en qué plazo, según el reglamento del torneo.</a:t>
            </a:r>
          </a:p>
          <a:p>
            <a:pPr>
              <a:spcAft>
                <a:spcPts val="990"/>
              </a:spcAft>
            </a:pPr>
            <a:r>
              <a:rPr sz="2200" b="0">
                <a:solidFill>
                  <a:srgbClr val="102A43"/>
                </a:solidFill>
                <a:latin typeface="Calibri"/>
              </a:rPr>
              <a:t>•  9. La tabla con los desempates, el acta del torneo, el informe de incidencias y la premiación.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728655" y="6419088"/>
            <a:ext cx="1097280" cy="365760"/>
          </a:xfrm>
          <a:prstGeom prst="rect">
            <a:avLst/>
          </a:prstGeom>
          <a:noFill/>
        </p:spPr>
        <p:txBody>
          <a:bodyPr wrap="square" lIns="45720" rIns="45720">
            <a:spAutoFit/>
          </a:bodyPr>
          <a:lstStyle/>
          <a:p>
            <a:pPr algn="ctr">
              <a:spcAft>
                <a:spcPts val="540"/>
              </a:spcAft>
            </a:pPr>
            <a:r>
              <a:rPr sz="1200" b="0">
                <a:solidFill>
                  <a:srgbClr val="9FB3C8"/>
                </a:solidFill>
                <a:latin typeface="Calibri"/>
              </a:rPr>
              <a:t>25</a:t>
            </a:r>
          </a:p>
        </p:txBody>
      </p:sp>
      <p:sp>
        <p:nvSpPr>
          <p:cNvPr id="4" name="TextBox 3"/>
          <p:cNvSpPr txBox="1"/>
          <p:nvPr/>
        </p:nvSpPr>
        <p:spPr>
          <a:xfrm>
            <a:off x="731520" y="640080"/>
            <a:ext cx="10728655" cy="548640"/>
          </a:xfrm>
          <a:prstGeom prst="rect">
            <a:avLst/>
          </a:prstGeom>
          <a:noFill/>
        </p:spPr>
        <p:txBody>
          <a:bodyPr wrap="square" lIns="45720" rIns="45720">
            <a:spAutoFit/>
          </a:bodyPr>
          <a:lstStyle/>
          <a:p>
            <a:pPr>
              <a:spcAft>
                <a:spcPts val="900"/>
              </a:spcAft>
            </a:pPr>
            <a:r>
              <a:rPr sz="2000" b="1">
                <a:solidFill>
                  <a:srgbClr val="F4C430"/>
                </a:solidFill>
                <a:latin typeface="Calibri"/>
              </a:rPr>
              <a:t>TAREA PARA LA PRÓXIMA SESIÓN</a:t>
            </a:r>
          </a:p>
        </p:txBody>
      </p:sp>
      <p:sp>
        <p:nvSpPr>
          <p:cNvPr id="5" name="TextBox 4"/>
          <p:cNvSpPr txBox="1"/>
          <p:nvPr/>
        </p:nvSpPr>
        <p:spPr>
          <a:xfrm>
            <a:off x="731520" y="1371600"/>
            <a:ext cx="10728655" cy="3108960"/>
          </a:xfrm>
          <a:prstGeom prst="rect">
            <a:avLst/>
          </a:prstGeom>
          <a:noFill/>
        </p:spPr>
        <p:txBody>
          <a:bodyPr wrap="square" lIns="45720" rIns="45720">
            <a:spAutoFit/>
          </a:bodyPr>
          <a:lstStyle/>
          <a:p>
            <a:pPr>
              <a:spcAft>
                <a:spcPts val="1440"/>
              </a:spcAft>
            </a:pPr>
            <a:r>
              <a:rPr sz="3200" b="0">
                <a:solidFill>
                  <a:srgbClr val="FFFFFF"/>
                </a:solidFill>
                <a:latin typeface="Calibri"/>
              </a:rPr>
              <a:t>Elaborar una propuesta logística breve (inscripción, espacios, materiales, personal de apoyo) para un torneo estudiantil de su región.</a:t>
            </a:r>
          </a:p>
        </p:txBody>
      </p:sp>
      <p:sp>
        <p:nvSpPr>
          <p:cNvPr id="6" name="TextBox 5"/>
          <p:cNvSpPr txBox="1"/>
          <p:nvPr/>
        </p:nvSpPr>
        <p:spPr>
          <a:xfrm>
            <a:off x="731520" y="4846320"/>
            <a:ext cx="10728655" cy="731520"/>
          </a:xfrm>
          <a:prstGeom prst="rect">
            <a:avLst/>
          </a:prstGeom>
          <a:noFill/>
        </p:spPr>
        <p:txBody>
          <a:bodyPr wrap="square" lIns="45720" rIns="45720">
            <a:spAutoFit/>
          </a:bodyPr>
          <a:lstStyle/>
          <a:p>
            <a:pPr>
              <a:spcAft>
                <a:spcPts val="1080"/>
              </a:spcAft>
            </a:pPr>
            <a:r>
              <a:rPr sz="2400" b="0">
                <a:solidFill>
                  <a:srgbClr val="CADCFC"/>
                </a:solidFill>
                <a:latin typeface="Calibri"/>
              </a:rPr>
              <a:t>¿Dudas? Este es el momento. Gracias por tu participación.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