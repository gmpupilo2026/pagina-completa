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92640" y="-1463040"/>
            <a:ext cx="4572000" cy="457200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937760"/>
            <a:ext cx="3840480" cy="384048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594360"/>
            <a:ext cx="1005840" cy="100584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94360"/>
            <a:ext cx="1005840" cy="1005840"/>
          </a:xfrm>
          <a:prstGeom prst="rect">
            <a:avLst/>
          </a:prstGeom>
          <a:noFill/>
        </p:spPr>
        <p:txBody>
          <a:bodyPr wrap="square">
            <a:spAutoFit/>
          </a:bodyPr>
          <a:lstStyle/>
          <a:p>
            <a:pPr algn="ctr"/>
            <a:r>
              <a:rPr sz="3200" b="1">
                <a:solidFill>
                  <a:srgbClr val="0A1F33"/>
                </a:solidFill>
                <a:latin typeface="Calibri"/>
              </a:rPr>
              <a:t>27</a:t>
            </a:r>
          </a:p>
        </p:txBody>
      </p:sp>
      <p:sp>
        <p:nvSpPr>
          <p:cNvPr id="7" name="TextBox 6"/>
          <p:cNvSpPr txBox="1"/>
          <p:nvPr/>
        </p:nvSpPr>
        <p:spPr>
          <a:xfrm>
            <a:off x="1920240" y="685800"/>
            <a:ext cx="9509760" cy="457200"/>
          </a:xfrm>
          <a:prstGeom prst="rect">
            <a:avLst/>
          </a:prstGeom>
          <a:noFill/>
        </p:spPr>
        <p:txBody>
          <a:bodyPr wrap="square">
            <a:spAutoFit/>
          </a:bodyPr>
          <a:lstStyle/>
          <a:p>
            <a:r>
              <a:rPr sz="1300" b="1">
                <a:solidFill>
                  <a:srgbClr val="F0B429"/>
                </a:solidFill>
                <a:latin typeface="Calibri"/>
              </a:rPr>
              <a:t>AJEDREZ INTEGRAL  ·  ROMPE EL ESTANCAMIENTO</a:t>
            </a:r>
          </a:p>
        </p:txBody>
      </p:sp>
      <p:sp>
        <p:nvSpPr>
          <p:cNvPr id="8" name="TextBox 7"/>
          <p:cNvSpPr txBox="1"/>
          <p:nvPr/>
        </p:nvSpPr>
        <p:spPr>
          <a:xfrm>
            <a:off x="1920240" y="1097280"/>
            <a:ext cx="9509760" cy="365760"/>
          </a:xfrm>
          <a:prstGeom prst="rect">
            <a:avLst/>
          </a:prstGeom>
          <a:noFill/>
        </p:spPr>
        <p:txBody>
          <a:bodyPr wrap="square">
            <a:spAutoFit/>
          </a:bodyPr>
          <a:lstStyle/>
          <a:p>
            <a:r>
              <a:rPr sz="1300" b="0">
                <a:solidFill>
                  <a:srgbClr val="9FB3C8"/>
                </a:solidFill>
                <a:latin typeface="Calibri"/>
              </a:rPr>
              <a:t>Bloque 6 · Pensar también por el rival</a:t>
            </a:r>
          </a:p>
        </p:txBody>
      </p:sp>
      <p:sp>
        <p:nvSpPr>
          <p:cNvPr id="9" name="TextBox 8"/>
          <p:cNvSpPr txBox="1"/>
          <p:nvPr/>
        </p:nvSpPr>
        <p:spPr>
          <a:xfrm>
            <a:off x="640080" y="2651760"/>
            <a:ext cx="10881360" cy="2011680"/>
          </a:xfrm>
          <a:prstGeom prst="rect">
            <a:avLst/>
          </a:prstGeom>
          <a:noFill/>
        </p:spPr>
        <p:txBody>
          <a:bodyPr wrap="square">
            <a:spAutoFit/>
          </a:bodyPr>
          <a:lstStyle/>
          <a:p>
            <a:r>
              <a:rPr sz="4000" b="1">
                <a:solidFill>
                  <a:srgbClr val="FFFFFF"/>
                </a:solidFill>
                <a:latin typeface="Cambria"/>
              </a:rPr>
              <a:t>¿Qué cambió con su última jugada?</a:t>
            </a:r>
          </a:p>
        </p:txBody>
      </p:sp>
      <p:sp>
        <p:nvSpPr>
          <p:cNvPr id="10" name="TextBox 9"/>
          <p:cNvSpPr txBox="1"/>
          <p:nvPr/>
        </p:nvSpPr>
        <p:spPr>
          <a:xfrm>
            <a:off x="640080" y="4617720"/>
            <a:ext cx="9601200" cy="914400"/>
          </a:xfrm>
          <a:prstGeom prst="rect">
            <a:avLst/>
          </a:prstGeom>
          <a:noFill/>
        </p:spPr>
        <p:txBody>
          <a:bodyPr wrap="square">
            <a:spAutoFit/>
          </a:bodyPr>
          <a:lstStyle/>
          <a:p>
            <a:r>
              <a:rPr sz="1800" b="0">
                <a:solidFill>
                  <a:srgbClr val="CADCFC"/>
                </a:solidFill>
                <a:latin typeface="Calibri"/>
              </a:rPr>
              <a:t>Cada jugada del rival cambia algo: abre una línea, deja de defender algo, prepara una idea. Mirarlo es lo primero.</a:t>
            </a:r>
          </a:p>
        </p:txBody>
      </p:sp>
      <p:sp>
        <p:nvSpPr>
          <p:cNvPr id="11" name="TextBox 10"/>
          <p:cNvSpPr txBox="1"/>
          <p:nvPr/>
        </p:nvSpPr>
        <p:spPr>
          <a:xfrm>
            <a:off x="640080" y="6309360"/>
            <a:ext cx="5486400" cy="365760"/>
          </a:xfrm>
          <a:prstGeom prst="rect">
            <a:avLst/>
          </a:prstGeom>
          <a:noFill/>
        </p:spPr>
        <p:txBody>
          <a:bodyPr wrap="square">
            <a:spAutoFit/>
          </a:bodyPr>
          <a:lstStyle/>
          <a:p>
            <a:r>
              <a:rPr sz="1100" b="0">
                <a:solidFill>
                  <a:srgbClr val="627D98"/>
                </a:solidFill>
                <a:latin typeface="Calibri"/>
              </a:rPr>
              <a:t>ajedrez-integral.com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¿Qué cambió con su última jugada?</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Cuando el rival juega, lo natural es volver a pensar en el propio plan. Pero cada jugada del rival cambió la posición, y casi siempre de varias formas: la pieza que movió ahora ataca casillas nuevas, dejó de defender las de antes y a veces abrió una línea para otra pieza que estaba detrás.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¿Qué cambió con su última jugada?</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La revisión toma diez segundos y se puede hacer siempre igual: ¿qué ataca ahora la pieza que se movió?, ¿qué dejó de defender?, ¿se abrió alguna línea?, ¿hay una amenaza nueva? Con esas cuatro preguntas se ven la mayoría de las trampas y también la mayoría de los errores del rival, que es donde están los puntos fáciles.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¿Qué cambió con su última jugada?</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Saltarse esa revisión es la causa de muchos de los «despistes» que después lamentamos. No es falta de nivel: es que la cabeza pasa directamente a lo suyo. Convertir esa mirada en una costumbre es de las cosas que más rápido suben el Elo.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1463040"/>
            <a:ext cx="4114800" cy="4114800"/>
          </a:xfrm>
          <a:prstGeom prst="ellipse">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175504" y="822960"/>
            <a:ext cx="1828800" cy="182880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75504" y="822960"/>
            <a:ext cx="1828800" cy="1828800"/>
          </a:xfrm>
          <a:prstGeom prst="rect">
            <a:avLst/>
          </a:prstGeom>
          <a:noFill/>
        </p:spPr>
        <p:txBody>
          <a:bodyPr wrap="square">
            <a:spAutoFit/>
          </a:bodyPr>
          <a:lstStyle/>
          <a:p>
            <a:pPr algn="ctr"/>
            <a:r>
              <a:rPr sz="4400" b="1">
                <a:solidFill>
                  <a:srgbClr val="0A1F33"/>
                </a:solidFill>
                <a:latin typeface="Calibri"/>
              </a:rPr>
              <a:t>✔</a:t>
            </a:r>
          </a:p>
        </p:txBody>
      </p:sp>
      <p:sp>
        <p:nvSpPr>
          <p:cNvPr id="6" name="TextBox 5"/>
          <p:cNvSpPr txBox="1"/>
          <p:nvPr/>
        </p:nvSpPr>
        <p:spPr>
          <a:xfrm>
            <a:off x="548640" y="2880360"/>
            <a:ext cx="11064240" cy="457200"/>
          </a:xfrm>
          <a:prstGeom prst="rect">
            <a:avLst/>
          </a:prstGeom>
          <a:noFill/>
        </p:spPr>
        <p:txBody>
          <a:bodyPr wrap="square">
            <a:spAutoFit/>
          </a:bodyPr>
          <a:lstStyle/>
          <a:p>
            <a:pPr algn="ctr"/>
            <a:r>
              <a:rPr sz="1400" b="1">
                <a:solidFill>
                  <a:srgbClr val="F0B429"/>
                </a:solidFill>
                <a:latin typeface="Calibri"/>
              </a:rPr>
              <a:t>PARA PRACTICAR</a:t>
            </a:r>
          </a:p>
        </p:txBody>
      </p:sp>
      <p:sp>
        <p:nvSpPr>
          <p:cNvPr id="7" name="TextBox 6"/>
          <p:cNvSpPr txBox="1"/>
          <p:nvPr/>
        </p:nvSpPr>
        <p:spPr>
          <a:xfrm>
            <a:off x="1280160" y="3383280"/>
            <a:ext cx="9601200" cy="2377440"/>
          </a:xfrm>
          <a:prstGeom prst="rect">
            <a:avLst/>
          </a:prstGeom>
          <a:noFill/>
        </p:spPr>
        <p:txBody>
          <a:bodyPr wrap="square">
            <a:spAutoFit/>
          </a:bodyPr>
          <a:lstStyle/>
          <a:p>
            <a:pPr algn="ctr"/>
            <a:r>
              <a:rPr sz="2200" b="0">
                <a:solidFill>
                  <a:srgbClr val="FFFFFF"/>
                </a:solidFill>
                <a:latin typeface="Cambria"/>
              </a:rPr>
              <a:t>Juega cinco partidas rápidas (15 minutos) obligándote, después de cada jugada del rival, a contestar las cuatro preguntas en silencio. Anota cuántas veces encontraste una amenaza o una oportunidad que no habrías visto.</a:t>
            </a:r>
          </a:p>
        </p:txBody>
      </p:sp>
      <p:sp>
        <p:nvSpPr>
          <p:cNvPr id="8" name="TextBox 7"/>
          <p:cNvSpPr txBox="1"/>
          <p:nvPr/>
        </p:nvSpPr>
        <p:spPr>
          <a:xfrm>
            <a:off x="548640" y="6263640"/>
            <a:ext cx="11064240" cy="365760"/>
          </a:xfrm>
          <a:prstGeom prst="rect">
            <a:avLst/>
          </a:prstGeom>
          <a:noFill/>
        </p:spPr>
        <p:txBody>
          <a:bodyPr wrap="square">
            <a:spAutoFit/>
          </a:bodyPr>
          <a:lstStyle/>
          <a:p>
            <a:pPr algn="ctr"/>
            <a:r>
              <a:rPr sz="1200" b="0">
                <a:solidFill>
                  <a:srgbClr val="9FB3C8"/>
                </a:solidFill>
                <a:latin typeface="Calibri"/>
              </a:rPr>
              <a:t>Rompe el estancamiento · Lección 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