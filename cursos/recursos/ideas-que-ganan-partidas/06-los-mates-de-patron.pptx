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9692640" y="-1463040"/>
            <a:ext cx="4572000" cy="4572000"/>
          </a:xfrm>
          <a:prstGeom prst="ellipse">
            <a:avLst/>
          </a:prstGeom>
          <a:solidFill>
            <a:srgbClr val="10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645920" y="4937760"/>
            <a:ext cx="3840480" cy="3840480"/>
          </a:xfrm>
          <a:prstGeom prst="ellipse">
            <a:avLst/>
          </a:prstGeom>
          <a:solidFill>
            <a:srgbClr val="10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640080" y="594360"/>
            <a:ext cx="1005840" cy="1005840"/>
          </a:xfrm>
          <a:prstGeom prst="ellipse">
            <a:avLst/>
          </a:prstGeom>
          <a:solidFill>
            <a:srgbClr val="DE91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594360"/>
            <a:ext cx="10058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1">
                <a:solidFill>
                  <a:srgbClr val="0A1F33"/>
                </a:solidFill>
                <a:latin typeface="Calibri"/>
              </a:rPr>
              <a:t>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920240" y="685800"/>
            <a:ext cx="9509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F0B429"/>
                </a:solidFill>
                <a:latin typeface="Calibri"/>
              </a:rPr>
              <a:t>AJEDREZ INTEGRAL  ·  IDEAS QUE GANAN PARTIDAS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920240" y="1097280"/>
            <a:ext cx="9509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9FB3C8"/>
                </a:solidFill>
                <a:latin typeface="Calibri"/>
              </a:rPr>
              <a:t>Bloque 1 · El ataque al rey enrocado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651760"/>
            <a:ext cx="1088136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000" b="1">
                <a:solidFill>
                  <a:srgbClr val="FFFFFF"/>
                </a:solidFill>
                <a:latin typeface="Cambria"/>
              </a:rPr>
              <a:t>Los mates de patrón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4617720"/>
            <a:ext cx="96012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>
                <a:solidFill>
                  <a:srgbClr val="CADCFC"/>
                </a:solidFill>
                <a:latin typeface="Calibri"/>
              </a:rPr>
              <a:t>Hay mates que se repiten con el mismo dibujo: el ahogado, el árabe, el de Anastasia, el del pasillo. Conocerlos de vista ahorra cálculo.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630936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27D98"/>
                </a:solidFill>
                <a:latin typeface="Calibri"/>
              </a:rPr>
              <a:t>ajedrez-integral.com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48640" y="502920"/>
            <a:ext cx="502920" cy="502920"/>
          </a:xfrm>
          <a:prstGeom prst="ellipse">
            <a:avLst/>
          </a:prstGeom>
          <a:solidFill>
            <a:srgbClr val="DE91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502920"/>
            <a:ext cx="502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>
                <a:solidFill>
                  <a:srgbClr val="0A1F33"/>
                </a:solidFill>
                <a:latin typeface="Calibri"/>
              </a:rPr>
              <a:t>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34440" y="530352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DE911D"/>
                </a:solidFill>
                <a:latin typeface="Calibri"/>
              </a:rPr>
              <a:t>CONCEPTO CLAVE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5156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A1F33"/>
                </a:solidFill>
                <a:latin typeface="Cambria"/>
              </a:rPr>
              <a:t>Los mates de patrón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965960"/>
            <a:ext cx="11064240" cy="4297680"/>
          </a:xfrm>
          <a:prstGeom prst="rect">
            <a:avLst/>
          </a:prstGeom>
          <a:solidFill>
            <a:srgbClr val="F0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331720"/>
            <a:ext cx="1024128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334E68"/>
                </a:solidFill>
                <a:latin typeface="Calibri"/>
              </a:rPr>
              <a:t>Muchos ataques terminan siempre igual. El caballo que da mate a un rey rodeado por sus propias piezas (el mate ahogado), la torre y el caballo que encierran al rey en la esquina (el árabe), la torre y el caballo contra el rey en la columna h (el de Anastasia), los dos alfiles cruzados (el de Boden). Son dibujos: una vez que se aprenden, se reconocen en la posición antes de calcular nada.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48640" y="502920"/>
            <a:ext cx="502920" cy="502920"/>
          </a:xfrm>
          <a:prstGeom prst="ellipse">
            <a:avLst/>
          </a:prstGeom>
          <a:solidFill>
            <a:srgbClr val="DE91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502920"/>
            <a:ext cx="502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>
                <a:solidFill>
                  <a:srgbClr val="0A1F33"/>
                </a:solidFill>
                <a:latin typeface="Calibri"/>
              </a:rPr>
              <a:t>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34440" y="530352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DE911D"/>
                </a:solidFill>
                <a:latin typeface="Calibri"/>
              </a:rPr>
              <a:t>CONCEPTO CLAVE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5156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A1F33"/>
                </a:solidFill>
                <a:latin typeface="Cambria"/>
              </a:rPr>
              <a:t>Los mates de patrón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965960"/>
            <a:ext cx="11064240" cy="4297680"/>
          </a:xfrm>
          <a:prstGeom prst="rect">
            <a:avLst/>
          </a:prstGeom>
          <a:solidFill>
            <a:srgbClr val="F0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331720"/>
            <a:ext cx="1024128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334E68"/>
                </a:solidFill>
                <a:latin typeface="Calibri"/>
              </a:rPr>
              <a:t>Esa es su utilidad práctica. Quien conoce los patrones no busca el mate jugada por jugada: ve que la posición se parece a uno de ellos y busca solo cómo llegar. El cálculo se vuelve corto y seguro, porque se sabe adónde va.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48640" y="502920"/>
            <a:ext cx="502920" cy="502920"/>
          </a:xfrm>
          <a:prstGeom prst="ellipse">
            <a:avLst/>
          </a:prstGeom>
          <a:solidFill>
            <a:srgbClr val="DE91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502920"/>
            <a:ext cx="502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>
                <a:solidFill>
                  <a:srgbClr val="0A1F33"/>
                </a:solidFill>
                <a:latin typeface="Calibri"/>
              </a:rPr>
              <a:t>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34440" y="530352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DE911D"/>
                </a:solidFill>
                <a:latin typeface="Calibri"/>
              </a:rPr>
              <a:t>CONCEPTO CLAVE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5156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A1F33"/>
                </a:solidFill>
                <a:latin typeface="Cambria"/>
              </a:rPr>
              <a:t>Los mates de patrón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965960"/>
            <a:ext cx="11064240" cy="4297680"/>
          </a:xfrm>
          <a:prstGeom prst="rect">
            <a:avLst/>
          </a:prstGeom>
          <a:solidFill>
            <a:srgbClr val="F0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331720"/>
            <a:ext cx="1024128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334E68"/>
                </a:solidFill>
                <a:latin typeface="Calibri"/>
              </a:rPr>
              <a:t>Para aprenderlos sirve más repetir que leer. Arma cada mate en un tablero vacío, con las piezas mínimas, y después búscalo en posiciones con más piezas. El día que aparezca en una partida tuya, lo vas a ver.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1280160" y="-1463040"/>
            <a:ext cx="4114800" cy="4114800"/>
          </a:xfrm>
          <a:prstGeom prst="ellipse">
            <a:avLst/>
          </a:prstGeom>
          <a:solidFill>
            <a:srgbClr val="0A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5175504" y="822960"/>
            <a:ext cx="1828800" cy="1828800"/>
          </a:xfrm>
          <a:prstGeom prst="ellipse">
            <a:avLst/>
          </a:prstGeom>
          <a:solidFill>
            <a:srgbClr val="DE91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175504" y="822960"/>
            <a:ext cx="18288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>
                <a:solidFill>
                  <a:srgbClr val="0A1F33"/>
                </a:solidFill>
                <a:latin typeface="Calibri"/>
              </a:rPr>
              <a:t>✔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880360"/>
            <a:ext cx="11064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0B429"/>
                </a:solidFill>
                <a:latin typeface="Calibri"/>
              </a:rPr>
              <a:t>PARA PRACTICAR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80160" y="3383280"/>
            <a:ext cx="960120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>
                <a:solidFill>
                  <a:srgbClr val="FFFFFF"/>
                </a:solidFill>
                <a:latin typeface="Cambria"/>
              </a:rPr>
              <a:t>Arma en un tablero vacío cinco mates de patrón con las piezas mínimas: ahogado, árabe, Anastasia, Boden y el de la última fila. Después resuelve diez ejercicios de mate y nombra el patrón de cada uno.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263640"/>
            <a:ext cx="11064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9FB3C8"/>
                </a:solidFill>
                <a:latin typeface="Calibri"/>
              </a:rPr>
              <a:t>Ideas que ganan partidas · Lección 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