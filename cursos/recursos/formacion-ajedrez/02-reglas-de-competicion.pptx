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notesMaster" Target="notesMasters/notesMaster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Dejar que el grupo decida antes de pasar a la siguiente diapositiva.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Dejar que el grupo decida antes de pasar a la siguiente diapositiva.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Dejar que el grupo decida antes de pasar a la siguiente diapositiva.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Dejar que el grupo decida antes de pasar a la siguiente diapositiva.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Dejar que el grupo decida antes de pasar a la siguiente diapositiva.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Dejar que el grupo decida antes de pasar a la siguiente diapositiva.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Repasar en plenaria; cada respuesta con su artículo.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Repasar en plenaria; cada respuesta con su artículo.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minuto por pregunta, y después las respuestas.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minuto por pregunta, y después las respuestas.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728655" y="6419088"/>
            <a:ext cx="1097280" cy="365760"/>
          </a:xfrm>
          <a:prstGeom prst="rect">
            <a:avLst/>
          </a:prstGeom>
          <a:noFill/>
        </p:spPr>
        <p:txBody>
          <a:bodyPr wrap="square" lIns="45720" rIns="45720">
            <a:spAutoFit/>
          </a:bodyPr>
          <a:lstStyle/>
          <a:p>
            <a:pPr algn="ctr">
              <a:spcAft>
                <a:spcPts val="540"/>
              </a:spcAft>
            </a:pPr>
            <a:r>
              <a:rPr sz="1200" b="0">
                <a:solidFill>
                  <a:srgbClr val="9FB3C8"/>
                </a:solidFill>
                <a:latin typeface="Calibri"/>
              </a:rPr>
              <a:t>1</a:t>
            </a:r>
          </a:p>
        </p:txBody>
      </p:sp>
      <p:sp>
        <p:nvSpPr>
          <p:cNvPr id="4" name="Rectangle 3"/>
          <p:cNvSpPr/>
          <p:nvPr/>
        </p:nvSpPr>
        <p:spPr>
          <a:xfrm>
            <a:off x="731520" y="2011680"/>
            <a:ext cx="109728" cy="2377440"/>
          </a:xfrm>
          <a:prstGeom prst="rect">
            <a:avLst/>
          </a:prstGeom>
          <a:solidFill>
            <a:srgbClr val="F4C4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1097280"/>
            <a:ext cx="10058400" cy="548640"/>
          </a:xfrm>
          <a:prstGeom prst="rect">
            <a:avLst/>
          </a:prstGeom>
          <a:noFill/>
        </p:spPr>
        <p:txBody>
          <a:bodyPr wrap="square" lIns="45720" rIns="45720">
            <a:spAutoFit/>
          </a:bodyPr>
          <a:lstStyle/>
          <a:p>
            <a:pPr>
              <a:spcAft>
                <a:spcPts val="900"/>
              </a:spcAft>
            </a:pPr>
            <a:r>
              <a:rPr sz="2000" b="1">
                <a:solidFill>
                  <a:srgbClr val="F4C430"/>
                </a:solidFill>
                <a:latin typeface="Calibri"/>
              </a:rPr>
              <a:t>SESIÓN 2  ·  FORMACIÓN AJEDREZ</a:t>
            </a:r>
          </a:p>
        </p:txBody>
      </p:sp>
      <p:sp>
        <p:nvSpPr>
          <p:cNvPr id="6" name="TextBox 5"/>
          <p:cNvSpPr txBox="1"/>
          <p:nvPr/>
        </p:nvSpPr>
        <p:spPr>
          <a:xfrm>
            <a:off x="1051560" y="1920240"/>
            <a:ext cx="10332720" cy="1828800"/>
          </a:xfrm>
          <a:prstGeom prst="rect">
            <a:avLst/>
          </a:prstGeom>
          <a:noFill/>
        </p:spPr>
        <p:txBody>
          <a:bodyPr wrap="square" lIns="45720" rIns="45720">
            <a:spAutoFit/>
          </a:bodyPr>
          <a:lstStyle/>
          <a:p>
            <a:pPr>
              <a:spcAft>
                <a:spcPts val="1980"/>
              </a:spcAft>
            </a:pPr>
            <a:r>
              <a:rPr sz="4400" b="1">
                <a:solidFill>
                  <a:srgbClr val="FFFFFF"/>
                </a:solidFill>
                <a:latin typeface="Calibri"/>
              </a:rPr>
              <a:t>Reglas de competición</a:t>
            </a:r>
          </a:p>
        </p:txBody>
      </p:sp>
      <p:sp>
        <p:nvSpPr>
          <p:cNvPr id="7" name="TextBox 6"/>
          <p:cNvSpPr txBox="1"/>
          <p:nvPr/>
        </p:nvSpPr>
        <p:spPr>
          <a:xfrm>
            <a:off x="1051560" y="3886200"/>
            <a:ext cx="10332720" cy="1280160"/>
          </a:xfrm>
          <a:prstGeom prst="rect">
            <a:avLst/>
          </a:prstGeom>
          <a:noFill/>
        </p:spPr>
        <p:txBody>
          <a:bodyPr wrap="square" lIns="45720" rIns="45720">
            <a:spAutoFit/>
          </a:bodyPr>
          <a:lstStyle/>
          <a:p>
            <a:pPr>
              <a:spcAft>
                <a:spcPts val="990"/>
              </a:spcAft>
            </a:pPr>
            <a:r>
              <a:rPr sz="2200" b="0">
                <a:solidFill>
                  <a:srgbClr val="CADCFC"/>
                </a:solidFill>
                <a:latin typeface="Calibri"/>
              </a:rPr>
              <a:t>Conducta durante la partida, uso de dispositivos electrónicos, reclamos e incidencias frecuentes.</a:t>
            </a:r>
          </a:p>
        </p:txBody>
      </p:sp>
      <p:sp>
        <p:nvSpPr>
          <p:cNvPr id="8" name="TextBox 7"/>
          <p:cNvSpPr txBox="1"/>
          <p:nvPr/>
        </p:nvSpPr>
        <p:spPr>
          <a:xfrm>
            <a:off x="1051560" y="5760720"/>
            <a:ext cx="10332720" cy="457200"/>
          </a:xfrm>
          <a:prstGeom prst="rect">
            <a:avLst/>
          </a:prstGeom>
          <a:noFill/>
        </p:spPr>
        <p:txBody>
          <a:bodyPr wrap="square" lIns="45720" rIns="45720">
            <a:spAutoFit/>
          </a:bodyPr>
          <a:lstStyle/>
          <a:p>
            <a:pPr>
              <a:spcAft>
                <a:spcPts val="720"/>
              </a:spcAft>
            </a:pPr>
            <a:r>
              <a:rPr sz="1600" b="0">
                <a:solidFill>
                  <a:srgbClr val="9FB3C8"/>
                </a:solidFill>
                <a:latin typeface="Calibri"/>
              </a:rPr>
              <a:t>Programa de Formación para Personas Árbitras y Asesoras  ·  Juegos Deportivos Estudiantiles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317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77295" cy="777240"/>
          </a:xfrm>
          <a:prstGeom prst="rect">
            <a:avLst/>
          </a:prstGeom>
          <a:noFill/>
        </p:spPr>
        <p:txBody>
          <a:bodyPr wrap="square" lIns="45720" rIns="45720" anchor="ctr">
            <a:spAutoFit/>
          </a:bodyPr>
          <a:lstStyle/>
          <a:p>
            <a:pPr algn="ctr">
              <a:spcAft>
                <a:spcPts val="1530"/>
              </a:spcAft>
            </a:pPr>
            <a:r>
              <a:rPr sz="3400" b="1">
                <a:solidFill>
                  <a:srgbClr val="FFFFFF"/>
                </a:solidFill>
                <a:latin typeface="Calibri"/>
              </a:rPr>
              <a:t>Objetivos de la sesión</a:t>
            </a:r>
          </a:p>
        </p:txBody>
      </p:sp>
      <p:sp>
        <p:nvSpPr>
          <p:cNvPr id="4" name="Rectangle 3"/>
          <p:cNvSpPr/>
          <p:nvPr/>
        </p:nvSpPr>
        <p:spPr>
          <a:xfrm>
            <a:off x="0" y="960120"/>
            <a:ext cx="12191695" cy="548640"/>
          </a:xfrm>
          <a:prstGeom prst="rect">
            <a:avLst/>
          </a:prstGeom>
          <a:solidFill>
            <a:srgbClr val="4E61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987552"/>
            <a:ext cx="11277295" cy="502920"/>
          </a:xfrm>
          <a:prstGeom prst="rect">
            <a:avLst/>
          </a:prstGeom>
          <a:noFill/>
        </p:spPr>
        <p:txBody>
          <a:bodyPr wrap="square" lIns="45720" rIns="45720" anchor="ctr">
            <a:spAutoFit/>
          </a:bodyPr>
          <a:lstStyle/>
          <a:p>
            <a:pPr algn="ctr">
              <a:spcAft>
                <a:spcPts val="945"/>
              </a:spcAft>
            </a:pPr>
            <a:r>
              <a:rPr sz="2100" b="0">
                <a:solidFill>
                  <a:srgbClr val="FFFFFF"/>
                </a:solidFill>
                <a:latin typeface="Calibri"/>
              </a:rPr>
              <a:t>Al terminar esta sesión, cada participante podrá:</a:t>
            </a:r>
          </a:p>
        </p:txBody>
      </p:sp>
      <p:sp>
        <p:nvSpPr>
          <p:cNvPr id="6" name="TextBox 5"/>
          <p:cNvSpPr txBox="1"/>
          <p:nvPr/>
        </p:nvSpPr>
        <p:spPr>
          <a:xfrm>
            <a:off x="10728655" y="6419088"/>
            <a:ext cx="1097280" cy="365760"/>
          </a:xfrm>
          <a:prstGeom prst="rect">
            <a:avLst/>
          </a:prstGeom>
          <a:noFill/>
        </p:spPr>
        <p:txBody>
          <a:bodyPr wrap="square" lIns="45720" rIns="45720">
            <a:spAutoFit/>
          </a:bodyPr>
          <a:lstStyle/>
          <a:p>
            <a:pPr algn="ctr">
              <a:spcAft>
                <a:spcPts val="540"/>
              </a:spcAft>
            </a:pPr>
            <a:r>
              <a:rPr sz="1200" b="0">
                <a:solidFill>
                  <a:srgbClr val="627D98"/>
                </a:solidFill>
                <a:latin typeface="Calibri"/>
              </a:rPr>
              <a:t>2</a:t>
            </a:r>
          </a:p>
        </p:txBody>
      </p:sp>
      <p:sp>
        <p:nvSpPr>
          <p:cNvPr id="7" name="Rectangle 6"/>
          <p:cNvSpPr/>
          <p:nvPr/>
        </p:nvSpPr>
        <p:spPr>
          <a:xfrm>
            <a:off x="457200" y="1783080"/>
            <a:ext cx="11277295" cy="438912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920240"/>
            <a:ext cx="10637215" cy="4114800"/>
          </a:xfrm>
          <a:prstGeom prst="rect">
            <a:avLst/>
          </a:prstGeom>
          <a:noFill/>
        </p:spPr>
        <p:txBody>
          <a:bodyPr wrap="square" lIns="45720" rIns="45720">
            <a:spAutoFit/>
          </a:bodyPr>
          <a:lstStyle/>
          <a:p>
            <a:pPr>
              <a:spcAft>
                <a:spcPts val="1215"/>
              </a:spcAft>
            </a:pPr>
            <a:r>
              <a:rPr sz="2700" b="0">
                <a:solidFill>
                  <a:srgbClr val="102A43"/>
                </a:solidFill>
                <a:latin typeface="Calibri"/>
              </a:rPr>
              <a:t>•  Aplicar las normas de conducta y de la zona de juego durante una ronda.</a:t>
            </a:r>
          </a:p>
          <a:p>
            <a:pPr>
              <a:spcAft>
                <a:spcPts val="1215"/>
              </a:spcAft>
            </a:pPr>
            <a:r>
              <a:rPr sz="2700" b="0">
                <a:solidFill>
                  <a:srgbClr val="102A43"/>
                </a:solidFill>
                <a:latin typeface="Calibri"/>
              </a:rPr>
              <a:t>•  Resolver incidencias con dispositivos electrónicos según el art. 11.3 y el reglamento del torneo.</a:t>
            </a:r>
          </a:p>
          <a:p>
            <a:pPr>
              <a:spcAft>
                <a:spcPts val="1215"/>
              </a:spcAft>
            </a:pPr>
            <a:r>
              <a:rPr sz="2700" b="0">
                <a:solidFill>
                  <a:srgbClr val="102A43"/>
                </a:solidFill>
                <a:latin typeface="Calibri"/>
              </a:rPr>
              <a:t>•  Tratar jugadas ilegales, piezas desplazadas y posiciones incorrectas con el procedimiento del art. 7.</a:t>
            </a:r>
          </a:p>
          <a:p>
            <a:pPr>
              <a:spcAft>
                <a:spcPts val="1215"/>
              </a:spcAft>
            </a:pPr>
            <a:r>
              <a:rPr sz="2700" b="0">
                <a:solidFill>
                  <a:srgbClr val="102A43"/>
                </a:solidFill>
                <a:latin typeface="Calibri"/>
              </a:rPr>
              <a:t>•  Elegir una sanción proporcionada del catálogo del art. 12.9.</a:t>
            </a:r>
          </a:p>
          <a:p>
            <a:pPr>
              <a:spcAft>
                <a:spcPts val="1215"/>
              </a:spcAft>
            </a:pPr>
            <a:r>
              <a:rPr sz="2700" b="0">
                <a:solidFill>
                  <a:srgbClr val="102A43"/>
                </a:solidFill>
                <a:latin typeface="Calibri"/>
              </a:rPr>
              <a:t>•  Atender un reclamo de principio a fin: escuchar, verificar, decidir y registrar.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317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77295" cy="777240"/>
          </a:xfrm>
          <a:prstGeom prst="rect">
            <a:avLst/>
          </a:prstGeom>
          <a:noFill/>
        </p:spPr>
        <p:txBody>
          <a:bodyPr wrap="square" lIns="45720" rIns="45720" anchor="ctr">
            <a:spAutoFit/>
          </a:bodyPr>
          <a:lstStyle/>
          <a:p>
            <a:pPr algn="ctr">
              <a:spcAft>
                <a:spcPts val="1530"/>
              </a:spcAft>
            </a:pPr>
            <a:r>
              <a:rPr sz="3400" b="1">
                <a:solidFill>
                  <a:srgbClr val="FFFFFF"/>
                </a:solidFill>
                <a:latin typeface="Calibri"/>
              </a:rPr>
              <a:t>Cronograma de la sesión</a:t>
            </a:r>
          </a:p>
        </p:txBody>
      </p:sp>
      <p:sp>
        <p:nvSpPr>
          <p:cNvPr id="4" name="Rectangle 3"/>
          <p:cNvSpPr/>
          <p:nvPr/>
        </p:nvSpPr>
        <p:spPr>
          <a:xfrm>
            <a:off x="0" y="960120"/>
            <a:ext cx="12191695" cy="548640"/>
          </a:xfrm>
          <a:prstGeom prst="rect">
            <a:avLst/>
          </a:prstGeom>
          <a:solidFill>
            <a:srgbClr val="4E61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987552"/>
            <a:ext cx="11277295" cy="502920"/>
          </a:xfrm>
          <a:prstGeom prst="rect">
            <a:avLst/>
          </a:prstGeom>
          <a:noFill/>
        </p:spPr>
        <p:txBody>
          <a:bodyPr wrap="square" lIns="45720" rIns="45720" anchor="ctr">
            <a:spAutoFit/>
          </a:bodyPr>
          <a:lstStyle/>
          <a:p>
            <a:pPr algn="ctr">
              <a:spcAft>
                <a:spcPts val="945"/>
              </a:spcAft>
            </a:pPr>
            <a:r>
              <a:rPr sz="2100" b="0">
                <a:solidFill>
                  <a:srgbClr val="FFFFFF"/>
                </a:solidFill>
                <a:latin typeface="Calibri"/>
              </a:rPr>
              <a:t>Sesión 2 · 4 horas (240 minutos)</a:t>
            </a:r>
          </a:p>
        </p:txBody>
      </p:sp>
      <p:sp>
        <p:nvSpPr>
          <p:cNvPr id="6" name="TextBox 5"/>
          <p:cNvSpPr txBox="1"/>
          <p:nvPr/>
        </p:nvSpPr>
        <p:spPr>
          <a:xfrm>
            <a:off x="10728655" y="6419088"/>
            <a:ext cx="1097280" cy="365760"/>
          </a:xfrm>
          <a:prstGeom prst="rect">
            <a:avLst/>
          </a:prstGeom>
          <a:noFill/>
        </p:spPr>
        <p:txBody>
          <a:bodyPr wrap="square" lIns="45720" rIns="45720">
            <a:spAutoFit/>
          </a:bodyPr>
          <a:lstStyle/>
          <a:p>
            <a:pPr algn="ctr">
              <a:spcAft>
                <a:spcPts val="540"/>
              </a:spcAft>
            </a:pPr>
            <a:r>
              <a:rPr sz="1200" b="0">
                <a:solidFill>
                  <a:srgbClr val="627D98"/>
                </a:solidFill>
                <a:latin typeface="Calibri"/>
              </a:rPr>
              <a:t>3</a:t>
            </a:r>
          </a:p>
        </p:txBody>
      </p:sp>
      <p:graphicFrame>
        <p:nvGraphicFramePr>
          <p:cNvPr id="7" name="Table 6"/>
          <p:cNvGraphicFramePr>
            <a:graphicFrameLocks noGrp="1"/>
          </p:cNvGraphicFramePr>
          <p:nvPr/>
        </p:nvGraphicFramePr>
        <p:xfrm>
          <a:off x="731520" y="1783080"/>
          <a:ext cx="10728655" cy="4572000"/>
        </p:xfrm>
        <a:graphic>
          <a:graphicData uri="http://schemas.openxmlformats.org/drawingml/2006/table">
            <a:tbl>
              <a:tblPr firstRow="1" bandRow="1">
                <a:tableStyleId>{5C22544A-7EE6-4342-B048-85BDC9FD1C3A}</a:tableStyleId>
              </a:tblPr>
              <a:tblGrid>
                <a:gridCol w="2103120"/>
                <a:gridCol w="1463040"/>
                <a:gridCol w="7162495"/>
              </a:tblGrid>
              <a:tr h="415636">
                <a:tc>
                  <a:txBody>
                    <a:bodyPr/>
                    <a:lstStyle/>
                    <a:p>
                      <a:r>
                        <a:rPr sz="1800" b="1">
                          <a:solidFill>
                            <a:srgbClr val="FFFFFF"/>
                          </a:solidFill>
                          <a:latin typeface="Calibri"/>
                        </a:rPr>
                        <a:t>Horario</a:t>
                      </a:r>
                    </a:p>
                  </a:txBody>
                  <a:tcPr>
                    <a:solidFill>
                      <a:srgbClr val="3172AC"/>
                    </a:solidFill>
                  </a:tcPr>
                </a:tc>
                <a:tc>
                  <a:txBody>
                    <a:bodyPr/>
                    <a:lstStyle/>
                    <a:p>
                      <a:r>
                        <a:rPr sz="1800" b="1">
                          <a:solidFill>
                            <a:srgbClr val="FFFFFF"/>
                          </a:solidFill>
                          <a:latin typeface="Calibri"/>
                        </a:rPr>
                        <a:t>Duración</a:t>
                      </a:r>
                    </a:p>
                  </a:txBody>
                  <a:tcPr>
                    <a:solidFill>
                      <a:srgbClr val="3172AC"/>
                    </a:solidFill>
                  </a:tcPr>
                </a:tc>
                <a:tc>
                  <a:txBody>
                    <a:bodyPr/>
                    <a:lstStyle/>
                    <a:p>
                      <a:r>
                        <a:rPr sz="1800" b="1">
                          <a:solidFill>
                            <a:srgbClr val="FFFFFF"/>
                          </a:solidFill>
                          <a:latin typeface="Calibri"/>
                        </a:rPr>
                        <a:t>Bloque</a:t>
                      </a:r>
                    </a:p>
                  </a:txBody>
                  <a:tcPr>
                    <a:solidFill>
                      <a:srgbClr val="3172AC"/>
                    </a:solidFill>
                  </a:tcPr>
                </a:tc>
              </a:tr>
              <a:tr h="415636">
                <a:tc>
                  <a:txBody>
                    <a:bodyPr/>
                    <a:lstStyle/>
                    <a:p>
                      <a:r>
                        <a:rPr sz="1600" b="0">
                          <a:solidFill>
                            <a:srgbClr val="102A43"/>
                          </a:solidFill>
                          <a:latin typeface="Calibri"/>
                        </a:rPr>
                        <a:t>0:00 – 0:10</a:t>
                      </a:r>
                    </a:p>
                  </a:txBody>
                  <a:tcPr>
                    <a:solidFill>
                      <a:srgbClr val="F0F4F8"/>
                    </a:solidFill>
                  </a:tcPr>
                </a:tc>
                <a:tc>
                  <a:txBody>
                    <a:bodyPr/>
                    <a:lstStyle/>
                    <a:p>
                      <a:r>
                        <a:rPr sz="1600" b="0">
                          <a:solidFill>
                            <a:srgbClr val="102A43"/>
                          </a:solidFill>
                          <a:latin typeface="Calibri"/>
                        </a:rPr>
                        <a:t>10 min</a:t>
                      </a:r>
                    </a:p>
                  </a:txBody>
                  <a:tcPr>
                    <a:solidFill>
                      <a:srgbClr val="F0F4F8"/>
                    </a:solidFill>
                  </a:tcPr>
                </a:tc>
                <a:tc>
                  <a:txBody>
                    <a:bodyPr/>
                    <a:lstStyle/>
                    <a:p>
                      <a:r>
                        <a:rPr sz="1600" b="0">
                          <a:solidFill>
                            <a:srgbClr val="102A43"/>
                          </a:solidFill>
                          <a:latin typeface="Calibri"/>
                        </a:rPr>
                        <a:t>Repaso y revisión de la tarea</a:t>
                      </a:r>
                    </a:p>
                  </a:txBody>
                  <a:tcPr>
                    <a:solidFill>
                      <a:srgbClr val="F0F4F8"/>
                    </a:solidFill>
                  </a:tcPr>
                </a:tc>
              </a:tr>
              <a:tr h="415636">
                <a:tc>
                  <a:txBody>
                    <a:bodyPr/>
                    <a:lstStyle/>
                    <a:p>
                      <a:r>
                        <a:rPr sz="1600" b="0">
                          <a:solidFill>
                            <a:srgbClr val="102A43"/>
                          </a:solidFill>
                          <a:latin typeface="Calibri"/>
                        </a:rPr>
                        <a:t>0:10 – 0:45</a:t>
                      </a:r>
                    </a:p>
                  </a:txBody>
                  <a:tcPr>
                    <a:solidFill>
                      <a:srgbClr val="FFFFFF"/>
                    </a:solidFill>
                  </a:tcPr>
                </a:tc>
                <a:tc>
                  <a:txBody>
                    <a:bodyPr/>
                    <a:lstStyle/>
                    <a:p>
                      <a:r>
                        <a:rPr sz="1600" b="0">
                          <a:solidFill>
                            <a:srgbClr val="102A43"/>
                          </a:solidFill>
                          <a:latin typeface="Calibri"/>
                        </a:rPr>
                        <a:t>35 min</a:t>
                      </a:r>
                    </a:p>
                  </a:txBody>
                  <a:tcPr>
                    <a:solidFill>
                      <a:srgbClr val="FFFFFF"/>
                    </a:solidFill>
                  </a:tcPr>
                </a:tc>
                <a:tc>
                  <a:txBody>
                    <a:bodyPr/>
                    <a:lstStyle/>
                    <a:p>
                      <a:r>
                        <a:rPr sz="1600" b="0">
                          <a:solidFill>
                            <a:srgbClr val="102A43"/>
                          </a:solidFill>
                          <a:latin typeface="Calibri"/>
                        </a:rPr>
                        <a:t>Conducta y zona de juego</a:t>
                      </a:r>
                    </a:p>
                  </a:txBody>
                  <a:tcPr>
                    <a:solidFill>
                      <a:srgbClr val="FFFFFF"/>
                    </a:solidFill>
                  </a:tcPr>
                </a:tc>
              </a:tr>
              <a:tr h="415636">
                <a:tc>
                  <a:txBody>
                    <a:bodyPr/>
                    <a:lstStyle/>
                    <a:p>
                      <a:r>
                        <a:rPr sz="1600" b="0">
                          <a:solidFill>
                            <a:srgbClr val="102A43"/>
                          </a:solidFill>
                          <a:latin typeface="Calibri"/>
                        </a:rPr>
                        <a:t>0:45 – 1:10</a:t>
                      </a:r>
                    </a:p>
                  </a:txBody>
                  <a:tcPr>
                    <a:solidFill>
                      <a:srgbClr val="F0F4F8"/>
                    </a:solidFill>
                  </a:tcPr>
                </a:tc>
                <a:tc>
                  <a:txBody>
                    <a:bodyPr/>
                    <a:lstStyle/>
                    <a:p>
                      <a:r>
                        <a:rPr sz="1600" b="0">
                          <a:solidFill>
                            <a:srgbClr val="102A43"/>
                          </a:solidFill>
                          <a:latin typeface="Calibri"/>
                        </a:rPr>
                        <a:t>25 min</a:t>
                      </a:r>
                    </a:p>
                  </a:txBody>
                  <a:tcPr>
                    <a:solidFill>
                      <a:srgbClr val="F0F4F8"/>
                    </a:solidFill>
                  </a:tcPr>
                </a:tc>
                <a:tc>
                  <a:txBody>
                    <a:bodyPr/>
                    <a:lstStyle/>
                    <a:p>
                      <a:r>
                        <a:rPr sz="1600" b="0">
                          <a:solidFill>
                            <a:srgbClr val="102A43"/>
                          </a:solidFill>
                          <a:latin typeface="Calibri"/>
                        </a:rPr>
                        <a:t>Dispositivos electrónicos</a:t>
                      </a:r>
                    </a:p>
                  </a:txBody>
                  <a:tcPr>
                    <a:solidFill>
                      <a:srgbClr val="F0F4F8"/>
                    </a:solidFill>
                  </a:tcPr>
                </a:tc>
              </a:tr>
              <a:tr h="415636">
                <a:tc>
                  <a:txBody>
                    <a:bodyPr/>
                    <a:lstStyle/>
                    <a:p>
                      <a:r>
                        <a:rPr sz="1600" b="1">
                          <a:solidFill>
                            <a:srgbClr val="102A43"/>
                          </a:solidFill>
                          <a:latin typeface="Calibri"/>
                        </a:rPr>
                        <a:t>1:10 – 1:20</a:t>
                      </a:r>
                    </a:p>
                  </a:txBody>
                  <a:tcPr>
                    <a:solidFill>
                      <a:srgbClr val="FDF3D7"/>
                    </a:solidFill>
                  </a:tcPr>
                </a:tc>
                <a:tc>
                  <a:txBody>
                    <a:bodyPr/>
                    <a:lstStyle/>
                    <a:p>
                      <a:r>
                        <a:rPr sz="1600" b="1">
                          <a:solidFill>
                            <a:srgbClr val="102A43"/>
                          </a:solidFill>
                          <a:latin typeface="Calibri"/>
                        </a:rPr>
                        <a:t>10 min</a:t>
                      </a:r>
                    </a:p>
                  </a:txBody>
                  <a:tcPr>
                    <a:solidFill>
                      <a:srgbClr val="FDF3D7"/>
                    </a:solidFill>
                  </a:tcPr>
                </a:tc>
                <a:tc>
                  <a:txBody>
                    <a:bodyPr/>
                    <a:lstStyle/>
                    <a:p>
                      <a:r>
                        <a:rPr sz="1600" b="1">
                          <a:solidFill>
                            <a:srgbClr val="102A43"/>
                          </a:solidFill>
                          <a:latin typeface="Calibri"/>
                        </a:rPr>
                        <a:t>Receso</a:t>
                      </a:r>
                    </a:p>
                  </a:txBody>
                  <a:tcPr>
                    <a:solidFill>
                      <a:srgbClr val="FDF3D7"/>
                    </a:solidFill>
                  </a:tcPr>
                </a:tc>
              </a:tr>
              <a:tr h="415636">
                <a:tc>
                  <a:txBody>
                    <a:bodyPr/>
                    <a:lstStyle/>
                    <a:p>
                      <a:r>
                        <a:rPr sz="1600" b="0">
                          <a:solidFill>
                            <a:srgbClr val="102A43"/>
                          </a:solidFill>
                          <a:latin typeface="Calibri"/>
                        </a:rPr>
                        <a:t>1:20 – 1:55</a:t>
                      </a:r>
                    </a:p>
                  </a:txBody>
                  <a:tcPr>
                    <a:solidFill>
                      <a:srgbClr val="F0F4F8"/>
                    </a:solidFill>
                  </a:tcPr>
                </a:tc>
                <a:tc>
                  <a:txBody>
                    <a:bodyPr/>
                    <a:lstStyle/>
                    <a:p>
                      <a:r>
                        <a:rPr sz="1600" b="0">
                          <a:solidFill>
                            <a:srgbClr val="102A43"/>
                          </a:solidFill>
                          <a:latin typeface="Calibri"/>
                        </a:rPr>
                        <a:t>35 min</a:t>
                      </a:r>
                    </a:p>
                  </a:txBody>
                  <a:tcPr>
                    <a:solidFill>
                      <a:srgbClr val="F0F4F8"/>
                    </a:solidFill>
                  </a:tcPr>
                </a:tc>
                <a:tc>
                  <a:txBody>
                    <a:bodyPr/>
                    <a:lstStyle/>
                    <a:p>
                      <a:r>
                        <a:rPr sz="1600" b="0">
                          <a:solidFill>
                            <a:srgbClr val="102A43"/>
                          </a:solidFill>
                          <a:latin typeface="Calibri"/>
                        </a:rPr>
                        <a:t>Irregularidades</a:t>
                      </a:r>
                    </a:p>
                  </a:txBody>
                  <a:tcPr>
                    <a:solidFill>
                      <a:srgbClr val="F0F4F8"/>
                    </a:solidFill>
                  </a:tcPr>
                </a:tc>
              </a:tr>
              <a:tr h="415636">
                <a:tc>
                  <a:txBody>
                    <a:bodyPr/>
                    <a:lstStyle/>
                    <a:p>
                      <a:r>
                        <a:rPr sz="1600" b="0">
                          <a:solidFill>
                            <a:srgbClr val="102A43"/>
                          </a:solidFill>
                          <a:latin typeface="Calibri"/>
                        </a:rPr>
                        <a:t>1:55 – 2:20</a:t>
                      </a:r>
                    </a:p>
                  </a:txBody>
                  <a:tcPr>
                    <a:solidFill>
                      <a:srgbClr val="FFFFFF"/>
                    </a:solidFill>
                  </a:tcPr>
                </a:tc>
                <a:tc>
                  <a:txBody>
                    <a:bodyPr/>
                    <a:lstStyle/>
                    <a:p>
                      <a:r>
                        <a:rPr sz="1600" b="0">
                          <a:solidFill>
                            <a:srgbClr val="102A43"/>
                          </a:solidFill>
                          <a:latin typeface="Calibri"/>
                        </a:rPr>
                        <a:t>25 min</a:t>
                      </a:r>
                    </a:p>
                  </a:txBody>
                  <a:tcPr>
                    <a:solidFill>
                      <a:srgbClr val="FFFFFF"/>
                    </a:solidFill>
                  </a:tcPr>
                </a:tc>
                <a:tc>
                  <a:txBody>
                    <a:bodyPr/>
                    <a:lstStyle/>
                    <a:p>
                      <a:r>
                        <a:rPr sz="1600" b="0">
                          <a:solidFill>
                            <a:srgbClr val="102A43"/>
                          </a:solidFill>
                          <a:latin typeface="Calibri"/>
                        </a:rPr>
                        <a:t>Sanciones, reclamos y apelaciones</a:t>
                      </a:r>
                    </a:p>
                  </a:txBody>
                  <a:tcPr>
                    <a:solidFill>
                      <a:srgbClr val="FFFFFF"/>
                    </a:solidFill>
                  </a:tcPr>
                </a:tc>
              </a:tr>
              <a:tr h="415636">
                <a:tc>
                  <a:txBody>
                    <a:bodyPr/>
                    <a:lstStyle/>
                    <a:p>
                      <a:r>
                        <a:rPr sz="1600" b="1">
                          <a:solidFill>
                            <a:srgbClr val="102A43"/>
                          </a:solidFill>
                          <a:latin typeface="Calibri"/>
                        </a:rPr>
                        <a:t>2:20 – 2:30</a:t>
                      </a:r>
                    </a:p>
                  </a:txBody>
                  <a:tcPr>
                    <a:solidFill>
                      <a:srgbClr val="FDF3D7"/>
                    </a:solidFill>
                  </a:tcPr>
                </a:tc>
                <a:tc>
                  <a:txBody>
                    <a:bodyPr/>
                    <a:lstStyle/>
                    <a:p>
                      <a:r>
                        <a:rPr sz="1600" b="1">
                          <a:solidFill>
                            <a:srgbClr val="102A43"/>
                          </a:solidFill>
                          <a:latin typeface="Calibri"/>
                        </a:rPr>
                        <a:t>10 min</a:t>
                      </a:r>
                    </a:p>
                  </a:txBody>
                  <a:tcPr>
                    <a:solidFill>
                      <a:srgbClr val="FDF3D7"/>
                    </a:solidFill>
                  </a:tcPr>
                </a:tc>
                <a:tc>
                  <a:txBody>
                    <a:bodyPr/>
                    <a:lstStyle/>
                    <a:p>
                      <a:r>
                        <a:rPr sz="1600" b="1">
                          <a:solidFill>
                            <a:srgbClr val="102A43"/>
                          </a:solidFill>
                          <a:latin typeface="Calibri"/>
                        </a:rPr>
                        <a:t>Receso</a:t>
                      </a:r>
                    </a:p>
                  </a:txBody>
                  <a:tcPr>
                    <a:solidFill>
                      <a:srgbClr val="FDF3D7"/>
                    </a:solidFill>
                  </a:tcPr>
                </a:tc>
              </a:tr>
              <a:tr h="415636">
                <a:tc>
                  <a:txBody>
                    <a:bodyPr/>
                    <a:lstStyle/>
                    <a:p>
                      <a:r>
                        <a:rPr sz="1600" b="0">
                          <a:solidFill>
                            <a:srgbClr val="102A43"/>
                          </a:solidFill>
                          <a:latin typeface="Calibri"/>
                        </a:rPr>
                        <a:t>2:30 – 3:15</a:t>
                      </a:r>
                    </a:p>
                  </a:txBody>
                  <a:tcPr>
                    <a:solidFill>
                      <a:srgbClr val="FFFFFF"/>
                    </a:solidFill>
                  </a:tcPr>
                </a:tc>
                <a:tc>
                  <a:txBody>
                    <a:bodyPr/>
                    <a:lstStyle/>
                    <a:p>
                      <a:r>
                        <a:rPr sz="1600" b="0">
                          <a:solidFill>
                            <a:srgbClr val="102A43"/>
                          </a:solidFill>
                          <a:latin typeface="Calibri"/>
                        </a:rPr>
                        <a:t>45 min</a:t>
                      </a:r>
                    </a:p>
                  </a:txBody>
                  <a:tcPr>
                    <a:solidFill>
                      <a:srgbClr val="FFFFFF"/>
                    </a:solidFill>
                  </a:tcPr>
                </a:tc>
                <a:tc>
                  <a:txBody>
                    <a:bodyPr/>
                    <a:lstStyle/>
                    <a:p>
                      <a:r>
                        <a:rPr sz="1600" b="0">
                          <a:solidFill>
                            <a:srgbClr val="102A43"/>
                          </a:solidFill>
                          <a:latin typeface="Calibri"/>
                        </a:rPr>
                        <a:t>Simulación de reclamos en salas de trabajo</a:t>
                      </a:r>
                    </a:p>
                  </a:txBody>
                  <a:tcPr>
                    <a:solidFill>
                      <a:srgbClr val="FFFFFF"/>
                    </a:solidFill>
                  </a:tcPr>
                </a:tc>
              </a:tr>
              <a:tr h="415636">
                <a:tc>
                  <a:txBody>
                    <a:bodyPr/>
                    <a:lstStyle/>
                    <a:p>
                      <a:r>
                        <a:rPr sz="1600" b="0">
                          <a:solidFill>
                            <a:srgbClr val="102A43"/>
                          </a:solidFill>
                          <a:latin typeface="Calibri"/>
                        </a:rPr>
                        <a:t>3:15 – 3:45</a:t>
                      </a:r>
                    </a:p>
                  </a:txBody>
                  <a:tcPr>
                    <a:solidFill>
                      <a:srgbClr val="F0F4F8"/>
                    </a:solidFill>
                  </a:tcPr>
                </a:tc>
                <a:tc>
                  <a:txBody>
                    <a:bodyPr/>
                    <a:lstStyle/>
                    <a:p>
                      <a:r>
                        <a:rPr sz="1600" b="0">
                          <a:solidFill>
                            <a:srgbClr val="102A43"/>
                          </a:solidFill>
                          <a:latin typeface="Calibri"/>
                        </a:rPr>
                        <a:t>30 min</a:t>
                      </a:r>
                    </a:p>
                  </a:txBody>
                  <a:tcPr>
                    <a:solidFill>
                      <a:srgbClr val="F0F4F8"/>
                    </a:solidFill>
                  </a:tcPr>
                </a:tc>
                <a:tc>
                  <a:txBody>
                    <a:bodyPr/>
                    <a:lstStyle/>
                    <a:p>
                      <a:r>
                        <a:rPr sz="1600" b="0">
                          <a:solidFill>
                            <a:srgbClr val="102A43"/>
                          </a:solidFill>
                          <a:latin typeface="Calibri"/>
                        </a:rPr>
                        <a:t>Quiz de la sesión y revisión</a:t>
                      </a:r>
                    </a:p>
                  </a:txBody>
                  <a:tcPr>
                    <a:solidFill>
                      <a:srgbClr val="F0F4F8"/>
                    </a:solidFill>
                  </a:tcPr>
                </a:tc>
              </a:tr>
              <a:tr h="415640">
                <a:tc>
                  <a:txBody>
                    <a:bodyPr/>
                    <a:lstStyle/>
                    <a:p>
                      <a:r>
                        <a:rPr sz="1600" b="0">
                          <a:solidFill>
                            <a:srgbClr val="102A43"/>
                          </a:solidFill>
                          <a:latin typeface="Calibri"/>
                        </a:rPr>
                        <a:t>3:45 – 4:00</a:t>
                      </a:r>
                    </a:p>
                  </a:txBody>
                  <a:tcPr>
                    <a:solidFill>
                      <a:srgbClr val="FFFFFF"/>
                    </a:solidFill>
                  </a:tcPr>
                </a:tc>
                <a:tc>
                  <a:txBody>
                    <a:bodyPr/>
                    <a:lstStyle/>
                    <a:p>
                      <a:r>
                        <a:rPr sz="1600" b="0">
                          <a:solidFill>
                            <a:srgbClr val="102A43"/>
                          </a:solidFill>
                          <a:latin typeface="Calibri"/>
                        </a:rPr>
                        <a:t>15 min</a:t>
                      </a:r>
                    </a:p>
                  </a:txBody>
                  <a:tcPr>
                    <a:solidFill>
                      <a:srgbClr val="FFFFFF"/>
                    </a:solidFill>
                  </a:tcPr>
                </a:tc>
                <a:tc>
                  <a:txBody>
                    <a:bodyPr/>
                    <a:lstStyle/>
                    <a:p>
                      <a:r>
                        <a:rPr sz="1600" b="0">
                          <a:solidFill>
                            <a:srgbClr val="102A43"/>
                          </a:solidFill>
                          <a:latin typeface="Calibri"/>
                        </a:rPr>
                        <a:t>Cierre</a:t>
                      </a:r>
                    </a:p>
                  </a:txBody>
                  <a:tcPr>
                    <a:solidFill>
                      <a:srgbClr val="FFFFFF"/>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317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77295" cy="777240"/>
          </a:xfrm>
          <a:prstGeom prst="rect">
            <a:avLst/>
          </a:prstGeom>
          <a:noFill/>
        </p:spPr>
        <p:txBody>
          <a:bodyPr wrap="square" lIns="45720" rIns="45720" anchor="ctr">
            <a:spAutoFit/>
          </a:bodyPr>
          <a:lstStyle/>
          <a:p>
            <a:pPr algn="ctr">
              <a:spcAft>
                <a:spcPts val="1530"/>
              </a:spcAft>
            </a:pPr>
            <a:r>
              <a:rPr sz="3400" b="1">
                <a:solidFill>
                  <a:srgbClr val="FFFFFF"/>
                </a:solidFill>
                <a:latin typeface="Calibri"/>
              </a:rPr>
              <a:t>Conducta y zona de juego</a:t>
            </a:r>
          </a:p>
        </p:txBody>
      </p:sp>
      <p:sp>
        <p:nvSpPr>
          <p:cNvPr id="4" name="TextBox 3"/>
          <p:cNvSpPr txBox="1"/>
          <p:nvPr/>
        </p:nvSpPr>
        <p:spPr>
          <a:xfrm>
            <a:off x="457200" y="6419088"/>
            <a:ext cx="10180015" cy="365760"/>
          </a:xfrm>
          <a:prstGeom prst="rect">
            <a:avLst/>
          </a:prstGeom>
          <a:noFill/>
        </p:spPr>
        <p:txBody>
          <a:bodyPr wrap="square" lIns="45720" rIns="45720">
            <a:spAutoFit/>
          </a:bodyPr>
          <a:lstStyle/>
          <a:p>
            <a:pPr>
              <a:spcAft>
                <a:spcPts val="540"/>
              </a:spcAft>
            </a:pPr>
            <a:r>
              <a:rPr sz="1200" b="0">
                <a:solidFill>
                  <a:srgbClr val="627D98"/>
                </a:solidFill>
                <a:latin typeface="Calibri"/>
              </a:rPr>
              <a:t>Fuente: Leyes del Ajedrez 2023 (Handbook E.I.01), art. 11.1 a 11.5 y 12.7</a:t>
            </a:r>
          </a:p>
        </p:txBody>
      </p:sp>
      <p:sp>
        <p:nvSpPr>
          <p:cNvPr id="5" name="TextBox 4"/>
          <p:cNvSpPr txBox="1"/>
          <p:nvPr/>
        </p:nvSpPr>
        <p:spPr>
          <a:xfrm>
            <a:off x="10728655" y="6419088"/>
            <a:ext cx="1097280" cy="365760"/>
          </a:xfrm>
          <a:prstGeom prst="rect">
            <a:avLst/>
          </a:prstGeom>
          <a:noFill/>
        </p:spPr>
        <p:txBody>
          <a:bodyPr wrap="square" lIns="45720" rIns="45720">
            <a:spAutoFit/>
          </a:bodyPr>
          <a:lstStyle/>
          <a:p>
            <a:pPr algn="ctr">
              <a:spcAft>
                <a:spcPts val="540"/>
              </a:spcAft>
            </a:pPr>
            <a:r>
              <a:rPr sz="1200" b="0">
                <a:solidFill>
                  <a:srgbClr val="627D98"/>
                </a:solidFill>
                <a:latin typeface="Calibri"/>
              </a:rPr>
              <a:t>4</a:t>
            </a:r>
          </a:p>
        </p:txBody>
      </p:sp>
      <p:sp>
        <p:nvSpPr>
          <p:cNvPr id="6" name="Rectangle 5"/>
          <p:cNvSpPr/>
          <p:nvPr/>
        </p:nvSpPr>
        <p:spPr>
          <a:xfrm>
            <a:off x="457200" y="1280160"/>
            <a:ext cx="11277295" cy="489204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417319"/>
            <a:ext cx="10637215" cy="4617720"/>
          </a:xfrm>
          <a:prstGeom prst="rect">
            <a:avLst/>
          </a:prstGeom>
          <a:noFill/>
        </p:spPr>
        <p:txBody>
          <a:bodyPr wrap="square" lIns="45720" rIns="45720">
            <a:spAutoFit/>
          </a:bodyPr>
          <a:lstStyle/>
          <a:p>
            <a:pPr>
              <a:spcAft>
                <a:spcPts val="990"/>
              </a:spcAft>
            </a:pPr>
            <a:r>
              <a:rPr sz="2200" b="0">
                <a:solidFill>
                  <a:srgbClr val="3172AC"/>
                </a:solidFill>
                <a:latin typeface="Calibri"/>
              </a:rPr>
              <a:t>Las Leyes abren el capítulo de conducta con una obligación general: los jugadores no deben desprestigiar el juego. Esa cláusula permite actuar ante conductas que ningún artículo previó.</a:t>
            </a:r>
          </a:p>
          <a:p>
            <a:pPr>
              <a:spcAft>
                <a:spcPts val="990"/>
              </a:spcAft>
            </a:pPr>
            <a:r>
              <a:rPr sz="2200" b="0">
                <a:solidFill>
                  <a:srgbClr val="102A43"/>
                </a:solidFill>
                <a:latin typeface="Calibri"/>
              </a:rPr>
              <a:t>•  Para salir de la sala de juego se necesita permiso del árbitro; la zona de juego (sala, baños, zona de descanso) no se abandona sin autorización.</a:t>
            </a:r>
          </a:p>
          <a:p>
            <a:pPr>
              <a:spcAft>
                <a:spcPts val="990"/>
              </a:spcAft>
            </a:pPr>
            <a:r>
              <a:rPr sz="2200" b="0">
                <a:solidFill>
                  <a:srgbClr val="102A43"/>
                </a:solidFill>
                <a:latin typeface="Calibri"/>
              </a:rPr>
              <a:t>•  Durante la partida está prohibido usar notas, fuentes de información o consejos, y analizar en otro tablero.</a:t>
            </a:r>
          </a:p>
          <a:p>
            <a:pPr>
              <a:spcAft>
                <a:spcPts val="990"/>
              </a:spcAft>
            </a:pPr>
            <a:r>
              <a:rPr sz="2200" b="0">
                <a:solidFill>
                  <a:srgbClr val="102A43"/>
                </a:solidFill>
                <a:latin typeface="Calibri"/>
              </a:rPr>
              <a:t>•  Quien terminó su partida pasa a ser espectador: no puede analizar en la sala ni interferir con otras mesas.</a:t>
            </a:r>
          </a:p>
          <a:p>
            <a:pPr>
              <a:spcAft>
                <a:spcPts val="990"/>
              </a:spcAft>
            </a:pPr>
            <a:r>
              <a:rPr sz="2200" b="0">
                <a:solidFill>
                  <a:srgbClr val="102A43"/>
                </a:solidFill>
                <a:latin typeface="Calibri"/>
              </a:rPr>
              <a:t>•  Está prohibido distraer o molestar al rival, por ejemplo con ofertas de tablas repetidas.</a:t>
            </a:r>
          </a:p>
          <a:p>
            <a:pPr>
              <a:spcAft>
                <a:spcPts val="990"/>
              </a:spcAft>
            </a:pPr>
            <a:r>
              <a:rPr sz="2200" b="0">
                <a:solidFill>
                  <a:srgbClr val="102A43"/>
                </a:solidFill>
                <a:latin typeface="Calibri"/>
              </a:rPr>
              <a:t>•  Nadie puede comentar una partida que todavía se está jugando.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317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77295" cy="777240"/>
          </a:xfrm>
          <a:prstGeom prst="rect">
            <a:avLst/>
          </a:prstGeom>
          <a:noFill/>
        </p:spPr>
        <p:txBody>
          <a:bodyPr wrap="square" lIns="45720" rIns="45720" anchor="ctr">
            <a:spAutoFit/>
          </a:bodyPr>
          <a:lstStyle/>
          <a:p>
            <a:pPr algn="ctr">
              <a:spcAft>
                <a:spcPts val="1530"/>
              </a:spcAft>
            </a:pPr>
            <a:r>
              <a:rPr sz="3400" b="1">
                <a:solidFill>
                  <a:srgbClr val="FFFFFF"/>
                </a:solidFill>
                <a:latin typeface="Calibri"/>
              </a:rPr>
              <a:t>Dispositivos electrónicos</a:t>
            </a:r>
          </a:p>
        </p:txBody>
      </p:sp>
      <p:sp>
        <p:nvSpPr>
          <p:cNvPr id="4" name="TextBox 3"/>
          <p:cNvSpPr txBox="1"/>
          <p:nvPr/>
        </p:nvSpPr>
        <p:spPr>
          <a:xfrm>
            <a:off x="457200" y="6419088"/>
            <a:ext cx="10180015" cy="365760"/>
          </a:xfrm>
          <a:prstGeom prst="rect">
            <a:avLst/>
          </a:prstGeom>
          <a:noFill/>
        </p:spPr>
        <p:txBody>
          <a:bodyPr wrap="square" lIns="45720" rIns="45720">
            <a:spAutoFit/>
          </a:bodyPr>
          <a:lstStyle/>
          <a:p>
            <a:pPr>
              <a:spcAft>
                <a:spcPts val="540"/>
              </a:spcAft>
            </a:pPr>
            <a:r>
              <a:rPr sz="1200" b="0">
                <a:solidFill>
                  <a:srgbClr val="627D98"/>
                </a:solidFill>
                <a:latin typeface="Calibri"/>
              </a:rPr>
              <a:t>Fuente: Leyes del Ajedrez 2023 (Handbook E.I.01), art. 11.3.2, 11.3.3 y 12.8</a:t>
            </a:r>
          </a:p>
        </p:txBody>
      </p:sp>
      <p:sp>
        <p:nvSpPr>
          <p:cNvPr id="5" name="TextBox 4"/>
          <p:cNvSpPr txBox="1"/>
          <p:nvPr/>
        </p:nvSpPr>
        <p:spPr>
          <a:xfrm>
            <a:off x="10728655" y="6419088"/>
            <a:ext cx="1097280" cy="365760"/>
          </a:xfrm>
          <a:prstGeom prst="rect">
            <a:avLst/>
          </a:prstGeom>
          <a:noFill/>
        </p:spPr>
        <p:txBody>
          <a:bodyPr wrap="square" lIns="45720" rIns="45720">
            <a:spAutoFit/>
          </a:bodyPr>
          <a:lstStyle/>
          <a:p>
            <a:pPr algn="ctr">
              <a:spcAft>
                <a:spcPts val="540"/>
              </a:spcAft>
            </a:pPr>
            <a:r>
              <a:rPr sz="1200" b="0">
                <a:solidFill>
                  <a:srgbClr val="627D98"/>
                </a:solidFill>
                <a:latin typeface="Calibri"/>
              </a:rPr>
              <a:t>5</a:t>
            </a:r>
          </a:p>
        </p:txBody>
      </p:sp>
      <p:sp>
        <p:nvSpPr>
          <p:cNvPr id="6" name="Rectangle 5"/>
          <p:cNvSpPr/>
          <p:nvPr/>
        </p:nvSpPr>
        <p:spPr>
          <a:xfrm>
            <a:off x="457200" y="1280160"/>
            <a:ext cx="11277295" cy="489204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417319"/>
            <a:ext cx="10637215" cy="4617720"/>
          </a:xfrm>
          <a:prstGeom prst="rect">
            <a:avLst/>
          </a:prstGeom>
          <a:noFill/>
        </p:spPr>
        <p:txBody>
          <a:bodyPr wrap="square" lIns="45720" rIns="45720">
            <a:spAutoFit/>
          </a:bodyPr>
          <a:lstStyle/>
          <a:p>
            <a:pPr>
              <a:spcAft>
                <a:spcPts val="990"/>
              </a:spcAft>
            </a:pPr>
            <a:r>
              <a:rPr sz="2200" b="0">
                <a:solidFill>
                  <a:srgbClr val="3172AC"/>
                </a:solidFill>
                <a:latin typeface="Calibri"/>
              </a:rPr>
              <a:t>Por regla general, un jugador no puede tener encima un dispositivo electrónico no autorizado en la zona de juego. Lo que se prohíbe es tenerlo, no que suene: apagado cuenta igual. Si lo tiene, pierde la partida, salvo que el reglamento del torneo prevea una sanción menos severa.</a:t>
            </a:r>
          </a:p>
          <a:p>
            <a:pPr>
              <a:spcAft>
                <a:spcPts val="990"/>
              </a:spcAft>
            </a:pPr>
            <a:r>
              <a:rPr sz="2200" b="0">
                <a:solidFill>
                  <a:srgbClr val="102A43"/>
                </a:solidFill>
                <a:latin typeface="Calibri"/>
              </a:rPr>
              <a:t>•  El reglamento puede permitir guardarlo en el bolso completamente apagado, en el lugar que acuerde el árbitro.</a:t>
            </a:r>
          </a:p>
          <a:p>
            <a:pPr>
              <a:spcAft>
                <a:spcPts val="990"/>
              </a:spcAft>
            </a:pPr>
            <a:r>
              <a:rPr sz="2200" b="0">
                <a:solidFill>
                  <a:srgbClr val="102A43"/>
                </a:solidFill>
                <a:latin typeface="Calibri"/>
              </a:rPr>
              <a:t>•  Ante una sospecha, el árbitro puede pedir revisar ropa, bolsos y persona, siempre en privado.</a:t>
            </a:r>
          </a:p>
          <a:p>
            <a:pPr>
              <a:spcAft>
                <a:spcPts val="990"/>
              </a:spcAft>
            </a:pPr>
            <a:r>
              <a:rPr sz="2200" b="0">
                <a:solidFill>
                  <a:srgbClr val="102A43"/>
                </a:solidFill>
                <a:latin typeface="Calibri"/>
              </a:rPr>
              <a:t>•  Salvo autorización del árbitro, nadie puede usar el celular en la sala ni en las zonas contiguas que el árbitro designe.</a:t>
            </a:r>
          </a:p>
          <a:p>
            <a:pPr>
              <a:spcAft>
                <a:spcPts val="990"/>
              </a:spcAft>
            </a:pPr>
            <a:r>
              <a:rPr sz="2200" b="0">
                <a:solidFill>
                  <a:srgbClr val="102A43"/>
                </a:solidFill>
                <a:latin typeface="Calibri"/>
              </a:rPr>
              <a:t>•  En torneos escolares conviene anunciar en la charla técnica dónde se dejan los teléfonos.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317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77295" cy="777240"/>
          </a:xfrm>
          <a:prstGeom prst="rect">
            <a:avLst/>
          </a:prstGeom>
          <a:noFill/>
        </p:spPr>
        <p:txBody>
          <a:bodyPr wrap="square" lIns="45720" rIns="45720" anchor="ctr">
            <a:spAutoFit/>
          </a:bodyPr>
          <a:lstStyle/>
          <a:p>
            <a:pPr algn="ctr">
              <a:spcAft>
                <a:spcPts val="1530"/>
              </a:spcAft>
            </a:pPr>
            <a:r>
              <a:rPr sz="3400" b="1">
                <a:solidFill>
                  <a:srgbClr val="FFFFFF"/>
                </a:solidFill>
                <a:latin typeface="Calibri"/>
              </a:rPr>
              <a:t>Irregularidades: jugada ilegal y piezas desplazadas</a:t>
            </a:r>
          </a:p>
        </p:txBody>
      </p:sp>
      <p:sp>
        <p:nvSpPr>
          <p:cNvPr id="4" name="TextBox 3"/>
          <p:cNvSpPr txBox="1"/>
          <p:nvPr/>
        </p:nvSpPr>
        <p:spPr>
          <a:xfrm>
            <a:off x="457200" y="6419088"/>
            <a:ext cx="10180015" cy="365760"/>
          </a:xfrm>
          <a:prstGeom prst="rect">
            <a:avLst/>
          </a:prstGeom>
          <a:noFill/>
        </p:spPr>
        <p:txBody>
          <a:bodyPr wrap="square" lIns="45720" rIns="45720">
            <a:spAutoFit/>
          </a:bodyPr>
          <a:lstStyle/>
          <a:p>
            <a:pPr>
              <a:spcAft>
                <a:spcPts val="540"/>
              </a:spcAft>
            </a:pPr>
            <a:r>
              <a:rPr sz="1200" b="0">
                <a:solidFill>
                  <a:srgbClr val="627D98"/>
                </a:solidFill>
                <a:latin typeface="Calibri"/>
              </a:rPr>
              <a:t>Fuente: Leyes del Ajedrez 2023 (Handbook E.I.01), art. 7.1, 7.4, 7.5.1, 7.5.5 y apéndice A.3</a:t>
            </a:r>
          </a:p>
        </p:txBody>
      </p:sp>
      <p:sp>
        <p:nvSpPr>
          <p:cNvPr id="5" name="TextBox 4"/>
          <p:cNvSpPr txBox="1"/>
          <p:nvPr/>
        </p:nvSpPr>
        <p:spPr>
          <a:xfrm>
            <a:off x="10728655" y="6419088"/>
            <a:ext cx="1097280" cy="365760"/>
          </a:xfrm>
          <a:prstGeom prst="rect">
            <a:avLst/>
          </a:prstGeom>
          <a:noFill/>
        </p:spPr>
        <p:txBody>
          <a:bodyPr wrap="square" lIns="45720" rIns="45720">
            <a:spAutoFit/>
          </a:bodyPr>
          <a:lstStyle/>
          <a:p>
            <a:pPr algn="ctr">
              <a:spcAft>
                <a:spcPts val="540"/>
              </a:spcAft>
            </a:pPr>
            <a:r>
              <a:rPr sz="1200" b="0">
                <a:solidFill>
                  <a:srgbClr val="627D98"/>
                </a:solidFill>
                <a:latin typeface="Calibri"/>
              </a:rPr>
              <a:t>6</a:t>
            </a:r>
          </a:p>
        </p:txBody>
      </p:sp>
      <p:sp>
        <p:nvSpPr>
          <p:cNvPr id="6" name="Rectangle 5"/>
          <p:cNvSpPr/>
          <p:nvPr/>
        </p:nvSpPr>
        <p:spPr>
          <a:xfrm>
            <a:off x="457200" y="1280160"/>
            <a:ext cx="11277295" cy="489204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417319"/>
            <a:ext cx="10637215" cy="4617720"/>
          </a:xfrm>
          <a:prstGeom prst="rect">
            <a:avLst/>
          </a:prstGeom>
          <a:noFill/>
        </p:spPr>
        <p:txBody>
          <a:bodyPr wrap="square" lIns="45720" rIns="45720">
            <a:spAutoFit/>
          </a:bodyPr>
          <a:lstStyle/>
          <a:p>
            <a:pPr>
              <a:spcAft>
                <a:spcPts val="1170"/>
              </a:spcAft>
            </a:pPr>
            <a:r>
              <a:rPr sz="2600" b="0">
                <a:solidFill>
                  <a:srgbClr val="3172AC"/>
                </a:solidFill>
                <a:latin typeface="Calibri"/>
              </a:rPr>
              <a:t>Una jugada ilegal queda completada cuando el jugador puso en marcha el reloj del rival. Mientras no lo haya presionado, puede corregirla sin sanción, aunque la pieza tocada lo sigue obligando. Si ya la completó, se repone la posición inmediatamente anterior y se aplica la sanción.</a:t>
            </a:r>
          </a:p>
          <a:p>
            <a:pPr>
              <a:spcAft>
                <a:spcPts val="1170"/>
              </a:spcAft>
            </a:pPr>
            <a:r>
              <a:rPr sz="2600" b="0">
                <a:solidFill>
                  <a:srgbClr val="102A43"/>
                </a:solidFill>
                <a:latin typeface="Calibri"/>
              </a:rPr>
              <a:t>•  Primera jugada ilegal completada en ritmo clásico: dos minutos más para el rival. En rápidas y relámpago: un minuto.</a:t>
            </a:r>
          </a:p>
          <a:p>
            <a:pPr>
              <a:spcAft>
                <a:spcPts val="1170"/>
              </a:spcAft>
            </a:pPr>
            <a:r>
              <a:rPr sz="2600" b="0">
                <a:solidFill>
                  <a:srgbClr val="102A43"/>
                </a:solidFill>
                <a:latin typeface="Calibri"/>
              </a:rPr>
              <a:t>•  Segunda jugada ilegal del mismo jugador: pierde la partida, salvo que el rival no pueda dar mate por ninguna serie de jugadas legales (tablas).</a:t>
            </a:r>
          </a:p>
          <a:p>
            <a:pPr>
              <a:spcAft>
                <a:spcPts val="1170"/>
              </a:spcAft>
            </a:pPr>
            <a:r>
              <a:rPr sz="2600" b="0">
                <a:solidFill>
                  <a:srgbClr val="102A43"/>
                </a:solidFill>
                <a:latin typeface="Calibri"/>
              </a:rPr>
              <a:t>•  Si no se puede reconstruir la posición anterior, se sigue desde la última posición identificable.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317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77295" cy="777240"/>
          </a:xfrm>
          <a:prstGeom prst="rect">
            <a:avLst/>
          </a:prstGeom>
          <a:noFill/>
        </p:spPr>
        <p:txBody>
          <a:bodyPr wrap="square" lIns="45720" rIns="45720" anchor="ctr">
            <a:spAutoFit/>
          </a:bodyPr>
          <a:lstStyle/>
          <a:p>
            <a:pPr algn="ctr">
              <a:spcAft>
                <a:spcPts val="1485"/>
              </a:spcAft>
            </a:pPr>
            <a:r>
              <a:rPr sz="3300" b="1">
                <a:solidFill>
                  <a:srgbClr val="FFFFFF"/>
                </a:solidFill>
                <a:latin typeface="Calibri"/>
              </a:rPr>
              <a:t>Irregularidades: jugada ilegal y piezas desplazadas (continuación)</a:t>
            </a:r>
          </a:p>
        </p:txBody>
      </p:sp>
      <p:sp>
        <p:nvSpPr>
          <p:cNvPr id="4" name="TextBox 3"/>
          <p:cNvSpPr txBox="1"/>
          <p:nvPr/>
        </p:nvSpPr>
        <p:spPr>
          <a:xfrm>
            <a:off x="457200" y="6419088"/>
            <a:ext cx="10180015" cy="365760"/>
          </a:xfrm>
          <a:prstGeom prst="rect">
            <a:avLst/>
          </a:prstGeom>
          <a:noFill/>
        </p:spPr>
        <p:txBody>
          <a:bodyPr wrap="square" lIns="45720" rIns="45720">
            <a:spAutoFit/>
          </a:bodyPr>
          <a:lstStyle/>
          <a:p>
            <a:pPr>
              <a:spcAft>
                <a:spcPts val="540"/>
              </a:spcAft>
            </a:pPr>
            <a:r>
              <a:rPr sz="1200" b="0">
                <a:solidFill>
                  <a:srgbClr val="627D98"/>
                </a:solidFill>
                <a:latin typeface="Calibri"/>
              </a:rPr>
              <a:t>Fuente: Leyes del Ajedrez 2023 (Handbook E.I.01), art. 7.1, 7.4, 7.5.1, 7.5.5 y apéndice A.3</a:t>
            </a:r>
          </a:p>
        </p:txBody>
      </p:sp>
      <p:sp>
        <p:nvSpPr>
          <p:cNvPr id="5" name="TextBox 4"/>
          <p:cNvSpPr txBox="1"/>
          <p:nvPr/>
        </p:nvSpPr>
        <p:spPr>
          <a:xfrm>
            <a:off x="10728655" y="6419088"/>
            <a:ext cx="1097280" cy="365760"/>
          </a:xfrm>
          <a:prstGeom prst="rect">
            <a:avLst/>
          </a:prstGeom>
          <a:noFill/>
        </p:spPr>
        <p:txBody>
          <a:bodyPr wrap="square" lIns="45720" rIns="45720">
            <a:spAutoFit/>
          </a:bodyPr>
          <a:lstStyle/>
          <a:p>
            <a:pPr algn="ctr">
              <a:spcAft>
                <a:spcPts val="540"/>
              </a:spcAft>
            </a:pPr>
            <a:r>
              <a:rPr sz="1200" b="0">
                <a:solidFill>
                  <a:srgbClr val="627D98"/>
                </a:solidFill>
                <a:latin typeface="Calibri"/>
              </a:rPr>
              <a:t>7</a:t>
            </a:r>
          </a:p>
        </p:txBody>
      </p:sp>
      <p:sp>
        <p:nvSpPr>
          <p:cNvPr id="6" name="Rectangle 5"/>
          <p:cNvSpPr/>
          <p:nvPr/>
        </p:nvSpPr>
        <p:spPr>
          <a:xfrm>
            <a:off x="457200" y="1280160"/>
            <a:ext cx="11277295" cy="489204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417319"/>
            <a:ext cx="10637215" cy="4617720"/>
          </a:xfrm>
          <a:prstGeom prst="rect">
            <a:avLst/>
          </a:prstGeom>
          <a:noFill/>
        </p:spPr>
        <p:txBody>
          <a:bodyPr wrap="square" lIns="45720" rIns="45720">
            <a:spAutoFit/>
          </a:bodyPr>
          <a:lstStyle/>
          <a:p>
            <a:pPr>
              <a:spcAft>
                <a:spcPts val="1350"/>
              </a:spcAft>
            </a:pPr>
            <a:r>
              <a:rPr sz="3000" b="0">
                <a:solidFill>
                  <a:srgbClr val="102A43"/>
                </a:solidFill>
                <a:latin typeface="Calibri"/>
              </a:rPr>
              <a:t>•  Quien vuelca piezas las repone con su propio tiempo; el árbitro puede sancionarlo, pero no está obligado.</a:t>
            </a:r>
          </a:p>
          <a:p>
            <a:pPr>
              <a:spcAft>
                <a:spcPts val="1350"/>
              </a:spcAft>
            </a:pPr>
            <a:r>
              <a:rPr sz="3000" b="0">
                <a:solidFill>
                  <a:srgbClr val="102A43"/>
                </a:solidFill>
                <a:latin typeface="Calibri"/>
              </a:rPr>
              <a:t>•  El árbitro fija los tiempos del reloj con su criterio y puede ajustar el contador de jugadas.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728655" y="6419088"/>
            <a:ext cx="1097280" cy="365760"/>
          </a:xfrm>
          <a:prstGeom prst="rect">
            <a:avLst/>
          </a:prstGeom>
          <a:noFill/>
        </p:spPr>
        <p:txBody>
          <a:bodyPr wrap="square" lIns="45720" rIns="45720">
            <a:spAutoFit/>
          </a:bodyPr>
          <a:lstStyle/>
          <a:p>
            <a:pPr algn="ctr">
              <a:spcAft>
                <a:spcPts val="540"/>
              </a:spcAft>
            </a:pPr>
            <a:r>
              <a:rPr sz="1200" b="0">
                <a:solidFill>
                  <a:srgbClr val="9FB3C8"/>
                </a:solidFill>
                <a:latin typeface="Calibri"/>
              </a:rPr>
              <a:t>8</a:t>
            </a:r>
          </a:p>
        </p:txBody>
      </p:sp>
      <p:sp>
        <p:nvSpPr>
          <p:cNvPr id="4" name="TextBox 3"/>
          <p:cNvSpPr txBox="1"/>
          <p:nvPr/>
        </p:nvSpPr>
        <p:spPr>
          <a:xfrm>
            <a:off x="457200" y="2103120"/>
            <a:ext cx="11277295" cy="1280160"/>
          </a:xfrm>
          <a:prstGeom prst="rect">
            <a:avLst/>
          </a:prstGeom>
          <a:noFill/>
        </p:spPr>
        <p:txBody>
          <a:bodyPr wrap="square" lIns="45720" rIns="45720">
            <a:spAutoFit/>
          </a:bodyPr>
          <a:lstStyle/>
          <a:p>
            <a:pPr algn="ctr">
              <a:spcAft>
                <a:spcPts val="3240"/>
              </a:spcAft>
            </a:pPr>
            <a:r>
              <a:rPr sz="7200" b="1">
                <a:solidFill>
                  <a:srgbClr val="FFFFFF"/>
                </a:solidFill>
                <a:latin typeface="Calibri"/>
              </a:rPr>
              <a:t>Receso</a:t>
            </a:r>
          </a:p>
        </p:txBody>
      </p:sp>
      <p:sp>
        <p:nvSpPr>
          <p:cNvPr id="5" name="TextBox 4"/>
          <p:cNvSpPr txBox="1"/>
          <p:nvPr/>
        </p:nvSpPr>
        <p:spPr>
          <a:xfrm>
            <a:off x="457200" y="3566160"/>
            <a:ext cx="11277295" cy="1097280"/>
          </a:xfrm>
          <a:prstGeom prst="rect">
            <a:avLst/>
          </a:prstGeom>
          <a:noFill/>
        </p:spPr>
        <p:txBody>
          <a:bodyPr wrap="square" lIns="45720" rIns="45720">
            <a:spAutoFit/>
          </a:bodyPr>
          <a:lstStyle/>
          <a:p>
            <a:pPr algn="ctr">
              <a:spcAft>
                <a:spcPts val="1260"/>
              </a:spcAft>
            </a:pPr>
            <a:r>
              <a:rPr sz="2800" b="0">
                <a:solidFill>
                  <a:srgbClr val="CADCFC"/>
                </a:solidFill>
                <a:latin typeface="Calibri"/>
              </a:rPr>
              <a:t>10 minutos</a:t>
            </a:r>
          </a:p>
          <a:p>
            <a:pPr algn="ctr">
              <a:spcAft>
                <a:spcPts val="1260"/>
              </a:spcAft>
            </a:pPr>
            <a:r>
              <a:rPr sz="2800" b="0">
                <a:solidFill>
                  <a:srgbClr val="CADCFC"/>
                </a:solidFill>
                <a:latin typeface="Calibri"/>
              </a:rPr>
              <a:t>Pausa los relojes: seguimos en breve.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317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77295" cy="777240"/>
          </a:xfrm>
          <a:prstGeom prst="rect">
            <a:avLst/>
          </a:prstGeom>
          <a:noFill/>
        </p:spPr>
        <p:txBody>
          <a:bodyPr wrap="square" lIns="45720" rIns="45720" anchor="ctr">
            <a:spAutoFit/>
          </a:bodyPr>
          <a:lstStyle/>
          <a:p>
            <a:pPr algn="ctr">
              <a:spcAft>
                <a:spcPts val="1530"/>
              </a:spcAft>
            </a:pPr>
            <a:r>
              <a:rPr sz="3400" b="1">
                <a:solidFill>
                  <a:srgbClr val="FFFFFF"/>
                </a:solidFill>
                <a:latin typeface="Calibri"/>
              </a:rPr>
              <a:t>Sanciones: de menor a mayor</a:t>
            </a:r>
          </a:p>
        </p:txBody>
      </p:sp>
      <p:sp>
        <p:nvSpPr>
          <p:cNvPr id="4" name="TextBox 3"/>
          <p:cNvSpPr txBox="1"/>
          <p:nvPr/>
        </p:nvSpPr>
        <p:spPr>
          <a:xfrm>
            <a:off x="457200" y="6419088"/>
            <a:ext cx="10180015" cy="365760"/>
          </a:xfrm>
          <a:prstGeom prst="rect">
            <a:avLst/>
          </a:prstGeom>
          <a:noFill/>
        </p:spPr>
        <p:txBody>
          <a:bodyPr wrap="square" lIns="45720" rIns="45720">
            <a:spAutoFit/>
          </a:bodyPr>
          <a:lstStyle/>
          <a:p>
            <a:pPr>
              <a:spcAft>
                <a:spcPts val="540"/>
              </a:spcAft>
            </a:pPr>
            <a:r>
              <a:rPr sz="1200" b="0">
                <a:solidFill>
                  <a:srgbClr val="627D98"/>
                </a:solidFill>
                <a:latin typeface="Calibri"/>
              </a:rPr>
              <a:t>Fuente: Leyes del Ajedrez 2023 (Handbook E.I.01), art. 11.6 y 12.9</a:t>
            </a:r>
          </a:p>
        </p:txBody>
      </p:sp>
      <p:sp>
        <p:nvSpPr>
          <p:cNvPr id="5" name="TextBox 4"/>
          <p:cNvSpPr txBox="1"/>
          <p:nvPr/>
        </p:nvSpPr>
        <p:spPr>
          <a:xfrm>
            <a:off x="10728655" y="6419088"/>
            <a:ext cx="1097280" cy="365760"/>
          </a:xfrm>
          <a:prstGeom prst="rect">
            <a:avLst/>
          </a:prstGeom>
          <a:noFill/>
        </p:spPr>
        <p:txBody>
          <a:bodyPr wrap="square" lIns="45720" rIns="45720">
            <a:spAutoFit/>
          </a:bodyPr>
          <a:lstStyle/>
          <a:p>
            <a:pPr algn="ctr">
              <a:spcAft>
                <a:spcPts val="540"/>
              </a:spcAft>
            </a:pPr>
            <a:r>
              <a:rPr sz="1200" b="0">
                <a:solidFill>
                  <a:srgbClr val="627D98"/>
                </a:solidFill>
                <a:latin typeface="Calibri"/>
              </a:rPr>
              <a:t>9</a:t>
            </a:r>
          </a:p>
        </p:txBody>
      </p:sp>
      <p:sp>
        <p:nvSpPr>
          <p:cNvPr id="6" name="Rectangle 5"/>
          <p:cNvSpPr/>
          <p:nvPr/>
        </p:nvSpPr>
        <p:spPr>
          <a:xfrm>
            <a:off x="457200" y="1280160"/>
            <a:ext cx="11277295" cy="489204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417319"/>
            <a:ext cx="10637215" cy="4617720"/>
          </a:xfrm>
          <a:prstGeom prst="rect">
            <a:avLst/>
          </a:prstGeom>
          <a:noFill/>
        </p:spPr>
        <p:txBody>
          <a:bodyPr wrap="square" lIns="45720" rIns="45720">
            <a:spAutoFit/>
          </a:bodyPr>
          <a:lstStyle/>
          <a:p>
            <a:pPr>
              <a:spcAft>
                <a:spcPts val="1170"/>
              </a:spcAft>
            </a:pPr>
            <a:r>
              <a:rPr sz="2600" b="0">
                <a:solidFill>
                  <a:srgbClr val="3172AC"/>
                </a:solidFill>
                <a:latin typeface="Calibri"/>
              </a:rPr>
              <a:t>El art. 12.9 enumera las sanciones que puede aplicar el árbitro, ordenadas de la más suave a la más dura. Se elige la proporcionada: aplicar la más severa a una falta menor es tan mal arbitraje como no sancionar.</a:t>
            </a:r>
          </a:p>
          <a:p>
            <a:pPr>
              <a:spcAft>
                <a:spcPts val="1170"/>
              </a:spcAft>
            </a:pPr>
            <a:r>
              <a:rPr sz="2600" b="0">
                <a:solidFill>
                  <a:srgbClr val="102A43"/>
                </a:solidFill>
                <a:latin typeface="Calibri"/>
              </a:rPr>
              <a:t>•  Advertencia.</a:t>
            </a:r>
          </a:p>
          <a:p>
            <a:pPr>
              <a:spcAft>
                <a:spcPts val="1170"/>
              </a:spcAft>
            </a:pPr>
            <a:r>
              <a:rPr sz="2600" b="0">
                <a:solidFill>
                  <a:srgbClr val="102A43"/>
                </a:solidFill>
                <a:latin typeface="Calibri"/>
              </a:rPr>
              <a:t>•  Aumentar el tiempo del rival o reducir el del infractor.</a:t>
            </a:r>
          </a:p>
          <a:p>
            <a:pPr>
              <a:spcAft>
                <a:spcPts val="1170"/>
              </a:spcAft>
            </a:pPr>
            <a:r>
              <a:rPr sz="2600" b="0">
                <a:solidFill>
                  <a:srgbClr val="102A43"/>
                </a:solidFill>
                <a:latin typeface="Calibri"/>
              </a:rPr>
              <a:t>•  Reducir los puntos obtenidos en la partida o aumentar los del rival.</a:t>
            </a:r>
          </a:p>
          <a:p>
            <a:pPr>
              <a:spcAft>
                <a:spcPts val="1170"/>
              </a:spcAft>
            </a:pPr>
            <a:r>
              <a:rPr sz="2600" b="0">
                <a:solidFill>
                  <a:srgbClr val="102A43"/>
                </a:solidFill>
                <a:latin typeface="Calibri"/>
              </a:rPr>
              <a:t>•  Declarar perdida la partida.</a:t>
            </a:r>
          </a:p>
          <a:p>
            <a:pPr>
              <a:spcAft>
                <a:spcPts val="1170"/>
              </a:spcAft>
            </a:pPr>
            <a:r>
              <a:rPr sz="2600" b="0">
                <a:solidFill>
                  <a:srgbClr val="102A43"/>
                </a:solidFill>
                <a:latin typeface="Calibri"/>
              </a:rPr>
              <a:t>•  Multa anunciada de antemano, exclusión de una o más rondas o expulsión de la competición.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317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77295" cy="777240"/>
          </a:xfrm>
          <a:prstGeom prst="rect">
            <a:avLst/>
          </a:prstGeom>
          <a:noFill/>
        </p:spPr>
        <p:txBody>
          <a:bodyPr wrap="square" lIns="45720" rIns="45720" anchor="ctr">
            <a:spAutoFit/>
          </a:bodyPr>
          <a:lstStyle/>
          <a:p>
            <a:pPr algn="ctr">
              <a:spcAft>
                <a:spcPts val="1530"/>
              </a:spcAft>
            </a:pPr>
            <a:r>
              <a:rPr sz="3400" b="1">
                <a:solidFill>
                  <a:srgbClr val="FFFFFF"/>
                </a:solidFill>
                <a:latin typeface="Calibri"/>
              </a:rPr>
              <a:t>Reclamos y apelaciones</a:t>
            </a:r>
          </a:p>
        </p:txBody>
      </p:sp>
      <p:sp>
        <p:nvSpPr>
          <p:cNvPr id="4" name="TextBox 3"/>
          <p:cNvSpPr txBox="1"/>
          <p:nvPr/>
        </p:nvSpPr>
        <p:spPr>
          <a:xfrm>
            <a:off x="457200" y="6419088"/>
            <a:ext cx="10180015" cy="365760"/>
          </a:xfrm>
          <a:prstGeom prst="rect">
            <a:avLst/>
          </a:prstGeom>
          <a:noFill/>
        </p:spPr>
        <p:txBody>
          <a:bodyPr wrap="square" lIns="45720" rIns="45720">
            <a:spAutoFit/>
          </a:bodyPr>
          <a:lstStyle/>
          <a:p>
            <a:pPr>
              <a:spcAft>
                <a:spcPts val="540"/>
              </a:spcAft>
            </a:pPr>
            <a:r>
              <a:rPr sz="1200" b="0">
                <a:solidFill>
                  <a:srgbClr val="627D98"/>
                </a:solidFill>
                <a:latin typeface="Calibri"/>
              </a:rPr>
              <a:t>Fuente: Leyes del Ajedrez 2023 (Handbook E.I.01), art. 4.8, 6.11, 11.9 y 11.10</a:t>
            </a:r>
          </a:p>
        </p:txBody>
      </p:sp>
      <p:sp>
        <p:nvSpPr>
          <p:cNvPr id="5" name="TextBox 4"/>
          <p:cNvSpPr txBox="1"/>
          <p:nvPr/>
        </p:nvSpPr>
        <p:spPr>
          <a:xfrm>
            <a:off x="10728655" y="6419088"/>
            <a:ext cx="1097280" cy="365760"/>
          </a:xfrm>
          <a:prstGeom prst="rect">
            <a:avLst/>
          </a:prstGeom>
          <a:noFill/>
        </p:spPr>
        <p:txBody>
          <a:bodyPr wrap="square" lIns="45720" rIns="45720">
            <a:spAutoFit/>
          </a:bodyPr>
          <a:lstStyle/>
          <a:p>
            <a:pPr algn="ctr">
              <a:spcAft>
                <a:spcPts val="540"/>
              </a:spcAft>
            </a:pPr>
            <a:r>
              <a:rPr sz="1200" b="0">
                <a:solidFill>
                  <a:srgbClr val="627D98"/>
                </a:solidFill>
                <a:latin typeface="Calibri"/>
              </a:rPr>
              <a:t>10</a:t>
            </a:r>
          </a:p>
        </p:txBody>
      </p:sp>
      <p:sp>
        <p:nvSpPr>
          <p:cNvPr id="6" name="Rectangle 5"/>
          <p:cNvSpPr/>
          <p:nvPr/>
        </p:nvSpPr>
        <p:spPr>
          <a:xfrm>
            <a:off x="457200" y="1280160"/>
            <a:ext cx="11277295" cy="489204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417319"/>
            <a:ext cx="10637215" cy="4617720"/>
          </a:xfrm>
          <a:prstGeom prst="rect">
            <a:avLst/>
          </a:prstGeom>
          <a:noFill/>
        </p:spPr>
        <p:txBody>
          <a:bodyPr wrap="square" lIns="45720" rIns="45720">
            <a:spAutoFit/>
          </a:bodyPr>
          <a:lstStyle/>
          <a:p>
            <a:pPr>
              <a:spcAft>
                <a:spcPts val="1170"/>
              </a:spcAft>
            </a:pPr>
            <a:r>
              <a:rPr sz="2600" b="0">
                <a:solidFill>
                  <a:srgbClr val="3172AC"/>
                </a:solidFill>
                <a:latin typeface="Calibri"/>
              </a:rPr>
              <a:t>El jugador puede pausar el reloj para llamar al árbitro. Quien arbitra escucha a las dos partes, verifica los hechos (planillas, testigos, posición), decide con el artículo y registra la incidencia. La decisión de reanudar la partida es del árbitro.</a:t>
            </a:r>
          </a:p>
          <a:p>
            <a:pPr>
              <a:spcAft>
                <a:spcPts val="1170"/>
              </a:spcAft>
            </a:pPr>
            <a:r>
              <a:rPr sz="2600" b="0">
                <a:solidFill>
                  <a:srgbClr val="102A43"/>
                </a:solidFill>
                <a:latin typeface="Calibri"/>
              </a:rPr>
              <a:t>•  El jugador tiene derecho a que se le explique la regla que se aplica.</a:t>
            </a:r>
          </a:p>
          <a:p>
            <a:pPr>
              <a:spcAft>
                <a:spcPts val="1170"/>
              </a:spcAft>
            </a:pPr>
            <a:r>
              <a:rPr sz="2600" b="0">
                <a:solidFill>
                  <a:srgbClr val="102A43"/>
                </a:solidFill>
                <a:latin typeface="Calibri"/>
              </a:rPr>
              <a:t>•  Quien toca una pieza con intención de moverla o capturarla pierde el derecho a reclamar contra una infracción del rival a la regla de pieza tocada (art. 4.1 a 4.7).</a:t>
            </a:r>
          </a:p>
          <a:p>
            <a:pPr>
              <a:spcAft>
                <a:spcPts val="1170"/>
              </a:spcAft>
            </a:pPr>
            <a:r>
              <a:rPr sz="2600" b="0">
                <a:solidFill>
                  <a:srgbClr val="102A43"/>
                </a:solidFill>
                <a:latin typeface="Calibri"/>
              </a:rPr>
              <a:t>•  Firmar la planilla no impide apelar; los plazos y la forma de la apelación los fija el reglamento del torneo.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317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77295" cy="777240"/>
          </a:xfrm>
          <a:prstGeom prst="rect">
            <a:avLst/>
          </a:prstGeom>
          <a:noFill/>
        </p:spPr>
        <p:txBody>
          <a:bodyPr wrap="square" lIns="45720" rIns="45720" anchor="ctr">
            <a:spAutoFit/>
          </a:bodyPr>
          <a:lstStyle/>
          <a:p>
            <a:pPr algn="ctr">
              <a:spcAft>
                <a:spcPts val="1530"/>
              </a:spcAft>
            </a:pPr>
            <a:r>
              <a:rPr sz="3400" b="1">
                <a:solidFill>
                  <a:srgbClr val="FFFFFF"/>
                </a:solidFill>
                <a:latin typeface="Calibri"/>
              </a:rPr>
              <a:t>Caso 1 · ¿Qué decide la persona árbitra?</a:t>
            </a:r>
          </a:p>
        </p:txBody>
      </p:sp>
      <p:sp>
        <p:nvSpPr>
          <p:cNvPr id="4" name="Rectangle 3"/>
          <p:cNvSpPr/>
          <p:nvPr/>
        </p:nvSpPr>
        <p:spPr>
          <a:xfrm>
            <a:off x="0" y="960120"/>
            <a:ext cx="12191695" cy="548640"/>
          </a:xfrm>
          <a:prstGeom prst="rect">
            <a:avLst/>
          </a:prstGeom>
          <a:solidFill>
            <a:srgbClr val="4E61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987552"/>
            <a:ext cx="11277295" cy="502920"/>
          </a:xfrm>
          <a:prstGeom prst="rect">
            <a:avLst/>
          </a:prstGeom>
          <a:noFill/>
        </p:spPr>
        <p:txBody>
          <a:bodyPr wrap="square" lIns="45720" rIns="45720" anchor="ctr">
            <a:spAutoFit/>
          </a:bodyPr>
          <a:lstStyle/>
          <a:p>
            <a:pPr algn="ctr">
              <a:spcAft>
                <a:spcPts val="945"/>
              </a:spcAft>
            </a:pPr>
            <a:r>
              <a:rPr sz="2100" b="0">
                <a:solidFill>
                  <a:srgbClr val="FFFFFF"/>
                </a:solidFill>
                <a:latin typeface="Calibri"/>
              </a:rPr>
              <a:t>Suena un celular</a:t>
            </a:r>
          </a:p>
        </p:txBody>
      </p:sp>
      <p:sp>
        <p:nvSpPr>
          <p:cNvPr id="6" name="TextBox 5"/>
          <p:cNvSpPr txBox="1"/>
          <p:nvPr/>
        </p:nvSpPr>
        <p:spPr>
          <a:xfrm>
            <a:off x="10728655" y="6419088"/>
            <a:ext cx="1097280" cy="365760"/>
          </a:xfrm>
          <a:prstGeom prst="rect">
            <a:avLst/>
          </a:prstGeom>
          <a:noFill/>
        </p:spPr>
        <p:txBody>
          <a:bodyPr wrap="square" lIns="45720" rIns="45720">
            <a:spAutoFit/>
          </a:bodyPr>
          <a:lstStyle/>
          <a:p>
            <a:pPr algn="ctr">
              <a:spcAft>
                <a:spcPts val="540"/>
              </a:spcAft>
            </a:pPr>
            <a:r>
              <a:rPr sz="1200" b="0">
                <a:solidFill>
                  <a:srgbClr val="627D98"/>
                </a:solidFill>
                <a:latin typeface="Calibri"/>
              </a:rPr>
              <a:t>11</a:t>
            </a:r>
          </a:p>
        </p:txBody>
      </p:sp>
      <p:sp>
        <p:nvSpPr>
          <p:cNvPr id="7" name="Rectangle 6"/>
          <p:cNvSpPr/>
          <p:nvPr/>
        </p:nvSpPr>
        <p:spPr>
          <a:xfrm>
            <a:off x="457200" y="1783080"/>
            <a:ext cx="11277295" cy="438912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011680"/>
            <a:ext cx="10545775" cy="3931920"/>
          </a:xfrm>
          <a:prstGeom prst="rect">
            <a:avLst/>
          </a:prstGeom>
          <a:noFill/>
        </p:spPr>
        <p:txBody>
          <a:bodyPr wrap="square" lIns="45720" rIns="45720" anchor="ctr">
            <a:spAutoFit/>
          </a:bodyPr>
          <a:lstStyle/>
          <a:p>
            <a:pPr>
              <a:spcAft>
                <a:spcPts val="1530"/>
              </a:spcAft>
            </a:pPr>
            <a:r>
              <a:rPr sz="3400" b="0">
                <a:solidFill>
                  <a:srgbClr val="102A43"/>
                </a:solidFill>
                <a:latin typeface="Calibri"/>
              </a:rPr>
              <a:t>En plena ronda suena el celular de un jugador dentro de la sala. El reglamento del torneo no dice nada sobre dispositivos.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317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77295" cy="777240"/>
          </a:xfrm>
          <a:prstGeom prst="rect">
            <a:avLst/>
          </a:prstGeom>
          <a:noFill/>
        </p:spPr>
        <p:txBody>
          <a:bodyPr wrap="square" lIns="45720" rIns="45720" anchor="ctr">
            <a:spAutoFit/>
          </a:bodyPr>
          <a:lstStyle/>
          <a:p>
            <a:pPr algn="ctr">
              <a:spcAft>
                <a:spcPts val="1530"/>
              </a:spcAft>
            </a:pPr>
            <a:r>
              <a:rPr sz="3400" b="1">
                <a:solidFill>
                  <a:srgbClr val="FFFFFF"/>
                </a:solidFill>
                <a:latin typeface="Calibri"/>
              </a:rPr>
              <a:t>Caso 1 · Decisión</a:t>
            </a:r>
          </a:p>
        </p:txBody>
      </p:sp>
      <p:sp>
        <p:nvSpPr>
          <p:cNvPr id="4" name="Rectangle 3"/>
          <p:cNvSpPr/>
          <p:nvPr/>
        </p:nvSpPr>
        <p:spPr>
          <a:xfrm>
            <a:off x="0" y="960120"/>
            <a:ext cx="12191695" cy="548640"/>
          </a:xfrm>
          <a:prstGeom prst="rect">
            <a:avLst/>
          </a:prstGeom>
          <a:solidFill>
            <a:srgbClr val="4E61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987552"/>
            <a:ext cx="11277295" cy="502920"/>
          </a:xfrm>
          <a:prstGeom prst="rect">
            <a:avLst/>
          </a:prstGeom>
          <a:noFill/>
        </p:spPr>
        <p:txBody>
          <a:bodyPr wrap="square" lIns="45720" rIns="45720" anchor="ctr">
            <a:spAutoFit/>
          </a:bodyPr>
          <a:lstStyle/>
          <a:p>
            <a:pPr algn="ctr">
              <a:spcAft>
                <a:spcPts val="945"/>
              </a:spcAft>
            </a:pPr>
            <a:r>
              <a:rPr sz="2100" b="0">
                <a:solidFill>
                  <a:srgbClr val="FFFFFF"/>
                </a:solidFill>
                <a:latin typeface="Calibri"/>
              </a:rPr>
              <a:t>Suena un celular</a:t>
            </a:r>
          </a:p>
        </p:txBody>
      </p:sp>
      <p:sp>
        <p:nvSpPr>
          <p:cNvPr id="6" name="TextBox 5"/>
          <p:cNvSpPr txBox="1"/>
          <p:nvPr/>
        </p:nvSpPr>
        <p:spPr>
          <a:xfrm>
            <a:off x="457200" y="6419088"/>
            <a:ext cx="10180015" cy="365760"/>
          </a:xfrm>
          <a:prstGeom prst="rect">
            <a:avLst/>
          </a:prstGeom>
          <a:noFill/>
        </p:spPr>
        <p:txBody>
          <a:bodyPr wrap="square" lIns="45720" rIns="45720">
            <a:spAutoFit/>
          </a:bodyPr>
          <a:lstStyle/>
          <a:p>
            <a:pPr>
              <a:spcAft>
                <a:spcPts val="540"/>
              </a:spcAft>
            </a:pPr>
            <a:r>
              <a:rPr sz="1200" b="0">
                <a:solidFill>
                  <a:srgbClr val="627D98"/>
                </a:solidFill>
                <a:latin typeface="Calibri"/>
              </a:rPr>
              <a:t>Fuente: Leyes del Ajedrez 2023 (Handbook E.I.01), art. 11.3.2</a:t>
            </a:r>
          </a:p>
        </p:txBody>
      </p:sp>
      <p:sp>
        <p:nvSpPr>
          <p:cNvPr id="7" name="TextBox 6"/>
          <p:cNvSpPr txBox="1"/>
          <p:nvPr/>
        </p:nvSpPr>
        <p:spPr>
          <a:xfrm>
            <a:off x="10728655" y="6419088"/>
            <a:ext cx="1097280" cy="365760"/>
          </a:xfrm>
          <a:prstGeom prst="rect">
            <a:avLst/>
          </a:prstGeom>
          <a:noFill/>
        </p:spPr>
        <p:txBody>
          <a:bodyPr wrap="square" lIns="45720" rIns="45720">
            <a:spAutoFit/>
          </a:bodyPr>
          <a:lstStyle/>
          <a:p>
            <a:pPr algn="ctr">
              <a:spcAft>
                <a:spcPts val="540"/>
              </a:spcAft>
            </a:pPr>
            <a:r>
              <a:rPr sz="1200" b="0">
                <a:solidFill>
                  <a:srgbClr val="627D98"/>
                </a:solidFill>
                <a:latin typeface="Calibri"/>
              </a:rPr>
              <a:t>12</a:t>
            </a:r>
          </a:p>
        </p:txBody>
      </p:sp>
      <p:sp>
        <p:nvSpPr>
          <p:cNvPr id="8" name="Rectangle 7"/>
          <p:cNvSpPr/>
          <p:nvPr/>
        </p:nvSpPr>
        <p:spPr>
          <a:xfrm>
            <a:off x="457200" y="1783080"/>
            <a:ext cx="11277295" cy="4389120"/>
          </a:xfrm>
          <a:prstGeom prst="rect">
            <a:avLst/>
          </a:prstGeom>
          <a:solidFill>
            <a:srgbClr val="EEF7EE"/>
          </a:solidFill>
          <a:ln w="19050">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011680"/>
            <a:ext cx="10545775" cy="3931920"/>
          </a:xfrm>
          <a:prstGeom prst="rect">
            <a:avLst/>
          </a:prstGeom>
          <a:noFill/>
        </p:spPr>
        <p:txBody>
          <a:bodyPr wrap="square" lIns="45720" rIns="45720" anchor="ctr">
            <a:spAutoFit/>
          </a:bodyPr>
          <a:lstStyle/>
          <a:p>
            <a:pPr>
              <a:spcAft>
                <a:spcPts val="1350"/>
              </a:spcAft>
            </a:pPr>
            <a:r>
              <a:rPr sz="3000" b="0">
                <a:solidFill>
                  <a:srgbClr val="102A43"/>
                </a:solidFill>
                <a:latin typeface="Calibri"/>
              </a:rPr>
              <a:t>Pierde la partida: es la regla general del art. 11.3.2. Solo si el reglamento previera una sanción menor se aplicaría esa.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317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77295" cy="777240"/>
          </a:xfrm>
          <a:prstGeom prst="rect">
            <a:avLst/>
          </a:prstGeom>
          <a:noFill/>
        </p:spPr>
        <p:txBody>
          <a:bodyPr wrap="square" lIns="45720" rIns="45720" anchor="ctr">
            <a:spAutoFit/>
          </a:bodyPr>
          <a:lstStyle/>
          <a:p>
            <a:pPr algn="ctr">
              <a:spcAft>
                <a:spcPts val="1530"/>
              </a:spcAft>
            </a:pPr>
            <a:r>
              <a:rPr sz="3400" b="1">
                <a:solidFill>
                  <a:srgbClr val="FFFFFF"/>
                </a:solidFill>
                <a:latin typeface="Calibri"/>
              </a:rPr>
              <a:t>Caso 2 · ¿Qué decide la persona árbitra?</a:t>
            </a:r>
          </a:p>
        </p:txBody>
      </p:sp>
      <p:sp>
        <p:nvSpPr>
          <p:cNvPr id="4" name="Rectangle 3"/>
          <p:cNvSpPr/>
          <p:nvPr/>
        </p:nvSpPr>
        <p:spPr>
          <a:xfrm>
            <a:off x="0" y="960120"/>
            <a:ext cx="12191695" cy="548640"/>
          </a:xfrm>
          <a:prstGeom prst="rect">
            <a:avLst/>
          </a:prstGeom>
          <a:solidFill>
            <a:srgbClr val="4E61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987552"/>
            <a:ext cx="11277295" cy="502920"/>
          </a:xfrm>
          <a:prstGeom prst="rect">
            <a:avLst/>
          </a:prstGeom>
          <a:noFill/>
        </p:spPr>
        <p:txBody>
          <a:bodyPr wrap="square" lIns="45720" rIns="45720" anchor="ctr">
            <a:spAutoFit/>
          </a:bodyPr>
          <a:lstStyle/>
          <a:p>
            <a:pPr algn="ctr">
              <a:spcAft>
                <a:spcPts val="945"/>
              </a:spcAft>
            </a:pPr>
            <a:r>
              <a:rPr sz="2100" b="0">
                <a:solidFill>
                  <a:srgbClr val="FFFFFF"/>
                </a:solidFill>
                <a:latin typeface="Calibri"/>
              </a:rPr>
              <a:t>Primera jugada ilegal en ritmo clásico</a:t>
            </a:r>
          </a:p>
        </p:txBody>
      </p:sp>
      <p:sp>
        <p:nvSpPr>
          <p:cNvPr id="6" name="TextBox 5"/>
          <p:cNvSpPr txBox="1"/>
          <p:nvPr/>
        </p:nvSpPr>
        <p:spPr>
          <a:xfrm>
            <a:off x="10728655" y="6419088"/>
            <a:ext cx="1097280" cy="365760"/>
          </a:xfrm>
          <a:prstGeom prst="rect">
            <a:avLst/>
          </a:prstGeom>
          <a:noFill/>
        </p:spPr>
        <p:txBody>
          <a:bodyPr wrap="square" lIns="45720" rIns="45720">
            <a:spAutoFit/>
          </a:bodyPr>
          <a:lstStyle/>
          <a:p>
            <a:pPr algn="ctr">
              <a:spcAft>
                <a:spcPts val="540"/>
              </a:spcAft>
            </a:pPr>
            <a:r>
              <a:rPr sz="1200" b="0">
                <a:solidFill>
                  <a:srgbClr val="627D98"/>
                </a:solidFill>
                <a:latin typeface="Calibri"/>
              </a:rPr>
              <a:t>13</a:t>
            </a:r>
          </a:p>
        </p:txBody>
      </p:sp>
      <p:sp>
        <p:nvSpPr>
          <p:cNvPr id="7" name="Rectangle 6"/>
          <p:cNvSpPr/>
          <p:nvPr/>
        </p:nvSpPr>
        <p:spPr>
          <a:xfrm>
            <a:off x="457200" y="1783080"/>
            <a:ext cx="11277295" cy="438912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011680"/>
            <a:ext cx="10545775" cy="3931920"/>
          </a:xfrm>
          <a:prstGeom prst="rect">
            <a:avLst/>
          </a:prstGeom>
          <a:noFill/>
        </p:spPr>
        <p:txBody>
          <a:bodyPr wrap="square" lIns="45720" rIns="45720" anchor="ctr">
            <a:spAutoFit/>
          </a:bodyPr>
          <a:lstStyle/>
          <a:p>
            <a:pPr>
              <a:spcAft>
                <a:spcPts val="1530"/>
              </a:spcAft>
            </a:pPr>
            <a:r>
              <a:rPr sz="3400" b="0">
                <a:solidFill>
                  <a:srgbClr val="102A43"/>
                </a:solidFill>
                <a:latin typeface="Calibri"/>
              </a:rPr>
              <a:t>Un jugador deja su rey en jaque y presiona el reloj. Es su primera jugada ilegal de la partida.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317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77295" cy="777240"/>
          </a:xfrm>
          <a:prstGeom prst="rect">
            <a:avLst/>
          </a:prstGeom>
          <a:noFill/>
        </p:spPr>
        <p:txBody>
          <a:bodyPr wrap="square" lIns="45720" rIns="45720" anchor="ctr">
            <a:spAutoFit/>
          </a:bodyPr>
          <a:lstStyle/>
          <a:p>
            <a:pPr algn="ctr">
              <a:spcAft>
                <a:spcPts val="1530"/>
              </a:spcAft>
            </a:pPr>
            <a:r>
              <a:rPr sz="3400" b="1">
                <a:solidFill>
                  <a:srgbClr val="FFFFFF"/>
                </a:solidFill>
                <a:latin typeface="Calibri"/>
              </a:rPr>
              <a:t>Caso 2 · Decisión</a:t>
            </a:r>
          </a:p>
        </p:txBody>
      </p:sp>
      <p:sp>
        <p:nvSpPr>
          <p:cNvPr id="4" name="Rectangle 3"/>
          <p:cNvSpPr/>
          <p:nvPr/>
        </p:nvSpPr>
        <p:spPr>
          <a:xfrm>
            <a:off x="0" y="960120"/>
            <a:ext cx="12191695" cy="548640"/>
          </a:xfrm>
          <a:prstGeom prst="rect">
            <a:avLst/>
          </a:prstGeom>
          <a:solidFill>
            <a:srgbClr val="4E61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987552"/>
            <a:ext cx="11277295" cy="502920"/>
          </a:xfrm>
          <a:prstGeom prst="rect">
            <a:avLst/>
          </a:prstGeom>
          <a:noFill/>
        </p:spPr>
        <p:txBody>
          <a:bodyPr wrap="square" lIns="45720" rIns="45720" anchor="ctr">
            <a:spAutoFit/>
          </a:bodyPr>
          <a:lstStyle/>
          <a:p>
            <a:pPr algn="ctr">
              <a:spcAft>
                <a:spcPts val="945"/>
              </a:spcAft>
            </a:pPr>
            <a:r>
              <a:rPr sz="2100" b="0">
                <a:solidFill>
                  <a:srgbClr val="FFFFFF"/>
                </a:solidFill>
                <a:latin typeface="Calibri"/>
              </a:rPr>
              <a:t>Primera jugada ilegal en ritmo clásico</a:t>
            </a:r>
          </a:p>
        </p:txBody>
      </p:sp>
      <p:sp>
        <p:nvSpPr>
          <p:cNvPr id="6" name="TextBox 5"/>
          <p:cNvSpPr txBox="1"/>
          <p:nvPr/>
        </p:nvSpPr>
        <p:spPr>
          <a:xfrm>
            <a:off x="457200" y="6419088"/>
            <a:ext cx="10180015" cy="365760"/>
          </a:xfrm>
          <a:prstGeom prst="rect">
            <a:avLst/>
          </a:prstGeom>
          <a:noFill/>
        </p:spPr>
        <p:txBody>
          <a:bodyPr wrap="square" lIns="45720" rIns="45720">
            <a:spAutoFit/>
          </a:bodyPr>
          <a:lstStyle/>
          <a:p>
            <a:pPr>
              <a:spcAft>
                <a:spcPts val="540"/>
              </a:spcAft>
            </a:pPr>
            <a:r>
              <a:rPr sz="1200" b="0">
                <a:solidFill>
                  <a:srgbClr val="627D98"/>
                </a:solidFill>
                <a:latin typeface="Calibri"/>
              </a:rPr>
              <a:t>Fuente: Leyes del Ajedrez 2023 (Handbook E.I.01), art. 3.9.2, 7.5.1 y 7.5.5</a:t>
            </a:r>
          </a:p>
        </p:txBody>
      </p:sp>
      <p:sp>
        <p:nvSpPr>
          <p:cNvPr id="7" name="TextBox 6"/>
          <p:cNvSpPr txBox="1"/>
          <p:nvPr/>
        </p:nvSpPr>
        <p:spPr>
          <a:xfrm>
            <a:off x="10728655" y="6419088"/>
            <a:ext cx="1097280" cy="365760"/>
          </a:xfrm>
          <a:prstGeom prst="rect">
            <a:avLst/>
          </a:prstGeom>
          <a:noFill/>
        </p:spPr>
        <p:txBody>
          <a:bodyPr wrap="square" lIns="45720" rIns="45720">
            <a:spAutoFit/>
          </a:bodyPr>
          <a:lstStyle/>
          <a:p>
            <a:pPr algn="ctr">
              <a:spcAft>
                <a:spcPts val="540"/>
              </a:spcAft>
            </a:pPr>
            <a:r>
              <a:rPr sz="1200" b="0">
                <a:solidFill>
                  <a:srgbClr val="627D98"/>
                </a:solidFill>
                <a:latin typeface="Calibri"/>
              </a:rPr>
              <a:t>14</a:t>
            </a:r>
          </a:p>
        </p:txBody>
      </p:sp>
      <p:sp>
        <p:nvSpPr>
          <p:cNvPr id="8" name="Rectangle 7"/>
          <p:cNvSpPr/>
          <p:nvPr/>
        </p:nvSpPr>
        <p:spPr>
          <a:xfrm>
            <a:off x="457200" y="1783080"/>
            <a:ext cx="11277295" cy="4389120"/>
          </a:xfrm>
          <a:prstGeom prst="rect">
            <a:avLst/>
          </a:prstGeom>
          <a:solidFill>
            <a:srgbClr val="EEF7EE"/>
          </a:solidFill>
          <a:ln w="19050">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011680"/>
            <a:ext cx="10545775" cy="3931920"/>
          </a:xfrm>
          <a:prstGeom prst="rect">
            <a:avLst/>
          </a:prstGeom>
          <a:noFill/>
        </p:spPr>
        <p:txBody>
          <a:bodyPr wrap="square" lIns="45720" rIns="45720" anchor="ctr">
            <a:spAutoFit/>
          </a:bodyPr>
          <a:lstStyle/>
          <a:p>
            <a:pPr>
              <a:spcAft>
                <a:spcPts val="1350"/>
              </a:spcAft>
            </a:pPr>
            <a:r>
              <a:rPr sz="3000" b="0">
                <a:solidFill>
                  <a:srgbClr val="102A43"/>
                </a:solidFill>
                <a:latin typeface="Calibri"/>
              </a:rPr>
              <a:t>Se repone la posición anterior, el jugador debe hacer una jugada legal (respetando pieza tocada) y el rival recibe dos minutos adicionales.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317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77295" cy="777240"/>
          </a:xfrm>
          <a:prstGeom prst="rect">
            <a:avLst/>
          </a:prstGeom>
          <a:noFill/>
        </p:spPr>
        <p:txBody>
          <a:bodyPr wrap="square" lIns="45720" rIns="45720" anchor="ctr">
            <a:spAutoFit/>
          </a:bodyPr>
          <a:lstStyle/>
          <a:p>
            <a:pPr algn="ctr">
              <a:spcAft>
                <a:spcPts val="1530"/>
              </a:spcAft>
            </a:pPr>
            <a:r>
              <a:rPr sz="3400" b="1">
                <a:solidFill>
                  <a:srgbClr val="FFFFFF"/>
                </a:solidFill>
                <a:latin typeface="Calibri"/>
              </a:rPr>
              <a:t>Caso 3 · ¿Qué decide la persona árbitra?</a:t>
            </a:r>
          </a:p>
        </p:txBody>
      </p:sp>
      <p:sp>
        <p:nvSpPr>
          <p:cNvPr id="4" name="Rectangle 3"/>
          <p:cNvSpPr/>
          <p:nvPr/>
        </p:nvSpPr>
        <p:spPr>
          <a:xfrm>
            <a:off x="0" y="960120"/>
            <a:ext cx="12191695" cy="548640"/>
          </a:xfrm>
          <a:prstGeom prst="rect">
            <a:avLst/>
          </a:prstGeom>
          <a:solidFill>
            <a:srgbClr val="4E61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987552"/>
            <a:ext cx="11277295" cy="502920"/>
          </a:xfrm>
          <a:prstGeom prst="rect">
            <a:avLst/>
          </a:prstGeom>
          <a:noFill/>
        </p:spPr>
        <p:txBody>
          <a:bodyPr wrap="square" lIns="45720" rIns="45720" anchor="ctr">
            <a:spAutoFit/>
          </a:bodyPr>
          <a:lstStyle/>
          <a:p>
            <a:pPr algn="ctr">
              <a:spcAft>
                <a:spcPts val="945"/>
              </a:spcAft>
            </a:pPr>
            <a:r>
              <a:rPr sz="2100" b="0">
                <a:solidFill>
                  <a:srgbClr val="FFFFFF"/>
                </a:solidFill>
                <a:latin typeface="Calibri"/>
              </a:rPr>
              <a:t>La misma situación en rápidas</a:t>
            </a:r>
          </a:p>
        </p:txBody>
      </p:sp>
      <p:sp>
        <p:nvSpPr>
          <p:cNvPr id="6" name="TextBox 5"/>
          <p:cNvSpPr txBox="1"/>
          <p:nvPr/>
        </p:nvSpPr>
        <p:spPr>
          <a:xfrm>
            <a:off x="10728655" y="6419088"/>
            <a:ext cx="1097280" cy="365760"/>
          </a:xfrm>
          <a:prstGeom prst="rect">
            <a:avLst/>
          </a:prstGeom>
          <a:noFill/>
        </p:spPr>
        <p:txBody>
          <a:bodyPr wrap="square" lIns="45720" rIns="45720">
            <a:spAutoFit/>
          </a:bodyPr>
          <a:lstStyle/>
          <a:p>
            <a:pPr algn="ctr">
              <a:spcAft>
                <a:spcPts val="540"/>
              </a:spcAft>
            </a:pPr>
            <a:r>
              <a:rPr sz="1200" b="0">
                <a:solidFill>
                  <a:srgbClr val="627D98"/>
                </a:solidFill>
                <a:latin typeface="Calibri"/>
              </a:rPr>
              <a:t>15</a:t>
            </a:r>
          </a:p>
        </p:txBody>
      </p:sp>
      <p:sp>
        <p:nvSpPr>
          <p:cNvPr id="7" name="Rectangle 6"/>
          <p:cNvSpPr/>
          <p:nvPr/>
        </p:nvSpPr>
        <p:spPr>
          <a:xfrm>
            <a:off x="457200" y="1783080"/>
            <a:ext cx="11277295" cy="438912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011680"/>
            <a:ext cx="10545775" cy="3931920"/>
          </a:xfrm>
          <a:prstGeom prst="rect">
            <a:avLst/>
          </a:prstGeom>
          <a:noFill/>
        </p:spPr>
        <p:txBody>
          <a:bodyPr wrap="square" lIns="45720" rIns="45720" anchor="ctr">
            <a:spAutoFit/>
          </a:bodyPr>
          <a:lstStyle/>
          <a:p>
            <a:pPr>
              <a:spcAft>
                <a:spcPts val="1530"/>
              </a:spcAft>
            </a:pPr>
            <a:r>
              <a:rPr sz="3400" b="0">
                <a:solidFill>
                  <a:srgbClr val="102A43"/>
                </a:solidFill>
                <a:latin typeface="Calibri"/>
              </a:rPr>
              <a:t>La misma jugada ilegal, en un torneo a 15 minutos más 10 segundos.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317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77295" cy="777240"/>
          </a:xfrm>
          <a:prstGeom prst="rect">
            <a:avLst/>
          </a:prstGeom>
          <a:noFill/>
        </p:spPr>
        <p:txBody>
          <a:bodyPr wrap="square" lIns="45720" rIns="45720" anchor="ctr">
            <a:spAutoFit/>
          </a:bodyPr>
          <a:lstStyle/>
          <a:p>
            <a:pPr algn="ctr">
              <a:spcAft>
                <a:spcPts val="1530"/>
              </a:spcAft>
            </a:pPr>
            <a:r>
              <a:rPr sz="3400" b="1">
                <a:solidFill>
                  <a:srgbClr val="FFFFFF"/>
                </a:solidFill>
                <a:latin typeface="Calibri"/>
              </a:rPr>
              <a:t>Caso 3 · Decisión</a:t>
            </a:r>
          </a:p>
        </p:txBody>
      </p:sp>
      <p:sp>
        <p:nvSpPr>
          <p:cNvPr id="4" name="Rectangle 3"/>
          <p:cNvSpPr/>
          <p:nvPr/>
        </p:nvSpPr>
        <p:spPr>
          <a:xfrm>
            <a:off x="0" y="960120"/>
            <a:ext cx="12191695" cy="548640"/>
          </a:xfrm>
          <a:prstGeom prst="rect">
            <a:avLst/>
          </a:prstGeom>
          <a:solidFill>
            <a:srgbClr val="4E61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987552"/>
            <a:ext cx="11277295" cy="502920"/>
          </a:xfrm>
          <a:prstGeom prst="rect">
            <a:avLst/>
          </a:prstGeom>
          <a:noFill/>
        </p:spPr>
        <p:txBody>
          <a:bodyPr wrap="square" lIns="45720" rIns="45720" anchor="ctr">
            <a:spAutoFit/>
          </a:bodyPr>
          <a:lstStyle/>
          <a:p>
            <a:pPr algn="ctr">
              <a:spcAft>
                <a:spcPts val="945"/>
              </a:spcAft>
            </a:pPr>
            <a:r>
              <a:rPr sz="2100" b="0">
                <a:solidFill>
                  <a:srgbClr val="FFFFFF"/>
                </a:solidFill>
                <a:latin typeface="Calibri"/>
              </a:rPr>
              <a:t>La misma situación en rápidas</a:t>
            </a:r>
          </a:p>
        </p:txBody>
      </p:sp>
      <p:sp>
        <p:nvSpPr>
          <p:cNvPr id="6" name="TextBox 5"/>
          <p:cNvSpPr txBox="1"/>
          <p:nvPr/>
        </p:nvSpPr>
        <p:spPr>
          <a:xfrm>
            <a:off x="457200" y="6419088"/>
            <a:ext cx="10180015" cy="365760"/>
          </a:xfrm>
          <a:prstGeom prst="rect">
            <a:avLst/>
          </a:prstGeom>
          <a:noFill/>
        </p:spPr>
        <p:txBody>
          <a:bodyPr wrap="square" lIns="45720" rIns="45720">
            <a:spAutoFit/>
          </a:bodyPr>
          <a:lstStyle/>
          <a:p>
            <a:pPr>
              <a:spcAft>
                <a:spcPts val="540"/>
              </a:spcAft>
            </a:pPr>
            <a:r>
              <a:rPr sz="1200" b="0">
                <a:solidFill>
                  <a:srgbClr val="627D98"/>
                </a:solidFill>
                <a:latin typeface="Calibri"/>
              </a:rPr>
              <a:t>Fuente: Leyes del Ajedrez 2023 (Handbook E.I.01), art. 7.5.5 y apéndice A.3</a:t>
            </a:r>
          </a:p>
        </p:txBody>
      </p:sp>
      <p:sp>
        <p:nvSpPr>
          <p:cNvPr id="7" name="TextBox 6"/>
          <p:cNvSpPr txBox="1"/>
          <p:nvPr/>
        </p:nvSpPr>
        <p:spPr>
          <a:xfrm>
            <a:off x="10728655" y="6419088"/>
            <a:ext cx="1097280" cy="365760"/>
          </a:xfrm>
          <a:prstGeom prst="rect">
            <a:avLst/>
          </a:prstGeom>
          <a:noFill/>
        </p:spPr>
        <p:txBody>
          <a:bodyPr wrap="square" lIns="45720" rIns="45720">
            <a:spAutoFit/>
          </a:bodyPr>
          <a:lstStyle/>
          <a:p>
            <a:pPr algn="ctr">
              <a:spcAft>
                <a:spcPts val="540"/>
              </a:spcAft>
            </a:pPr>
            <a:r>
              <a:rPr sz="1200" b="0">
                <a:solidFill>
                  <a:srgbClr val="627D98"/>
                </a:solidFill>
                <a:latin typeface="Calibri"/>
              </a:rPr>
              <a:t>16</a:t>
            </a:r>
          </a:p>
        </p:txBody>
      </p:sp>
      <p:sp>
        <p:nvSpPr>
          <p:cNvPr id="8" name="Rectangle 7"/>
          <p:cNvSpPr/>
          <p:nvPr/>
        </p:nvSpPr>
        <p:spPr>
          <a:xfrm>
            <a:off x="457200" y="1783080"/>
            <a:ext cx="11277295" cy="4389120"/>
          </a:xfrm>
          <a:prstGeom prst="rect">
            <a:avLst/>
          </a:prstGeom>
          <a:solidFill>
            <a:srgbClr val="EEF7EE"/>
          </a:solidFill>
          <a:ln w="19050">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011680"/>
            <a:ext cx="10545775" cy="3931920"/>
          </a:xfrm>
          <a:prstGeom prst="rect">
            <a:avLst/>
          </a:prstGeom>
          <a:noFill/>
        </p:spPr>
        <p:txBody>
          <a:bodyPr wrap="square" lIns="45720" rIns="45720" anchor="ctr">
            <a:spAutoFit/>
          </a:bodyPr>
          <a:lstStyle/>
          <a:p>
            <a:pPr>
              <a:spcAft>
                <a:spcPts val="1350"/>
              </a:spcAft>
            </a:pPr>
            <a:r>
              <a:rPr sz="3000" b="0">
                <a:solidFill>
                  <a:srgbClr val="102A43"/>
                </a:solidFill>
                <a:latin typeface="Calibri"/>
              </a:rPr>
              <a:t>Mismo procedimiento, pero el rival recibe un minuto en lugar de dos. Una segunda jugada ilegal le haría perder la partida.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317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77295" cy="777240"/>
          </a:xfrm>
          <a:prstGeom prst="rect">
            <a:avLst/>
          </a:prstGeom>
          <a:noFill/>
        </p:spPr>
        <p:txBody>
          <a:bodyPr wrap="square" lIns="45720" rIns="45720" anchor="ctr">
            <a:spAutoFit/>
          </a:bodyPr>
          <a:lstStyle/>
          <a:p>
            <a:pPr algn="ctr">
              <a:spcAft>
                <a:spcPts val="1530"/>
              </a:spcAft>
            </a:pPr>
            <a:r>
              <a:rPr sz="3400" b="1">
                <a:solidFill>
                  <a:srgbClr val="FFFFFF"/>
                </a:solidFill>
                <a:latin typeface="Calibri"/>
              </a:rPr>
              <a:t>Caso 4 · ¿Qué decide la persona árbitra?</a:t>
            </a:r>
          </a:p>
        </p:txBody>
      </p:sp>
      <p:sp>
        <p:nvSpPr>
          <p:cNvPr id="4" name="Rectangle 3"/>
          <p:cNvSpPr/>
          <p:nvPr/>
        </p:nvSpPr>
        <p:spPr>
          <a:xfrm>
            <a:off x="0" y="960120"/>
            <a:ext cx="12191695" cy="548640"/>
          </a:xfrm>
          <a:prstGeom prst="rect">
            <a:avLst/>
          </a:prstGeom>
          <a:solidFill>
            <a:srgbClr val="4E61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987552"/>
            <a:ext cx="11277295" cy="502920"/>
          </a:xfrm>
          <a:prstGeom prst="rect">
            <a:avLst/>
          </a:prstGeom>
          <a:noFill/>
        </p:spPr>
        <p:txBody>
          <a:bodyPr wrap="square" lIns="45720" rIns="45720" anchor="ctr">
            <a:spAutoFit/>
          </a:bodyPr>
          <a:lstStyle/>
          <a:p>
            <a:pPr algn="ctr">
              <a:spcAft>
                <a:spcPts val="945"/>
              </a:spcAft>
            </a:pPr>
            <a:r>
              <a:rPr sz="2100" b="0">
                <a:solidFill>
                  <a:srgbClr val="FFFFFF"/>
                </a:solidFill>
                <a:latin typeface="Calibri"/>
              </a:rPr>
              <a:t>Notas de apertura</a:t>
            </a:r>
          </a:p>
        </p:txBody>
      </p:sp>
      <p:sp>
        <p:nvSpPr>
          <p:cNvPr id="6" name="TextBox 5"/>
          <p:cNvSpPr txBox="1"/>
          <p:nvPr/>
        </p:nvSpPr>
        <p:spPr>
          <a:xfrm>
            <a:off x="10728655" y="6419088"/>
            <a:ext cx="1097280" cy="365760"/>
          </a:xfrm>
          <a:prstGeom prst="rect">
            <a:avLst/>
          </a:prstGeom>
          <a:noFill/>
        </p:spPr>
        <p:txBody>
          <a:bodyPr wrap="square" lIns="45720" rIns="45720">
            <a:spAutoFit/>
          </a:bodyPr>
          <a:lstStyle/>
          <a:p>
            <a:pPr algn="ctr">
              <a:spcAft>
                <a:spcPts val="540"/>
              </a:spcAft>
            </a:pPr>
            <a:r>
              <a:rPr sz="1200" b="0">
                <a:solidFill>
                  <a:srgbClr val="627D98"/>
                </a:solidFill>
                <a:latin typeface="Calibri"/>
              </a:rPr>
              <a:t>17</a:t>
            </a:r>
          </a:p>
        </p:txBody>
      </p:sp>
      <p:sp>
        <p:nvSpPr>
          <p:cNvPr id="7" name="Rectangle 6"/>
          <p:cNvSpPr/>
          <p:nvPr/>
        </p:nvSpPr>
        <p:spPr>
          <a:xfrm>
            <a:off x="457200" y="1783080"/>
            <a:ext cx="11277295" cy="438912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011680"/>
            <a:ext cx="10545775" cy="3931920"/>
          </a:xfrm>
          <a:prstGeom prst="rect">
            <a:avLst/>
          </a:prstGeom>
          <a:noFill/>
        </p:spPr>
        <p:txBody>
          <a:bodyPr wrap="square" lIns="45720" rIns="45720" anchor="ctr">
            <a:spAutoFit/>
          </a:bodyPr>
          <a:lstStyle/>
          <a:p>
            <a:pPr>
              <a:spcAft>
                <a:spcPts val="1530"/>
              </a:spcAft>
            </a:pPr>
            <a:r>
              <a:rPr sz="3400" b="0">
                <a:solidFill>
                  <a:srgbClr val="102A43"/>
                </a:solidFill>
                <a:latin typeface="Calibri"/>
              </a:rPr>
              <a:t>El árbitro ve que un jugador consulta una hoja con variantes de apertura durante la partida.</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317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77295" cy="777240"/>
          </a:xfrm>
          <a:prstGeom prst="rect">
            <a:avLst/>
          </a:prstGeom>
          <a:noFill/>
        </p:spPr>
        <p:txBody>
          <a:bodyPr wrap="square" lIns="45720" rIns="45720" anchor="ctr">
            <a:spAutoFit/>
          </a:bodyPr>
          <a:lstStyle/>
          <a:p>
            <a:pPr algn="ctr">
              <a:spcAft>
                <a:spcPts val="1530"/>
              </a:spcAft>
            </a:pPr>
            <a:r>
              <a:rPr sz="3400" b="1">
                <a:solidFill>
                  <a:srgbClr val="FFFFFF"/>
                </a:solidFill>
                <a:latin typeface="Calibri"/>
              </a:rPr>
              <a:t>Caso 4 · Decisión</a:t>
            </a:r>
          </a:p>
        </p:txBody>
      </p:sp>
      <p:sp>
        <p:nvSpPr>
          <p:cNvPr id="4" name="Rectangle 3"/>
          <p:cNvSpPr/>
          <p:nvPr/>
        </p:nvSpPr>
        <p:spPr>
          <a:xfrm>
            <a:off x="0" y="960120"/>
            <a:ext cx="12191695" cy="548640"/>
          </a:xfrm>
          <a:prstGeom prst="rect">
            <a:avLst/>
          </a:prstGeom>
          <a:solidFill>
            <a:srgbClr val="4E61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987552"/>
            <a:ext cx="11277295" cy="502920"/>
          </a:xfrm>
          <a:prstGeom prst="rect">
            <a:avLst/>
          </a:prstGeom>
          <a:noFill/>
        </p:spPr>
        <p:txBody>
          <a:bodyPr wrap="square" lIns="45720" rIns="45720" anchor="ctr">
            <a:spAutoFit/>
          </a:bodyPr>
          <a:lstStyle/>
          <a:p>
            <a:pPr algn="ctr">
              <a:spcAft>
                <a:spcPts val="945"/>
              </a:spcAft>
            </a:pPr>
            <a:r>
              <a:rPr sz="2100" b="0">
                <a:solidFill>
                  <a:srgbClr val="FFFFFF"/>
                </a:solidFill>
                <a:latin typeface="Calibri"/>
              </a:rPr>
              <a:t>Notas de apertura</a:t>
            </a:r>
          </a:p>
        </p:txBody>
      </p:sp>
      <p:sp>
        <p:nvSpPr>
          <p:cNvPr id="6" name="TextBox 5"/>
          <p:cNvSpPr txBox="1"/>
          <p:nvPr/>
        </p:nvSpPr>
        <p:spPr>
          <a:xfrm>
            <a:off x="457200" y="6419088"/>
            <a:ext cx="10180015" cy="365760"/>
          </a:xfrm>
          <a:prstGeom prst="rect">
            <a:avLst/>
          </a:prstGeom>
          <a:noFill/>
        </p:spPr>
        <p:txBody>
          <a:bodyPr wrap="square" lIns="45720" rIns="45720">
            <a:spAutoFit/>
          </a:bodyPr>
          <a:lstStyle/>
          <a:p>
            <a:pPr>
              <a:spcAft>
                <a:spcPts val="540"/>
              </a:spcAft>
            </a:pPr>
            <a:r>
              <a:rPr sz="1200" b="0">
                <a:solidFill>
                  <a:srgbClr val="627D98"/>
                </a:solidFill>
                <a:latin typeface="Calibri"/>
              </a:rPr>
              <a:t>Fuente: Leyes del Ajedrez 2023 (Handbook E.I.01), art. 11.3.1 y 12.9</a:t>
            </a:r>
          </a:p>
        </p:txBody>
      </p:sp>
      <p:sp>
        <p:nvSpPr>
          <p:cNvPr id="7" name="TextBox 6"/>
          <p:cNvSpPr txBox="1"/>
          <p:nvPr/>
        </p:nvSpPr>
        <p:spPr>
          <a:xfrm>
            <a:off x="10728655" y="6419088"/>
            <a:ext cx="1097280" cy="365760"/>
          </a:xfrm>
          <a:prstGeom prst="rect">
            <a:avLst/>
          </a:prstGeom>
          <a:noFill/>
        </p:spPr>
        <p:txBody>
          <a:bodyPr wrap="square" lIns="45720" rIns="45720">
            <a:spAutoFit/>
          </a:bodyPr>
          <a:lstStyle/>
          <a:p>
            <a:pPr algn="ctr">
              <a:spcAft>
                <a:spcPts val="540"/>
              </a:spcAft>
            </a:pPr>
            <a:r>
              <a:rPr sz="1200" b="0">
                <a:solidFill>
                  <a:srgbClr val="627D98"/>
                </a:solidFill>
                <a:latin typeface="Calibri"/>
              </a:rPr>
              <a:t>18</a:t>
            </a:r>
          </a:p>
        </p:txBody>
      </p:sp>
      <p:sp>
        <p:nvSpPr>
          <p:cNvPr id="8" name="Rectangle 7"/>
          <p:cNvSpPr/>
          <p:nvPr/>
        </p:nvSpPr>
        <p:spPr>
          <a:xfrm>
            <a:off x="457200" y="1783080"/>
            <a:ext cx="11277295" cy="4389120"/>
          </a:xfrm>
          <a:prstGeom prst="rect">
            <a:avLst/>
          </a:prstGeom>
          <a:solidFill>
            <a:srgbClr val="EEF7EE"/>
          </a:solidFill>
          <a:ln w="19050">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011680"/>
            <a:ext cx="10545775" cy="3931920"/>
          </a:xfrm>
          <a:prstGeom prst="rect">
            <a:avLst/>
          </a:prstGeom>
          <a:noFill/>
        </p:spPr>
        <p:txBody>
          <a:bodyPr wrap="square" lIns="45720" rIns="45720" anchor="ctr">
            <a:spAutoFit/>
          </a:bodyPr>
          <a:lstStyle/>
          <a:p>
            <a:pPr>
              <a:spcAft>
                <a:spcPts val="1350"/>
              </a:spcAft>
            </a:pPr>
            <a:r>
              <a:rPr sz="3000" b="0">
                <a:solidFill>
                  <a:srgbClr val="102A43"/>
                </a:solidFill>
                <a:latin typeface="Calibri"/>
              </a:rPr>
              <a:t>Está prohibido usar cualquier fuente de información. Se sanciona con el art. 12.9 según la gravedad; puede llegar a la pérdida de la partida.</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317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77295" cy="777240"/>
          </a:xfrm>
          <a:prstGeom prst="rect">
            <a:avLst/>
          </a:prstGeom>
          <a:noFill/>
        </p:spPr>
        <p:txBody>
          <a:bodyPr wrap="square" lIns="45720" rIns="45720" anchor="ctr">
            <a:spAutoFit/>
          </a:bodyPr>
          <a:lstStyle/>
          <a:p>
            <a:pPr algn="ctr">
              <a:spcAft>
                <a:spcPts val="1530"/>
              </a:spcAft>
            </a:pPr>
            <a:r>
              <a:rPr sz="3400" b="1">
                <a:solidFill>
                  <a:srgbClr val="FFFFFF"/>
                </a:solidFill>
                <a:latin typeface="Calibri"/>
              </a:rPr>
              <a:t>Caso 5 · ¿Qué decide la persona árbitra?</a:t>
            </a:r>
          </a:p>
        </p:txBody>
      </p:sp>
      <p:sp>
        <p:nvSpPr>
          <p:cNvPr id="4" name="Rectangle 3"/>
          <p:cNvSpPr/>
          <p:nvPr/>
        </p:nvSpPr>
        <p:spPr>
          <a:xfrm>
            <a:off x="0" y="960120"/>
            <a:ext cx="12191695" cy="548640"/>
          </a:xfrm>
          <a:prstGeom prst="rect">
            <a:avLst/>
          </a:prstGeom>
          <a:solidFill>
            <a:srgbClr val="4E61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987552"/>
            <a:ext cx="11277295" cy="502920"/>
          </a:xfrm>
          <a:prstGeom prst="rect">
            <a:avLst/>
          </a:prstGeom>
          <a:noFill/>
        </p:spPr>
        <p:txBody>
          <a:bodyPr wrap="square" lIns="45720" rIns="45720" anchor="ctr">
            <a:spAutoFit/>
          </a:bodyPr>
          <a:lstStyle/>
          <a:p>
            <a:pPr algn="ctr">
              <a:spcAft>
                <a:spcPts val="945"/>
              </a:spcAft>
            </a:pPr>
            <a:r>
              <a:rPr sz="2100" b="0">
                <a:solidFill>
                  <a:srgbClr val="FFFFFF"/>
                </a:solidFill>
                <a:latin typeface="Calibri"/>
              </a:rPr>
              <a:t>Análisis en la sala</a:t>
            </a:r>
          </a:p>
        </p:txBody>
      </p:sp>
      <p:sp>
        <p:nvSpPr>
          <p:cNvPr id="6" name="TextBox 5"/>
          <p:cNvSpPr txBox="1"/>
          <p:nvPr/>
        </p:nvSpPr>
        <p:spPr>
          <a:xfrm>
            <a:off x="10728655" y="6419088"/>
            <a:ext cx="1097280" cy="365760"/>
          </a:xfrm>
          <a:prstGeom prst="rect">
            <a:avLst/>
          </a:prstGeom>
          <a:noFill/>
        </p:spPr>
        <p:txBody>
          <a:bodyPr wrap="square" lIns="45720" rIns="45720">
            <a:spAutoFit/>
          </a:bodyPr>
          <a:lstStyle/>
          <a:p>
            <a:pPr algn="ctr">
              <a:spcAft>
                <a:spcPts val="540"/>
              </a:spcAft>
            </a:pPr>
            <a:r>
              <a:rPr sz="1200" b="0">
                <a:solidFill>
                  <a:srgbClr val="627D98"/>
                </a:solidFill>
                <a:latin typeface="Calibri"/>
              </a:rPr>
              <a:t>19</a:t>
            </a:r>
          </a:p>
        </p:txBody>
      </p:sp>
      <p:sp>
        <p:nvSpPr>
          <p:cNvPr id="7" name="Rectangle 6"/>
          <p:cNvSpPr/>
          <p:nvPr/>
        </p:nvSpPr>
        <p:spPr>
          <a:xfrm>
            <a:off x="457200" y="1783080"/>
            <a:ext cx="11277295" cy="438912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011680"/>
            <a:ext cx="10545775" cy="3931920"/>
          </a:xfrm>
          <a:prstGeom prst="rect">
            <a:avLst/>
          </a:prstGeom>
          <a:noFill/>
        </p:spPr>
        <p:txBody>
          <a:bodyPr wrap="square" lIns="45720" rIns="45720" anchor="ctr">
            <a:spAutoFit/>
          </a:bodyPr>
          <a:lstStyle/>
          <a:p>
            <a:pPr>
              <a:spcAft>
                <a:spcPts val="1530"/>
              </a:spcAft>
            </a:pPr>
            <a:r>
              <a:rPr sz="3400" b="0">
                <a:solidFill>
                  <a:srgbClr val="102A43"/>
                </a:solidFill>
                <a:latin typeface="Calibri"/>
              </a:rPr>
              <a:t>Dos estudiantes que ya terminaron analizan su partida en un tablero de la sala, junto a mesas que siguen jugando.</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317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77295" cy="777240"/>
          </a:xfrm>
          <a:prstGeom prst="rect">
            <a:avLst/>
          </a:prstGeom>
          <a:noFill/>
        </p:spPr>
        <p:txBody>
          <a:bodyPr wrap="square" lIns="45720" rIns="45720" anchor="ctr">
            <a:spAutoFit/>
          </a:bodyPr>
          <a:lstStyle/>
          <a:p>
            <a:pPr algn="ctr">
              <a:spcAft>
                <a:spcPts val="1530"/>
              </a:spcAft>
            </a:pPr>
            <a:r>
              <a:rPr sz="3400" b="1">
                <a:solidFill>
                  <a:srgbClr val="FFFFFF"/>
                </a:solidFill>
                <a:latin typeface="Calibri"/>
              </a:rPr>
              <a:t>Caso 5 · Decisión</a:t>
            </a:r>
          </a:p>
        </p:txBody>
      </p:sp>
      <p:sp>
        <p:nvSpPr>
          <p:cNvPr id="4" name="Rectangle 3"/>
          <p:cNvSpPr/>
          <p:nvPr/>
        </p:nvSpPr>
        <p:spPr>
          <a:xfrm>
            <a:off x="0" y="960120"/>
            <a:ext cx="12191695" cy="548640"/>
          </a:xfrm>
          <a:prstGeom prst="rect">
            <a:avLst/>
          </a:prstGeom>
          <a:solidFill>
            <a:srgbClr val="4E61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987552"/>
            <a:ext cx="11277295" cy="502920"/>
          </a:xfrm>
          <a:prstGeom prst="rect">
            <a:avLst/>
          </a:prstGeom>
          <a:noFill/>
        </p:spPr>
        <p:txBody>
          <a:bodyPr wrap="square" lIns="45720" rIns="45720" anchor="ctr">
            <a:spAutoFit/>
          </a:bodyPr>
          <a:lstStyle/>
          <a:p>
            <a:pPr algn="ctr">
              <a:spcAft>
                <a:spcPts val="945"/>
              </a:spcAft>
            </a:pPr>
            <a:r>
              <a:rPr sz="2100" b="0">
                <a:solidFill>
                  <a:srgbClr val="FFFFFF"/>
                </a:solidFill>
                <a:latin typeface="Calibri"/>
              </a:rPr>
              <a:t>Análisis en la sala</a:t>
            </a:r>
          </a:p>
        </p:txBody>
      </p:sp>
      <p:sp>
        <p:nvSpPr>
          <p:cNvPr id="6" name="TextBox 5"/>
          <p:cNvSpPr txBox="1"/>
          <p:nvPr/>
        </p:nvSpPr>
        <p:spPr>
          <a:xfrm>
            <a:off x="457200" y="6419088"/>
            <a:ext cx="10180015" cy="365760"/>
          </a:xfrm>
          <a:prstGeom prst="rect">
            <a:avLst/>
          </a:prstGeom>
          <a:noFill/>
        </p:spPr>
        <p:txBody>
          <a:bodyPr wrap="square" lIns="45720" rIns="45720">
            <a:spAutoFit/>
          </a:bodyPr>
          <a:lstStyle/>
          <a:p>
            <a:pPr>
              <a:spcAft>
                <a:spcPts val="540"/>
              </a:spcAft>
            </a:pPr>
            <a:r>
              <a:rPr sz="1200" b="0">
                <a:solidFill>
                  <a:srgbClr val="627D98"/>
                </a:solidFill>
                <a:latin typeface="Calibri"/>
              </a:rPr>
              <a:t>Fuente: Leyes del Ajedrez 2023 (Handbook E.I.01), art. 11.4 y 12.7</a:t>
            </a:r>
          </a:p>
        </p:txBody>
      </p:sp>
      <p:sp>
        <p:nvSpPr>
          <p:cNvPr id="7" name="TextBox 6"/>
          <p:cNvSpPr txBox="1"/>
          <p:nvPr/>
        </p:nvSpPr>
        <p:spPr>
          <a:xfrm>
            <a:off x="10728655" y="6419088"/>
            <a:ext cx="1097280" cy="365760"/>
          </a:xfrm>
          <a:prstGeom prst="rect">
            <a:avLst/>
          </a:prstGeom>
          <a:noFill/>
        </p:spPr>
        <p:txBody>
          <a:bodyPr wrap="square" lIns="45720" rIns="45720">
            <a:spAutoFit/>
          </a:bodyPr>
          <a:lstStyle/>
          <a:p>
            <a:pPr algn="ctr">
              <a:spcAft>
                <a:spcPts val="540"/>
              </a:spcAft>
            </a:pPr>
            <a:r>
              <a:rPr sz="1200" b="0">
                <a:solidFill>
                  <a:srgbClr val="627D98"/>
                </a:solidFill>
                <a:latin typeface="Calibri"/>
              </a:rPr>
              <a:t>20</a:t>
            </a:r>
          </a:p>
        </p:txBody>
      </p:sp>
      <p:sp>
        <p:nvSpPr>
          <p:cNvPr id="8" name="Rectangle 7"/>
          <p:cNvSpPr/>
          <p:nvPr/>
        </p:nvSpPr>
        <p:spPr>
          <a:xfrm>
            <a:off x="457200" y="1783080"/>
            <a:ext cx="11277295" cy="4389120"/>
          </a:xfrm>
          <a:prstGeom prst="rect">
            <a:avLst/>
          </a:prstGeom>
          <a:solidFill>
            <a:srgbClr val="EEF7EE"/>
          </a:solidFill>
          <a:ln w="19050">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011680"/>
            <a:ext cx="10545775" cy="3931920"/>
          </a:xfrm>
          <a:prstGeom prst="rect">
            <a:avLst/>
          </a:prstGeom>
          <a:noFill/>
        </p:spPr>
        <p:txBody>
          <a:bodyPr wrap="square" lIns="45720" rIns="45720" anchor="ctr">
            <a:spAutoFit/>
          </a:bodyPr>
          <a:lstStyle/>
          <a:p>
            <a:pPr>
              <a:spcAft>
                <a:spcPts val="1350"/>
              </a:spcAft>
            </a:pPr>
            <a:r>
              <a:rPr sz="3000" b="0">
                <a:solidFill>
                  <a:srgbClr val="102A43"/>
                </a:solidFill>
                <a:latin typeface="Calibri"/>
              </a:rPr>
              <a:t>Ya son espectadores y no pueden interferir. El árbitro les pide ir a la sala de análisis o salir; si insisten, aplica una sanción.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317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77295" cy="777240"/>
          </a:xfrm>
          <a:prstGeom prst="rect">
            <a:avLst/>
          </a:prstGeom>
          <a:noFill/>
        </p:spPr>
        <p:txBody>
          <a:bodyPr wrap="square" lIns="45720" rIns="45720" anchor="ctr">
            <a:spAutoFit/>
          </a:bodyPr>
          <a:lstStyle/>
          <a:p>
            <a:pPr algn="ctr">
              <a:spcAft>
                <a:spcPts val="1530"/>
              </a:spcAft>
            </a:pPr>
            <a:r>
              <a:rPr sz="3400" b="1">
                <a:solidFill>
                  <a:srgbClr val="FFFFFF"/>
                </a:solidFill>
                <a:latin typeface="Calibri"/>
              </a:rPr>
              <a:t>Caso 6 · ¿Qué decide la persona árbitra?</a:t>
            </a:r>
          </a:p>
        </p:txBody>
      </p:sp>
      <p:sp>
        <p:nvSpPr>
          <p:cNvPr id="4" name="Rectangle 3"/>
          <p:cNvSpPr/>
          <p:nvPr/>
        </p:nvSpPr>
        <p:spPr>
          <a:xfrm>
            <a:off x="0" y="960120"/>
            <a:ext cx="12191695" cy="548640"/>
          </a:xfrm>
          <a:prstGeom prst="rect">
            <a:avLst/>
          </a:prstGeom>
          <a:solidFill>
            <a:srgbClr val="4E61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987552"/>
            <a:ext cx="11277295" cy="502920"/>
          </a:xfrm>
          <a:prstGeom prst="rect">
            <a:avLst/>
          </a:prstGeom>
          <a:noFill/>
        </p:spPr>
        <p:txBody>
          <a:bodyPr wrap="square" lIns="45720" rIns="45720" anchor="ctr">
            <a:spAutoFit/>
          </a:bodyPr>
          <a:lstStyle/>
          <a:p>
            <a:pPr algn="ctr">
              <a:spcAft>
                <a:spcPts val="945"/>
              </a:spcAft>
            </a:pPr>
            <a:r>
              <a:rPr sz="2100" b="0">
                <a:solidFill>
                  <a:srgbClr val="FFFFFF"/>
                </a:solidFill>
                <a:latin typeface="Calibri"/>
              </a:rPr>
              <a:t>Piezas volcadas</a:t>
            </a:r>
          </a:p>
        </p:txBody>
      </p:sp>
      <p:sp>
        <p:nvSpPr>
          <p:cNvPr id="6" name="TextBox 5"/>
          <p:cNvSpPr txBox="1"/>
          <p:nvPr/>
        </p:nvSpPr>
        <p:spPr>
          <a:xfrm>
            <a:off x="10728655" y="6419088"/>
            <a:ext cx="1097280" cy="365760"/>
          </a:xfrm>
          <a:prstGeom prst="rect">
            <a:avLst/>
          </a:prstGeom>
          <a:noFill/>
        </p:spPr>
        <p:txBody>
          <a:bodyPr wrap="square" lIns="45720" rIns="45720">
            <a:spAutoFit/>
          </a:bodyPr>
          <a:lstStyle/>
          <a:p>
            <a:pPr algn="ctr">
              <a:spcAft>
                <a:spcPts val="540"/>
              </a:spcAft>
            </a:pPr>
            <a:r>
              <a:rPr sz="1200" b="0">
                <a:solidFill>
                  <a:srgbClr val="627D98"/>
                </a:solidFill>
                <a:latin typeface="Calibri"/>
              </a:rPr>
              <a:t>21</a:t>
            </a:r>
          </a:p>
        </p:txBody>
      </p:sp>
      <p:sp>
        <p:nvSpPr>
          <p:cNvPr id="7" name="Rectangle 6"/>
          <p:cNvSpPr/>
          <p:nvPr/>
        </p:nvSpPr>
        <p:spPr>
          <a:xfrm>
            <a:off x="457200" y="1783080"/>
            <a:ext cx="11277295" cy="438912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011680"/>
            <a:ext cx="10545775" cy="3931920"/>
          </a:xfrm>
          <a:prstGeom prst="rect">
            <a:avLst/>
          </a:prstGeom>
          <a:noFill/>
        </p:spPr>
        <p:txBody>
          <a:bodyPr wrap="square" lIns="45720" rIns="45720" anchor="ctr">
            <a:spAutoFit/>
          </a:bodyPr>
          <a:lstStyle/>
          <a:p>
            <a:pPr>
              <a:spcAft>
                <a:spcPts val="1530"/>
              </a:spcAft>
            </a:pPr>
            <a:r>
              <a:rPr sz="3400" b="0">
                <a:solidFill>
                  <a:srgbClr val="102A43"/>
                </a:solidFill>
                <a:latin typeface="Calibri"/>
              </a:rPr>
              <a:t>En apuro de tiempo, un jugador vuelca varias piezas al mover y presiona el reloj sin reponerlas.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317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77295" cy="777240"/>
          </a:xfrm>
          <a:prstGeom prst="rect">
            <a:avLst/>
          </a:prstGeom>
          <a:noFill/>
        </p:spPr>
        <p:txBody>
          <a:bodyPr wrap="square" lIns="45720" rIns="45720" anchor="ctr">
            <a:spAutoFit/>
          </a:bodyPr>
          <a:lstStyle/>
          <a:p>
            <a:pPr algn="ctr">
              <a:spcAft>
                <a:spcPts val="1530"/>
              </a:spcAft>
            </a:pPr>
            <a:r>
              <a:rPr sz="3400" b="1">
                <a:solidFill>
                  <a:srgbClr val="FFFFFF"/>
                </a:solidFill>
                <a:latin typeface="Calibri"/>
              </a:rPr>
              <a:t>Caso 6 · Decisión</a:t>
            </a:r>
          </a:p>
        </p:txBody>
      </p:sp>
      <p:sp>
        <p:nvSpPr>
          <p:cNvPr id="4" name="Rectangle 3"/>
          <p:cNvSpPr/>
          <p:nvPr/>
        </p:nvSpPr>
        <p:spPr>
          <a:xfrm>
            <a:off x="0" y="960120"/>
            <a:ext cx="12191695" cy="548640"/>
          </a:xfrm>
          <a:prstGeom prst="rect">
            <a:avLst/>
          </a:prstGeom>
          <a:solidFill>
            <a:srgbClr val="4E61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987552"/>
            <a:ext cx="11277295" cy="502920"/>
          </a:xfrm>
          <a:prstGeom prst="rect">
            <a:avLst/>
          </a:prstGeom>
          <a:noFill/>
        </p:spPr>
        <p:txBody>
          <a:bodyPr wrap="square" lIns="45720" rIns="45720" anchor="ctr">
            <a:spAutoFit/>
          </a:bodyPr>
          <a:lstStyle/>
          <a:p>
            <a:pPr algn="ctr">
              <a:spcAft>
                <a:spcPts val="945"/>
              </a:spcAft>
            </a:pPr>
            <a:r>
              <a:rPr sz="2100" b="0">
                <a:solidFill>
                  <a:srgbClr val="FFFFFF"/>
                </a:solidFill>
                <a:latin typeface="Calibri"/>
              </a:rPr>
              <a:t>Piezas volcadas</a:t>
            </a:r>
          </a:p>
        </p:txBody>
      </p:sp>
      <p:sp>
        <p:nvSpPr>
          <p:cNvPr id="6" name="TextBox 5"/>
          <p:cNvSpPr txBox="1"/>
          <p:nvPr/>
        </p:nvSpPr>
        <p:spPr>
          <a:xfrm>
            <a:off x="457200" y="6419088"/>
            <a:ext cx="10180015" cy="365760"/>
          </a:xfrm>
          <a:prstGeom prst="rect">
            <a:avLst/>
          </a:prstGeom>
          <a:noFill/>
        </p:spPr>
        <p:txBody>
          <a:bodyPr wrap="square" lIns="45720" rIns="45720">
            <a:spAutoFit/>
          </a:bodyPr>
          <a:lstStyle/>
          <a:p>
            <a:pPr>
              <a:spcAft>
                <a:spcPts val="540"/>
              </a:spcAft>
            </a:pPr>
            <a:r>
              <a:rPr sz="1200" b="0">
                <a:solidFill>
                  <a:srgbClr val="627D98"/>
                </a:solidFill>
                <a:latin typeface="Calibri"/>
              </a:rPr>
              <a:t>Fuente: Leyes del Ajedrez 2023 (Handbook E.I.01), art. 7.4</a:t>
            </a:r>
          </a:p>
        </p:txBody>
      </p:sp>
      <p:sp>
        <p:nvSpPr>
          <p:cNvPr id="7" name="TextBox 6"/>
          <p:cNvSpPr txBox="1"/>
          <p:nvPr/>
        </p:nvSpPr>
        <p:spPr>
          <a:xfrm>
            <a:off x="10728655" y="6419088"/>
            <a:ext cx="1097280" cy="365760"/>
          </a:xfrm>
          <a:prstGeom prst="rect">
            <a:avLst/>
          </a:prstGeom>
          <a:noFill/>
        </p:spPr>
        <p:txBody>
          <a:bodyPr wrap="square" lIns="45720" rIns="45720">
            <a:spAutoFit/>
          </a:bodyPr>
          <a:lstStyle/>
          <a:p>
            <a:pPr algn="ctr">
              <a:spcAft>
                <a:spcPts val="540"/>
              </a:spcAft>
            </a:pPr>
            <a:r>
              <a:rPr sz="1200" b="0">
                <a:solidFill>
                  <a:srgbClr val="627D98"/>
                </a:solidFill>
                <a:latin typeface="Calibri"/>
              </a:rPr>
              <a:t>22</a:t>
            </a:r>
          </a:p>
        </p:txBody>
      </p:sp>
      <p:sp>
        <p:nvSpPr>
          <p:cNvPr id="8" name="Rectangle 7"/>
          <p:cNvSpPr/>
          <p:nvPr/>
        </p:nvSpPr>
        <p:spPr>
          <a:xfrm>
            <a:off x="457200" y="1783080"/>
            <a:ext cx="11277295" cy="4389120"/>
          </a:xfrm>
          <a:prstGeom prst="rect">
            <a:avLst/>
          </a:prstGeom>
          <a:solidFill>
            <a:srgbClr val="EEF7EE"/>
          </a:solidFill>
          <a:ln w="19050">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011680"/>
            <a:ext cx="10545775" cy="3931920"/>
          </a:xfrm>
          <a:prstGeom prst="rect">
            <a:avLst/>
          </a:prstGeom>
          <a:noFill/>
        </p:spPr>
        <p:txBody>
          <a:bodyPr wrap="square" lIns="45720" rIns="45720" anchor="ctr">
            <a:spAutoFit/>
          </a:bodyPr>
          <a:lstStyle/>
          <a:p>
            <a:pPr>
              <a:spcAft>
                <a:spcPts val="1350"/>
              </a:spcAft>
            </a:pPr>
            <a:r>
              <a:rPr sz="3000" b="0">
                <a:solidFill>
                  <a:srgbClr val="102A43"/>
                </a:solidFill>
                <a:latin typeface="Calibri"/>
              </a:rPr>
              <a:t>Debe reponerlas con su propio tiempo; el rival puede pausar el reloj y llamar al árbitro. El árbitro puede sancionarlo por conducta si lo hace de forma repetida.</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728655" y="6419088"/>
            <a:ext cx="1097280" cy="365760"/>
          </a:xfrm>
          <a:prstGeom prst="rect">
            <a:avLst/>
          </a:prstGeom>
          <a:noFill/>
        </p:spPr>
        <p:txBody>
          <a:bodyPr wrap="square" lIns="45720" rIns="45720">
            <a:spAutoFit/>
          </a:bodyPr>
          <a:lstStyle/>
          <a:p>
            <a:pPr algn="ctr">
              <a:spcAft>
                <a:spcPts val="540"/>
              </a:spcAft>
            </a:pPr>
            <a:r>
              <a:rPr sz="1200" b="0">
                <a:solidFill>
                  <a:srgbClr val="9FB3C8"/>
                </a:solidFill>
                <a:latin typeface="Calibri"/>
              </a:rPr>
              <a:t>23</a:t>
            </a:r>
          </a:p>
        </p:txBody>
      </p:sp>
      <p:sp>
        <p:nvSpPr>
          <p:cNvPr id="4" name="TextBox 3"/>
          <p:cNvSpPr txBox="1"/>
          <p:nvPr/>
        </p:nvSpPr>
        <p:spPr>
          <a:xfrm>
            <a:off x="457200" y="2103120"/>
            <a:ext cx="11277295" cy="1280160"/>
          </a:xfrm>
          <a:prstGeom prst="rect">
            <a:avLst/>
          </a:prstGeom>
          <a:noFill/>
        </p:spPr>
        <p:txBody>
          <a:bodyPr wrap="square" lIns="45720" rIns="45720">
            <a:spAutoFit/>
          </a:bodyPr>
          <a:lstStyle/>
          <a:p>
            <a:pPr algn="ctr">
              <a:spcAft>
                <a:spcPts val="3240"/>
              </a:spcAft>
            </a:pPr>
            <a:r>
              <a:rPr sz="7200" b="1">
                <a:solidFill>
                  <a:srgbClr val="FFFFFF"/>
                </a:solidFill>
                <a:latin typeface="Calibri"/>
              </a:rPr>
              <a:t>Receso</a:t>
            </a:r>
          </a:p>
        </p:txBody>
      </p:sp>
      <p:sp>
        <p:nvSpPr>
          <p:cNvPr id="5" name="TextBox 4"/>
          <p:cNvSpPr txBox="1"/>
          <p:nvPr/>
        </p:nvSpPr>
        <p:spPr>
          <a:xfrm>
            <a:off x="457200" y="3566160"/>
            <a:ext cx="11277295" cy="1097280"/>
          </a:xfrm>
          <a:prstGeom prst="rect">
            <a:avLst/>
          </a:prstGeom>
          <a:noFill/>
        </p:spPr>
        <p:txBody>
          <a:bodyPr wrap="square" lIns="45720" rIns="45720">
            <a:spAutoFit/>
          </a:bodyPr>
          <a:lstStyle/>
          <a:p>
            <a:pPr algn="ctr">
              <a:spcAft>
                <a:spcPts val="1260"/>
              </a:spcAft>
            </a:pPr>
            <a:r>
              <a:rPr sz="2800" b="0">
                <a:solidFill>
                  <a:srgbClr val="CADCFC"/>
                </a:solidFill>
                <a:latin typeface="Calibri"/>
              </a:rPr>
              <a:t>10 minutos</a:t>
            </a:r>
          </a:p>
          <a:p>
            <a:pPr algn="ctr">
              <a:spcAft>
                <a:spcPts val="1260"/>
              </a:spcAft>
            </a:pPr>
            <a:r>
              <a:rPr sz="2800" b="0">
                <a:solidFill>
                  <a:srgbClr val="CADCFC"/>
                </a:solidFill>
                <a:latin typeface="Calibri"/>
              </a:rPr>
              <a:t>Pausa los relojes: seguimos en breve.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317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77295" cy="777240"/>
          </a:xfrm>
          <a:prstGeom prst="rect">
            <a:avLst/>
          </a:prstGeom>
          <a:noFill/>
        </p:spPr>
        <p:txBody>
          <a:bodyPr wrap="square" lIns="45720" rIns="45720" anchor="ctr">
            <a:spAutoFit/>
          </a:bodyPr>
          <a:lstStyle/>
          <a:p>
            <a:pPr algn="ctr">
              <a:spcAft>
                <a:spcPts val="1530"/>
              </a:spcAft>
            </a:pPr>
            <a:r>
              <a:rPr sz="3400" b="1">
                <a:solidFill>
                  <a:srgbClr val="FFFFFF"/>
                </a:solidFill>
                <a:latin typeface="Calibri"/>
              </a:rPr>
              <a:t>Práctica · Simulación de reclamos en salas de trabajo</a:t>
            </a:r>
          </a:p>
        </p:txBody>
      </p:sp>
      <p:sp>
        <p:nvSpPr>
          <p:cNvPr id="4" name="TextBox 3"/>
          <p:cNvSpPr txBox="1"/>
          <p:nvPr/>
        </p:nvSpPr>
        <p:spPr>
          <a:xfrm>
            <a:off x="10728655" y="6419088"/>
            <a:ext cx="1097280" cy="365760"/>
          </a:xfrm>
          <a:prstGeom prst="rect">
            <a:avLst/>
          </a:prstGeom>
          <a:noFill/>
        </p:spPr>
        <p:txBody>
          <a:bodyPr wrap="square" lIns="45720" rIns="45720">
            <a:spAutoFit/>
          </a:bodyPr>
          <a:lstStyle/>
          <a:p>
            <a:pPr algn="ctr">
              <a:spcAft>
                <a:spcPts val="540"/>
              </a:spcAft>
            </a:pPr>
            <a:r>
              <a:rPr sz="1200" b="0">
                <a:solidFill>
                  <a:srgbClr val="627D98"/>
                </a:solidFill>
                <a:latin typeface="Calibri"/>
              </a:rPr>
              <a:t>24</a:t>
            </a:r>
          </a:p>
        </p:txBody>
      </p:sp>
      <p:sp>
        <p:nvSpPr>
          <p:cNvPr id="5" name="Rectangle 4"/>
          <p:cNvSpPr/>
          <p:nvPr/>
        </p:nvSpPr>
        <p:spPr>
          <a:xfrm>
            <a:off x="457200" y="1280160"/>
            <a:ext cx="11277295" cy="489204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463040"/>
            <a:ext cx="10545775" cy="4480560"/>
          </a:xfrm>
          <a:prstGeom prst="rect">
            <a:avLst/>
          </a:prstGeom>
          <a:noFill/>
        </p:spPr>
        <p:txBody>
          <a:bodyPr wrap="square" lIns="45720" rIns="45720" anchor="ctr">
            <a:spAutoFit/>
          </a:bodyPr>
          <a:lstStyle/>
          <a:p>
            <a:pPr>
              <a:spcAft>
                <a:spcPts val="1440"/>
              </a:spcAft>
            </a:pPr>
            <a:r>
              <a:rPr sz="3200" b="0">
                <a:solidFill>
                  <a:srgbClr val="102A43"/>
                </a:solidFill>
                <a:latin typeface="Calibri"/>
              </a:rPr>
              <a:t>En subgrupos, cada participante asume el rol de árbitro ante un reclamo distinto y debe resolverlo aplicando el procedimiento correcto.</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317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77295" cy="777240"/>
          </a:xfrm>
          <a:prstGeom prst="rect">
            <a:avLst/>
          </a:prstGeom>
          <a:noFill/>
        </p:spPr>
        <p:txBody>
          <a:bodyPr wrap="square" lIns="45720" rIns="45720" anchor="ctr">
            <a:spAutoFit/>
          </a:bodyPr>
          <a:lstStyle/>
          <a:p>
            <a:pPr algn="ctr">
              <a:spcAft>
                <a:spcPts val="1530"/>
              </a:spcAft>
            </a:pPr>
            <a:r>
              <a:rPr sz="3400" b="1">
                <a:solidFill>
                  <a:srgbClr val="FFFFFF"/>
                </a:solidFill>
                <a:latin typeface="Calibri"/>
              </a:rPr>
              <a:t>Ejercicio 1 de 6</a:t>
            </a:r>
          </a:p>
        </p:txBody>
      </p:sp>
      <p:sp>
        <p:nvSpPr>
          <p:cNvPr id="4" name="TextBox 3"/>
          <p:cNvSpPr txBox="1"/>
          <p:nvPr/>
        </p:nvSpPr>
        <p:spPr>
          <a:xfrm>
            <a:off x="10728655" y="6419088"/>
            <a:ext cx="1097280" cy="365760"/>
          </a:xfrm>
          <a:prstGeom prst="rect">
            <a:avLst/>
          </a:prstGeom>
          <a:noFill/>
        </p:spPr>
        <p:txBody>
          <a:bodyPr wrap="square" lIns="45720" rIns="45720">
            <a:spAutoFit/>
          </a:bodyPr>
          <a:lstStyle/>
          <a:p>
            <a:pPr algn="ctr">
              <a:spcAft>
                <a:spcPts val="540"/>
              </a:spcAft>
            </a:pPr>
            <a:r>
              <a:rPr sz="1200" b="0">
                <a:solidFill>
                  <a:srgbClr val="627D98"/>
                </a:solidFill>
                <a:latin typeface="Calibri"/>
              </a:rPr>
              <a:t>25</a:t>
            </a:r>
          </a:p>
        </p:txBody>
      </p:sp>
      <p:sp>
        <p:nvSpPr>
          <p:cNvPr id="5" name="Rectangle 4"/>
          <p:cNvSpPr/>
          <p:nvPr/>
        </p:nvSpPr>
        <p:spPr>
          <a:xfrm>
            <a:off x="457200" y="1280160"/>
            <a:ext cx="11277295" cy="489204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463040"/>
            <a:ext cx="10545775" cy="4480560"/>
          </a:xfrm>
          <a:prstGeom prst="rect">
            <a:avLst/>
          </a:prstGeom>
          <a:noFill/>
        </p:spPr>
        <p:txBody>
          <a:bodyPr wrap="square" lIns="45720" rIns="45720" anchor="ctr">
            <a:spAutoFit/>
          </a:bodyPr>
          <a:lstStyle/>
          <a:p>
            <a:pPr>
              <a:spcAft>
                <a:spcPts val="1440"/>
              </a:spcAft>
            </a:pPr>
            <a:r>
              <a:rPr sz="3200" b="0">
                <a:solidFill>
                  <a:srgbClr val="102A43"/>
                </a:solidFill>
                <a:latin typeface="Calibri"/>
              </a:rPr>
              <a:t>Un jugador hace una jugada ilegal, se da cuenta antes de presionar el reloj y la corrige moviendo otra pieza. ¿Qué decides?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317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77295" cy="777240"/>
          </a:xfrm>
          <a:prstGeom prst="rect">
            <a:avLst/>
          </a:prstGeom>
          <a:noFill/>
        </p:spPr>
        <p:txBody>
          <a:bodyPr wrap="square" lIns="45720" rIns="45720" anchor="ctr">
            <a:spAutoFit/>
          </a:bodyPr>
          <a:lstStyle/>
          <a:p>
            <a:pPr algn="ctr">
              <a:spcAft>
                <a:spcPts val="1530"/>
              </a:spcAft>
            </a:pPr>
            <a:r>
              <a:rPr sz="3400" b="1">
                <a:solidFill>
                  <a:srgbClr val="FFFFFF"/>
                </a:solidFill>
                <a:latin typeface="Calibri"/>
              </a:rPr>
              <a:t>Ejercicio 2 de 6</a:t>
            </a:r>
          </a:p>
        </p:txBody>
      </p:sp>
      <p:sp>
        <p:nvSpPr>
          <p:cNvPr id="4" name="TextBox 3"/>
          <p:cNvSpPr txBox="1"/>
          <p:nvPr/>
        </p:nvSpPr>
        <p:spPr>
          <a:xfrm>
            <a:off x="10728655" y="6419088"/>
            <a:ext cx="1097280" cy="365760"/>
          </a:xfrm>
          <a:prstGeom prst="rect">
            <a:avLst/>
          </a:prstGeom>
          <a:noFill/>
        </p:spPr>
        <p:txBody>
          <a:bodyPr wrap="square" lIns="45720" rIns="45720">
            <a:spAutoFit/>
          </a:bodyPr>
          <a:lstStyle/>
          <a:p>
            <a:pPr algn="ctr">
              <a:spcAft>
                <a:spcPts val="540"/>
              </a:spcAft>
            </a:pPr>
            <a:r>
              <a:rPr sz="1200" b="0">
                <a:solidFill>
                  <a:srgbClr val="627D98"/>
                </a:solidFill>
                <a:latin typeface="Calibri"/>
              </a:rPr>
              <a:t>26</a:t>
            </a:r>
          </a:p>
        </p:txBody>
      </p:sp>
      <p:sp>
        <p:nvSpPr>
          <p:cNvPr id="5" name="Rectangle 4"/>
          <p:cNvSpPr/>
          <p:nvPr/>
        </p:nvSpPr>
        <p:spPr>
          <a:xfrm>
            <a:off x="457200" y="1280160"/>
            <a:ext cx="11277295" cy="489204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463040"/>
            <a:ext cx="10545775" cy="4480560"/>
          </a:xfrm>
          <a:prstGeom prst="rect">
            <a:avLst/>
          </a:prstGeom>
          <a:noFill/>
        </p:spPr>
        <p:txBody>
          <a:bodyPr wrap="square" lIns="45720" rIns="45720" anchor="ctr">
            <a:spAutoFit/>
          </a:bodyPr>
          <a:lstStyle/>
          <a:p>
            <a:pPr>
              <a:spcAft>
                <a:spcPts val="1440"/>
              </a:spcAft>
            </a:pPr>
            <a:r>
              <a:rPr sz="3200" b="0">
                <a:solidFill>
                  <a:srgbClr val="102A43"/>
                </a:solidFill>
                <a:latin typeface="Calibri"/>
              </a:rPr>
              <a:t>En ritmo clásico, un jugador completa su segunda jugada ilegal. Su rival solo tiene el rey. ¿Resultado?</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317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77295" cy="777240"/>
          </a:xfrm>
          <a:prstGeom prst="rect">
            <a:avLst/>
          </a:prstGeom>
          <a:noFill/>
        </p:spPr>
        <p:txBody>
          <a:bodyPr wrap="square" lIns="45720" rIns="45720" anchor="ctr">
            <a:spAutoFit/>
          </a:bodyPr>
          <a:lstStyle/>
          <a:p>
            <a:pPr algn="ctr">
              <a:spcAft>
                <a:spcPts val="1530"/>
              </a:spcAft>
            </a:pPr>
            <a:r>
              <a:rPr sz="3400" b="1">
                <a:solidFill>
                  <a:srgbClr val="FFFFFF"/>
                </a:solidFill>
                <a:latin typeface="Calibri"/>
              </a:rPr>
              <a:t>Ejercicio 3 de 6</a:t>
            </a:r>
          </a:p>
        </p:txBody>
      </p:sp>
      <p:sp>
        <p:nvSpPr>
          <p:cNvPr id="4" name="TextBox 3"/>
          <p:cNvSpPr txBox="1"/>
          <p:nvPr/>
        </p:nvSpPr>
        <p:spPr>
          <a:xfrm>
            <a:off x="10728655" y="6419088"/>
            <a:ext cx="1097280" cy="365760"/>
          </a:xfrm>
          <a:prstGeom prst="rect">
            <a:avLst/>
          </a:prstGeom>
          <a:noFill/>
        </p:spPr>
        <p:txBody>
          <a:bodyPr wrap="square" lIns="45720" rIns="45720">
            <a:spAutoFit/>
          </a:bodyPr>
          <a:lstStyle/>
          <a:p>
            <a:pPr algn="ctr">
              <a:spcAft>
                <a:spcPts val="540"/>
              </a:spcAft>
            </a:pPr>
            <a:r>
              <a:rPr sz="1200" b="0">
                <a:solidFill>
                  <a:srgbClr val="627D98"/>
                </a:solidFill>
                <a:latin typeface="Calibri"/>
              </a:rPr>
              <a:t>27</a:t>
            </a:r>
          </a:p>
        </p:txBody>
      </p:sp>
      <p:sp>
        <p:nvSpPr>
          <p:cNvPr id="5" name="Rectangle 4"/>
          <p:cNvSpPr/>
          <p:nvPr/>
        </p:nvSpPr>
        <p:spPr>
          <a:xfrm>
            <a:off x="457200" y="1280160"/>
            <a:ext cx="11277295" cy="489204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463040"/>
            <a:ext cx="10545775" cy="4480560"/>
          </a:xfrm>
          <a:prstGeom prst="rect">
            <a:avLst/>
          </a:prstGeom>
          <a:noFill/>
        </p:spPr>
        <p:txBody>
          <a:bodyPr wrap="square" lIns="45720" rIns="45720" anchor="ctr">
            <a:spAutoFit/>
          </a:bodyPr>
          <a:lstStyle/>
          <a:p>
            <a:pPr>
              <a:spcAft>
                <a:spcPts val="1440"/>
              </a:spcAft>
            </a:pPr>
            <a:r>
              <a:rPr sz="3200" b="0">
                <a:solidFill>
                  <a:srgbClr val="102A43"/>
                </a:solidFill>
                <a:latin typeface="Calibri"/>
              </a:rPr>
              <a:t>Un jugador ofrece tablas tres veces en diez jugadas pese a las negativas. ¿Cómo actúas?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317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77295" cy="777240"/>
          </a:xfrm>
          <a:prstGeom prst="rect">
            <a:avLst/>
          </a:prstGeom>
          <a:noFill/>
        </p:spPr>
        <p:txBody>
          <a:bodyPr wrap="square" lIns="45720" rIns="45720" anchor="ctr">
            <a:spAutoFit/>
          </a:bodyPr>
          <a:lstStyle/>
          <a:p>
            <a:pPr algn="ctr">
              <a:spcAft>
                <a:spcPts val="1530"/>
              </a:spcAft>
            </a:pPr>
            <a:r>
              <a:rPr sz="3400" b="1">
                <a:solidFill>
                  <a:srgbClr val="FFFFFF"/>
                </a:solidFill>
                <a:latin typeface="Calibri"/>
              </a:rPr>
              <a:t>Ejercicio 4 de 6</a:t>
            </a:r>
          </a:p>
        </p:txBody>
      </p:sp>
      <p:sp>
        <p:nvSpPr>
          <p:cNvPr id="4" name="TextBox 3"/>
          <p:cNvSpPr txBox="1"/>
          <p:nvPr/>
        </p:nvSpPr>
        <p:spPr>
          <a:xfrm>
            <a:off x="10728655" y="6419088"/>
            <a:ext cx="1097280" cy="365760"/>
          </a:xfrm>
          <a:prstGeom prst="rect">
            <a:avLst/>
          </a:prstGeom>
          <a:noFill/>
        </p:spPr>
        <p:txBody>
          <a:bodyPr wrap="square" lIns="45720" rIns="45720">
            <a:spAutoFit/>
          </a:bodyPr>
          <a:lstStyle/>
          <a:p>
            <a:pPr algn="ctr">
              <a:spcAft>
                <a:spcPts val="540"/>
              </a:spcAft>
            </a:pPr>
            <a:r>
              <a:rPr sz="1200" b="0">
                <a:solidFill>
                  <a:srgbClr val="627D98"/>
                </a:solidFill>
                <a:latin typeface="Calibri"/>
              </a:rPr>
              <a:t>28</a:t>
            </a:r>
          </a:p>
        </p:txBody>
      </p:sp>
      <p:sp>
        <p:nvSpPr>
          <p:cNvPr id="5" name="Rectangle 4"/>
          <p:cNvSpPr/>
          <p:nvPr/>
        </p:nvSpPr>
        <p:spPr>
          <a:xfrm>
            <a:off x="457200" y="1280160"/>
            <a:ext cx="11277295" cy="489204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463040"/>
            <a:ext cx="10545775" cy="4480560"/>
          </a:xfrm>
          <a:prstGeom prst="rect">
            <a:avLst/>
          </a:prstGeom>
          <a:noFill/>
        </p:spPr>
        <p:txBody>
          <a:bodyPr wrap="square" lIns="45720" rIns="45720" anchor="ctr">
            <a:spAutoFit/>
          </a:bodyPr>
          <a:lstStyle/>
          <a:p>
            <a:pPr>
              <a:spcAft>
                <a:spcPts val="1440"/>
              </a:spcAft>
            </a:pPr>
            <a:r>
              <a:rPr sz="3200" b="0">
                <a:solidFill>
                  <a:srgbClr val="102A43"/>
                </a:solidFill>
                <a:latin typeface="Calibri"/>
              </a:rPr>
              <a:t>El reglamento permite guardar el celular en el bolso. Durante la partida el teléfono de un jugador vibra dentro del bolso. ¿Qué decides?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317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77295" cy="777240"/>
          </a:xfrm>
          <a:prstGeom prst="rect">
            <a:avLst/>
          </a:prstGeom>
          <a:noFill/>
        </p:spPr>
        <p:txBody>
          <a:bodyPr wrap="square" lIns="45720" rIns="45720" anchor="ctr">
            <a:spAutoFit/>
          </a:bodyPr>
          <a:lstStyle/>
          <a:p>
            <a:pPr algn="ctr">
              <a:spcAft>
                <a:spcPts val="1530"/>
              </a:spcAft>
            </a:pPr>
            <a:r>
              <a:rPr sz="3400" b="1">
                <a:solidFill>
                  <a:srgbClr val="FFFFFF"/>
                </a:solidFill>
                <a:latin typeface="Calibri"/>
              </a:rPr>
              <a:t>Ejercicio 5 de 6</a:t>
            </a:r>
          </a:p>
        </p:txBody>
      </p:sp>
      <p:sp>
        <p:nvSpPr>
          <p:cNvPr id="4" name="TextBox 3"/>
          <p:cNvSpPr txBox="1"/>
          <p:nvPr/>
        </p:nvSpPr>
        <p:spPr>
          <a:xfrm>
            <a:off x="10728655" y="6419088"/>
            <a:ext cx="1097280" cy="365760"/>
          </a:xfrm>
          <a:prstGeom prst="rect">
            <a:avLst/>
          </a:prstGeom>
          <a:noFill/>
        </p:spPr>
        <p:txBody>
          <a:bodyPr wrap="square" lIns="45720" rIns="45720">
            <a:spAutoFit/>
          </a:bodyPr>
          <a:lstStyle/>
          <a:p>
            <a:pPr algn="ctr">
              <a:spcAft>
                <a:spcPts val="540"/>
              </a:spcAft>
            </a:pPr>
            <a:r>
              <a:rPr sz="1200" b="0">
                <a:solidFill>
                  <a:srgbClr val="627D98"/>
                </a:solidFill>
                <a:latin typeface="Calibri"/>
              </a:rPr>
              <a:t>29</a:t>
            </a:r>
          </a:p>
        </p:txBody>
      </p:sp>
      <p:sp>
        <p:nvSpPr>
          <p:cNvPr id="5" name="Rectangle 4"/>
          <p:cNvSpPr/>
          <p:nvPr/>
        </p:nvSpPr>
        <p:spPr>
          <a:xfrm>
            <a:off x="457200" y="1280160"/>
            <a:ext cx="11277295" cy="489204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463040"/>
            <a:ext cx="10545775" cy="4480560"/>
          </a:xfrm>
          <a:prstGeom prst="rect">
            <a:avLst/>
          </a:prstGeom>
          <a:noFill/>
        </p:spPr>
        <p:txBody>
          <a:bodyPr wrap="square" lIns="45720" rIns="45720" anchor="ctr">
            <a:spAutoFit/>
          </a:bodyPr>
          <a:lstStyle/>
          <a:p>
            <a:pPr>
              <a:spcAft>
                <a:spcPts val="1440"/>
              </a:spcAft>
            </a:pPr>
            <a:r>
              <a:rPr sz="3200" b="0">
                <a:solidFill>
                  <a:srgbClr val="102A43"/>
                </a:solidFill>
                <a:latin typeface="Calibri"/>
              </a:rPr>
              <a:t>A las 12 jugadas de cada bando se descubre que la partida empezó con los colores invertidos. ¿Qué se hace?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317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77295" cy="777240"/>
          </a:xfrm>
          <a:prstGeom prst="rect">
            <a:avLst/>
          </a:prstGeom>
          <a:noFill/>
        </p:spPr>
        <p:txBody>
          <a:bodyPr wrap="square" lIns="45720" rIns="45720" anchor="ctr">
            <a:spAutoFit/>
          </a:bodyPr>
          <a:lstStyle/>
          <a:p>
            <a:pPr algn="ctr">
              <a:spcAft>
                <a:spcPts val="1530"/>
              </a:spcAft>
            </a:pPr>
            <a:r>
              <a:rPr sz="3400" b="1">
                <a:solidFill>
                  <a:srgbClr val="FFFFFF"/>
                </a:solidFill>
                <a:latin typeface="Calibri"/>
              </a:rPr>
              <a:t>Ejercicio 6 de 6</a:t>
            </a:r>
          </a:p>
        </p:txBody>
      </p:sp>
      <p:sp>
        <p:nvSpPr>
          <p:cNvPr id="4" name="TextBox 3"/>
          <p:cNvSpPr txBox="1"/>
          <p:nvPr/>
        </p:nvSpPr>
        <p:spPr>
          <a:xfrm>
            <a:off x="10728655" y="6419088"/>
            <a:ext cx="1097280" cy="365760"/>
          </a:xfrm>
          <a:prstGeom prst="rect">
            <a:avLst/>
          </a:prstGeom>
          <a:noFill/>
        </p:spPr>
        <p:txBody>
          <a:bodyPr wrap="square" lIns="45720" rIns="45720">
            <a:spAutoFit/>
          </a:bodyPr>
          <a:lstStyle/>
          <a:p>
            <a:pPr algn="ctr">
              <a:spcAft>
                <a:spcPts val="540"/>
              </a:spcAft>
            </a:pPr>
            <a:r>
              <a:rPr sz="1200" b="0">
                <a:solidFill>
                  <a:srgbClr val="627D98"/>
                </a:solidFill>
                <a:latin typeface="Calibri"/>
              </a:rPr>
              <a:t>30</a:t>
            </a:r>
          </a:p>
        </p:txBody>
      </p:sp>
      <p:sp>
        <p:nvSpPr>
          <p:cNvPr id="5" name="Rectangle 4"/>
          <p:cNvSpPr/>
          <p:nvPr/>
        </p:nvSpPr>
        <p:spPr>
          <a:xfrm>
            <a:off x="457200" y="1280160"/>
            <a:ext cx="11277295" cy="489204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463040"/>
            <a:ext cx="10545775" cy="4480560"/>
          </a:xfrm>
          <a:prstGeom prst="rect">
            <a:avLst/>
          </a:prstGeom>
          <a:noFill/>
        </p:spPr>
        <p:txBody>
          <a:bodyPr wrap="square" lIns="45720" rIns="45720" anchor="ctr">
            <a:spAutoFit/>
          </a:bodyPr>
          <a:lstStyle/>
          <a:p>
            <a:pPr>
              <a:spcAft>
                <a:spcPts val="1440"/>
              </a:spcAft>
            </a:pPr>
            <a:r>
              <a:rPr sz="3200" b="0">
                <a:solidFill>
                  <a:srgbClr val="102A43"/>
                </a:solidFill>
                <a:latin typeface="Calibri"/>
              </a:rPr>
              <a:t>Un jugador firma la planilla y luego quiere apelar tu decisión. ¿Puede?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317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77295" cy="777240"/>
          </a:xfrm>
          <a:prstGeom prst="rect">
            <a:avLst/>
          </a:prstGeom>
          <a:noFill/>
        </p:spPr>
        <p:txBody>
          <a:bodyPr wrap="square" lIns="45720" rIns="45720" anchor="ctr">
            <a:spAutoFit/>
          </a:bodyPr>
          <a:lstStyle/>
          <a:p>
            <a:pPr algn="ctr">
              <a:spcAft>
                <a:spcPts val="1530"/>
              </a:spcAft>
            </a:pPr>
            <a:r>
              <a:rPr sz="3400" b="1">
                <a:solidFill>
                  <a:srgbClr val="FFFFFF"/>
                </a:solidFill>
                <a:latin typeface="Calibri"/>
              </a:rPr>
              <a:t>Ejercicios: respuestas</a:t>
            </a:r>
          </a:p>
        </p:txBody>
      </p:sp>
      <p:sp>
        <p:nvSpPr>
          <p:cNvPr id="4" name="TextBox 3"/>
          <p:cNvSpPr txBox="1"/>
          <p:nvPr/>
        </p:nvSpPr>
        <p:spPr>
          <a:xfrm>
            <a:off x="10728655" y="6419088"/>
            <a:ext cx="1097280" cy="365760"/>
          </a:xfrm>
          <a:prstGeom prst="rect">
            <a:avLst/>
          </a:prstGeom>
          <a:noFill/>
        </p:spPr>
        <p:txBody>
          <a:bodyPr wrap="square" lIns="45720" rIns="45720">
            <a:spAutoFit/>
          </a:bodyPr>
          <a:lstStyle/>
          <a:p>
            <a:pPr algn="ctr">
              <a:spcAft>
                <a:spcPts val="540"/>
              </a:spcAft>
            </a:pPr>
            <a:r>
              <a:rPr sz="1200" b="0">
                <a:solidFill>
                  <a:srgbClr val="627D98"/>
                </a:solidFill>
                <a:latin typeface="Calibri"/>
              </a:rPr>
              <a:t>31</a:t>
            </a:r>
          </a:p>
        </p:txBody>
      </p:sp>
      <p:sp>
        <p:nvSpPr>
          <p:cNvPr id="5" name="Rectangle 4"/>
          <p:cNvSpPr/>
          <p:nvPr/>
        </p:nvSpPr>
        <p:spPr>
          <a:xfrm>
            <a:off x="457200" y="1280160"/>
            <a:ext cx="11277295" cy="489204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417319"/>
            <a:ext cx="10637215" cy="4617720"/>
          </a:xfrm>
          <a:prstGeom prst="rect">
            <a:avLst/>
          </a:prstGeom>
          <a:noFill/>
        </p:spPr>
        <p:txBody>
          <a:bodyPr wrap="square" lIns="45720" rIns="45720">
            <a:spAutoFit/>
          </a:bodyPr>
          <a:lstStyle/>
          <a:p>
            <a:pPr>
              <a:spcAft>
                <a:spcPts val="1035"/>
              </a:spcAft>
            </a:pPr>
            <a:r>
              <a:rPr sz="2300" b="0">
                <a:solidFill>
                  <a:srgbClr val="102A43"/>
                </a:solidFill>
                <a:latin typeface="Calibri"/>
              </a:rPr>
              <a:t>•  1. La jugada no estaba completada: se corrige sin sanción, pero con la pieza que tocó, si tiene una jugada legal (pieza tocada). No puede cambiar de pieza. Art. 4.3 y 7.5.1.</a:t>
            </a:r>
          </a:p>
          <a:p>
            <a:pPr>
              <a:spcAft>
                <a:spcPts val="1035"/>
              </a:spcAft>
            </a:pPr>
            <a:r>
              <a:rPr sz="2300" b="0">
                <a:solidFill>
                  <a:srgbClr val="102A43"/>
                </a:solidFill>
                <a:latin typeface="Calibri"/>
              </a:rPr>
              <a:t>•  2. Tablas: la segunda ilegal hace perder, salvo que el rival no pueda dar mate por ninguna serie de jugadas legales. Art. 7.5.5.</a:t>
            </a:r>
          </a:p>
          <a:p>
            <a:pPr>
              <a:spcAft>
                <a:spcPts val="1035"/>
              </a:spcAft>
            </a:pPr>
            <a:r>
              <a:rPr sz="2300" b="0">
                <a:solidFill>
                  <a:srgbClr val="102A43"/>
                </a:solidFill>
                <a:latin typeface="Calibri"/>
              </a:rPr>
              <a:t>•  3. Es una molestia al rival: primero una advertencia y, si sigue, una sanción mayor del art. 12.9. Art. 11.5 y 12.9.</a:t>
            </a:r>
          </a:p>
          <a:p>
            <a:pPr>
              <a:spcAft>
                <a:spcPts val="1035"/>
              </a:spcAft>
            </a:pPr>
            <a:r>
              <a:rPr sz="2300" b="0">
                <a:solidFill>
                  <a:srgbClr val="102A43"/>
                </a:solidFill>
                <a:latin typeface="Calibri"/>
              </a:rPr>
              <a:t>•  4. Incumplió la condición de tenerlo completamente apagado, así que se aplica la sanción prevista por el reglamento o, si no prevé otra, la pérdida de la partida. Art. 11.3.2.</a:t>
            </a:r>
          </a:p>
          <a:p>
            <a:pPr>
              <a:spcAft>
                <a:spcPts val="1035"/>
              </a:spcAft>
            </a:pPr>
            <a:r>
              <a:rPr sz="2300" b="0">
                <a:solidFill>
                  <a:srgbClr val="102A43"/>
                </a:solidFill>
                <a:latin typeface="Calibri"/>
              </a:rPr>
              <a:t>•  5. Como ya hicieron 10 o más jugadas cada uno, la partida sigue con los colores que se jugaron. Art. 7.3.</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317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77295" cy="777240"/>
          </a:xfrm>
          <a:prstGeom prst="rect">
            <a:avLst/>
          </a:prstGeom>
          <a:noFill/>
        </p:spPr>
        <p:txBody>
          <a:bodyPr wrap="square" lIns="45720" rIns="45720" anchor="ctr">
            <a:spAutoFit/>
          </a:bodyPr>
          <a:lstStyle/>
          <a:p>
            <a:pPr algn="ctr">
              <a:spcAft>
                <a:spcPts val="1530"/>
              </a:spcAft>
            </a:pPr>
            <a:r>
              <a:rPr sz="3400" b="1">
                <a:solidFill>
                  <a:srgbClr val="FFFFFF"/>
                </a:solidFill>
                <a:latin typeface="Calibri"/>
              </a:rPr>
              <a:t>Ejercicios: respuestas (continuación)</a:t>
            </a:r>
          </a:p>
        </p:txBody>
      </p:sp>
      <p:sp>
        <p:nvSpPr>
          <p:cNvPr id="4" name="TextBox 3"/>
          <p:cNvSpPr txBox="1"/>
          <p:nvPr/>
        </p:nvSpPr>
        <p:spPr>
          <a:xfrm>
            <a:off x="10728655" y="6419088"/>
            <a:ext cx="1097280" cy="365760"/>
          </a:xfrm>
          <a:prstGeom prst="rect">
            <a:avLst/>
          </a:prstGeom>
          <a:noFill/>
        </p:spPr>
        <p:txBody>
          <a:bodyPr wrap="square" lIns="45720" rIns="45720">
            <a:spAutoFit/>
          </a:bodyPr>
          <a:lstStyle/>
          <a:p>
            <a:pPr algn="ctr">
              <a:spcAft>
                <a:spcPts val="540"/>
              </a:spcAft>
            </a:pPr>
            <a:r>
              <a:rPr sz="1200" b="0">
                <a:solidFill>
                  <a:srgbClr val="627D98"/>
                </a:solidFill>
                <a:latin typeface="Calibri"/>
              </a:rPr>
              <a:t>32</a:t>
            </a:r>
          </a:p>
        </p:txBody>
      </p:sp>
      <p:sp>
        <p:nvSpPr>
          <p:cNvPr id="5" name="Rectangle 4"/>
          <p:cNvSpPr/>
          <p:nvPr/>
        </p:nvSpPr>
        <p:spPr>
          <a:xfrm>
            <a:off x="457200" y="1280160"/>
            <a:ext cx="11277295" cy="489204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417319"/>
            <a:ext cx="10637215" cy="4617720"/>
          </a:xfrm>
          <a:prstGeom prst="rect">
            <a:avLst/>
          </a:prstGeom>
          <a:noFill/>
        </p:spPr>
        <p:txBody>
          <a:bodyPr wrap="square" lIns="45720" rIns="45720">
            <a:spAutoFit/>
          </a:bodyPr>
          <a:lstStyle/>
          <a:p>
            <a:pPr>
              <a:spcAft>
                <a:spcPts val="1350"/>
              </a:spcAft>
            </a:pPr>
            <a:r>
              <a:rPr sz="3000" b="0">
                <a:solidFill>
                  <a:srgbClr val="102A43"/>
                </a:solidFill>
                <a:latin typeface="Calibri"/>
              </a:rPr>
              <a:t>•  6. Sí: firmar no quita el derecho a apelar. Los plazos y la forma los fija el reglamento del torneo. Art. 8.7 y 11.10.</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317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77295" cy="777240"/>
          </a:xfrm>
          <a:prstGeom prst="rect">
            <a:avLst/>
          </a:prstGeom>
          <a:noFill/>
        </p:spPr>
        <p:txBody>
          <a:bodyPr wrap="square" lIns="45720" rIns="45720" anchor="ctr">
            <a:spAutoFit/>
          </a:bodyPr>
          <a:lstStyle/>
          <a:p>
            <a:pPr algn="ctr">
              <a:spcAft>
                <a:spcPts val="1530"/>
              </a:spcAft>
            </a:pPr>
            <a:r>
              <a:rPr sz="3400" b="1">
                <a:solidFill>
                  <a:srgbClr val="FFFFFF"/>
                </a:solidFill>
                <a:latin typeface="Calibri"/>
              </a:rPr>
              <a:t>Quiz de la sesión</a:t>
            </a:r>
          </a:p>
        </p:txBody>
      </p:sp>
      <p:sp>
        <p:nvSpPr>
          <p:cNvPr id="4" name="Rectangle 3"/>
          <p:cNvSpPr/>
          <p:nvPr/>
        </p:nvSpPr>
        <p:spPr>
          <a:xfrm>
            <a:off x="0" y="960120"/>
            <a:ext cx="12191695" cy="548640"/>
          </a:xfrm>
          <a:prstGeom prst="rect">
            <a:avLst/>
          </a:prstGeom>
          <a:solidFill>
            <a:srgbClr val="4E61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987552"/>
            <a:ext cx="11277295" cy="502920"/>
          </a:xfrm>
          <a:prstGeom prst="rect">
            <a:avLst/>
          </a:prstGeom>
          <a:noFill/>
        </p:spPr>
        <p:txBody>
          <a:bodyPr wrap="square" lIns="45720" rIns="45720" anchor="ctr">
            <a:spAutoFit/>
          </a:bodyPr>
          <a:lstStyle/>
          <a:p>
            <a:pPr algn="ctr">
              <a:spcAft>
                <a:spcPts val="945"/>
              </a:spcAft>
            </a:pPr>
            <a:r>
              <a:rPr sz="2100" b="0">
                <a:solidFill>
                  <a:srgbClr val="FFFFFF"/>
                </a:solidFill>
                <a:latin typeface="Calibri"/>
              </a:rPr>
              <a:t>Responde de forma individual</a:t>
            </a:r>
          </a:p>
        </p:txBody>
      </p:sp>
      <p:sp>
        <p:nvSpPr>
          <p:cNvPr id="6" name="TextBox 5"/>
          <p:cNvSpPr txBox="1"/>
          <p:nvPr/>
        </p:nvSpPr>
        <p:spPr>
          <a:xfrm>
            <a:off x="10728655" y="6419088"/>
            <a:ext cx="1097280" cy="365760"/>
          </a:xfrm>
          <a:prstGeom prst="rect">
            <a:avLst/>
          </a:prstGeom>
          <a:noFill/>
        </p:spPr>
        <p:txBody>
          <a:bodyPr wrap="square" lIns="45720" rIns="45720">
            <a:spAutoFit/>
          </a:bodyPr>
          <a:lstStyle/>
          <a:p>
            <a:pPr algn="ctr">
              <a:spcAft>
                <a:spcPts val="540"/>
              </a:spcAft>
            </a:pPr>
            <a:r>
              <a:rPr sz="1200" b="0">
                <a:solidFill>
                  <a:srgbClr val="627D98"/>
                </a:solidFill>
                <a:latin typeface="Calibri"/>
              </a:rPr>
              <a:t>33</a:t>
            </a:r>
          </a:p>
        </p:txBody>
      </p:sp>
      <p:sp>
        <p:nvSpPr>
          <p:cNvPr id="7" name="Rectangle 6"/>
          <p:cNvSpPr/>
          <p:nvPr/>
        </p:nvSpPr>
        <p:spPr>
          <a:xfrm>
            <a:off x="457200" y="1783080"/>
            <a:ext cx="11277295" cy="438912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920240"/>
            <a:ext cx="10637215" cy="4114800"/>
          </a:xfrm>
          <a:prstGeom prst="rect">
            <a:avLst/>
          </a:prstGeom>
          <a:noFill/>
        </p:spPr>
        <p:txBody>
          <a:bodyPr wrap="square" lIns="45720" rIns="45720">
            <a:spAutoFit/>
          </a:bodyPr>
          <a:lstStyle/>
          <a:p>
            <a:pPr>
              <a:spcAft>
                <a:spcPts val="1035"/>
              </a:spcAft>
            </a:pPr>
            <a:r>
              <a:rPr sz="2300" b="0">
                <a:solidFill>
                  <a:srgbClr val="102A43"/>
                </a:solidFill>
                <a:latin typeface="Calibri"/>
              </a:rPr>
              <a:t>•  1. Un jugador toca una pieza propia que puede mover legalmente. ¿Qué debe hacer?</a:t>
            </a:r>
          </a:p>
          <a:p>
            <a:pPr>
              <a:spcAft>
                <a:spcPts val="1035"/>
              </a:spcAft>
            </a:pPr>
            <a:r>
              <a:rPr sz="2300" b="0">
                <a:solidFill>
                  <a:srgbClr val="102A43"/>
                </a:solidFill>
                <a:latin typeface="Calibri"/>
              </a:rPr>
              <a:t>•  2. ¿Qué debe hacer la persona árbitra ante el uso de un dispositivo electrónico no autorizado?</a:t>
            </a:r>
          </a:p>
          <a:p>
            <a:pPr>
              <a:spcAft>
                <a:spcPts val="1035"/>
              </a:spcAft>
            </a:pPr>
            <a:r>
              <a:rPr sz="2300" b="0">
                <a:solidFill>
                  <a:srgbClr val="102A43"/>
                </a:solidFill>
                <a:latin typeface="Calibri"/>
              </a:rPr>
              <a:t>•  3. ¿En qué momento queda completada una jugada ilegal a efectos de sanción?</a:t>
            </a:r>
          </a:p>
          <a:p>
            <a:pPr>
              <a:spcAft>
                <a:spcPts val="1035"/>
              </a:spcAft>
            </a:pPr>
            <a:r>
              <a:rPr sz="2300" b="0">
                <a:solidFill>
                  <a:srgbClr val="102A43"/>
                </a:solidFill>
                <a:latin typeface="Calibri"/>
              </a:rPr>
              <a:t>•  4. En rápidas, ¿cuánto tiempo recibe el rival por la primera jugada ilegal completada?</a:t>
            </a:r>
          </a:p>
          <a:p>
            <a:pPr>
              <a:spcAft>
                <a:spcPts val="1035"/>
              </a:spcAft>
            </a:pPr>
            <a:r>
              <a:rPr sz="2300" b="0">
                <a:solidFill>
                  <a:srgbClr val="102A43"/>
                </a:solidFill>
                <a:latin typeface="Calibri"/>
              </a:rPr>
              <a:t>•  5. ¿Con qué tiempo repone las piezas quien las volcó?</a:t>
            </a:r>
          </a:p>
          <a:p>
            <a:pPr>
              <a:spcAft>
                <a:spcPts val="1035"/>
              </a:spcAft>
            </a:pPr>
            <a:r>
              <a:rPr sz="2300" b="0">
                <a:solidFill>
                  <a:srgbClr val="102A43"/>
                </a:solidFill>
                <a:latin typeface="Calibri"/>
              </a:rPr>
              <a:t>•  6. ¿Cuál es la primera sanción de la lista del art. 12.9?</a:t>
            </a:r>
          </a:p>
          <a:p>
            <a:pPr>
              <a:spcAft>
                <a:spcPts val="1035"/>
              </a:spcAft>
            </a:pPr>
            <a:r>
              <a:rPr sz="2300" b="0">
                <a:solidFill>
                  <a:srgbClr val="102A43"/>
                </a:solidFill>
                <a:latin typeface="Calibri"/>
              </a:rPr>
              <a:t>•  7. Para salir de la sala de juego durante la ronda, ¿qué necesita un jugador?</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317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77295" cy="777240"/>
          </a:xfrm>
          <a:prstGeom prst="rect">
            <a:avLst/>
          </a:prstGeom>
          <a:noFill/>
        </p:spPr>
        <p:txBody>
          <a:bodyPr wrap="square" lIns="45720" rIns="45720" anchor="ctr">
            <a:spAutoFit/>
          </a:bodyPr>
          <a:lstStyle/>
          <a:p>
            <a:pPr algn="ctr">
              <a:spcAft>
                <a:spcPts val="1530"/>
              </a:spcAft>
            </a:pPr>
            <a:r>
              <a:rPr sz="3400" b="1">
                <a:solidFill>
                  <a:srgbClr val="FFFFFF"/>
                </a:solidFill>
                <a:latin typeface="Calibri"/>
              </a:rPr>
              <a:t>Quiz de la sesión (continuación)</a:t>
            </a:r>
          </a:p>
        </p:txBody>
      </p:sp>
      <p:sp>
        <p:nvSpPr>
          <p:cNvPr id="4" name="Rectangle 3"/>
          <p:cNvSpPr/>
          <p:nvPr/>
        </p:nvSpPr>
        <p:spPr>
          <a:xfrm>
            <a:off x="0" y="960120"/>
            <a:ext cx="12191695" cy="548640"/>
          </a:xfrm>
          <a:prstGeom prst="rect">
            <a:avLst/>
          </a:prstGeom>
          <a:solidFill>
            <a:srgbClr val="4E61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987552"/>
            <a:ext cx="11277295" cy="502920"/>
          </a:xfrm>
          <a:prstGeom prst="rect">
            <a:avLst/>
          </a:prstGeom>
          <a:noFill/>
        </p:spPr>
        <p:txBody>
          <a:bodyPr wrap="square" lIns="45720" rIns="45720" anchor="ctr">
            <a:spAutoFit/>
          </a:bodyPr>
          <a:lstStyle/>
          <a:p>
            <a:pPr algn="ctr">
              <a:spcAft>
                <a:spcPts val="945"/>
              </a:spcAft>
            </a:pPr>
            <a:r>
              <a:rPr sz="2100" b="0">
                <a:solidFill>
                  <a:srgbClr val="FFFFFF"/>
                </a:solidFill>
                <a:latin typeface="Calibri"/>
              </a:rPr>
              <a:t>Responde de forma individual</a:t>
            </a:r>
          </a:p>
        </p:txBody>
      </p:sp>
      <p:sp>
        <p:nvSpPr>
          <p:cNvPr id="6" name="TextBox 5"/>
          <p:cNvSpPr txBox="1"/>
          <p:nvPr/>
        </p:nvSpPr>
        <p:spPr>
          <a:xfrm>
            <a:off x="10728655" y="6419088"/>
            <a:ext cx="1097280" cy="365760"/>
          </a:xfrm>
          <a:prstGeom prst="rect">
            <a:avLst/>
          </a:prstGeom>
          <a:noFill/>
        </p:spPr>
        <p:txBody>
          <a:bodyPr wrap="square" lIns="45720" rIns="45720">
            <a:spAutoFit/>
          </a:bodyPr>
          <a:lstStyle/>
          <a:p>
            <a:pPr algn="ctr">
              <a:spcAft>
                <a:spcPts val="540"/>
              </a:spcAft>
            </a:pPr>
            <a:r>
              <a:rPr sz="1200" b="0">
                <a:solidFill>
                  <a:srgbClr val="627D98"/>
                </a:solidFill>
                <a:latin typeface="Calibri"/>
              </a:rPr>
              <a:t>34</a:t>
            </a:r>
          </a:p>
        </p:txBody>
      </p:sp>
      <p:sp>
        <p:nvSpPr>
          <p:cNvPr id="7" name="Rectangle 6"/>
          <p:cNvSpPr/>
          <p:nvPr/>
        </p:nvSpPr>
        <p:spPr>
          <a:xfrm>
            <a:off x="457200" y="1783080"/>
            <a:ext cx="11277295" cy="438912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920240"/>
            <a:ext cx="10637215" cy="4114800"/>
          </a:xfrm>
          <a:prstGeom prst="rect">
            <a:avLst/>
          </a:prstGeom>
          <a:noFill/>
        </p:spPr>
        <p:txBody>
          <a:bodyPr wrap="square" lIns="45720" rIns="45720">
            <a:spAutoFit/>
          </a:bodyPr>
          <a:lstStyle/>
          <a:p>
            <a:pPr>
              <a:spcAft>
                <a:spcPts val="1260"/>
              </a:spcAft>
            </a:pPr>
            <a:r>
              <a:rPr sz="2800" b="0">
                <a:solidFill>
                  <a:srgbClr val="102A43"/>
                </a:solidFill>
                <a:latin typeface="Calibri"/>
              </a:rPr>
              <a:t>•  8. ¿Puede un jugador que ya terminó su partida quedarse analizándola en un tablero de la sala, junto a mesas que siguen jugando?</a:t>
            </a:r>
          </a:p>
          <a:p>
            <a:pPr>
              <a:spcAft>
                <a:spcPts val="1260"/>
              </a:spcAft>
            </a:pPr>
            <a:r>
              <a:rPr sz="2800" b="0">
                <a:solidFill>
                  <a:srgbClr val="102A43"/>
                </a:solidFill>
                <a:latin typeface="Calibri"/>
              </a:rPr>
              <a:t>•  9. Si no se puede reconstruir la posición anterior a una jugada ilegal, ¿desde dónde continúa la partida?</a:t>
            </a:r>
          </a:p>
          <a:p>
            <a:pPr>
              <a:spcAft>
                <a:spcPts val="1260"/>
              </a:spcAft>
            </a:pPr>
            <a:r>
              <a:rPr sz="2800" b="0">
                <a:solidFill>
                  <a:srgbClr val="102A43"/>
                </a:solidFill>
                <a:latin typeface="Calibri"/>
              </a:rPr>
              <a:t>•  10. ¿Cuál es la sanción más severa de la lista del art. 12.9?</a:t>
            </a:r>
          </a:p>
          <a:p>
            <a:pPr>
              <a:spcAft>
                <a:spcPts val="1260"/>
              </a:spcAft>
            </a:pPr>
            <a:r>
              <a:rPr sz="2800" b="0">
                <a:solidFill>
                  <a:srgbClr val="102A43"/>
                </a:solidFill>
                <a:latin typeface="Calibri"/>
              </a:rPr>
              <a:t>•  11. Un jugador toca una pieza con intención de capturarla. Si luego quiere reclamar que el rival incumplió la regla de pieza tocada, ¿puede hacerlo?</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317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77295" cy="777240"/>
          </a:xfrm>
          <a:prstGeom prst="rect">
            <a:avLst/>
          </a:prstGeom>
          <a:noFill/>
        </p:spPr>
        <p:txBody>
          <a:bodyPr wrap="square" lIns="45720" rIns="45720" anchor="ctr">
            <a:spAutoFit/>
          </a:bodyPr>
          <a:lstStyle/>
          <a:p>
            <a:pPr algn="ctr">
              <a:spcAft>
                <a:spcPts val="1530"/>
              </a:spcAft>
            </a:pPr>
            <a:r>
              <a:rPr sz="3400" b="1">
                <a:solidFill>
                  <a:srgbClr val="FFFFFF"/>
                </a:solidFill>
                <a:latin typeface="Calibri"/>
              </a:rPr>
              <a:t>Quiz: respuestas</a:t>
            </a:r>
          </a:p>
        </p:txBody>
      </p:sp>
      <p:sp>
        <p:nvSpPr>
          <p:cNvPr id="4" name="TextBox 3"/>
          <p:cNvSpPr txBox="1"/>
          <p:nvPr/>
        </p:nvSpPr>
        <p:spPr>
          <a:xfrm>
            <a:off x="10728655" y="6419088"/>
            <a:ext cx="1097280" cy="365760"/>
          </a:xfrm>
          <a:prstGeom prst="rect">
            <a:avLst/>
          </a:prstGeom>
          <a:noFill/>
        </p:spPr>
        <p:txBody>
          <a:bodyPr wrap="square" lIns="45720" rIns="45720">
            <a:spAutoFit/>
          </a:bodyPr>
          <a:lstStyle/>
          <a:p>
            <a:pPr algn="ctr">
              <a:spcAft>
                <a:spcPts val="540"/>
              </a:spcAft>
            </a:pPr>
            <a:r>
              <a:rPr sz="1200" b="0">
                <a:solidFill>
                  <a:srgbClr val="627D98"/>
                </a:solidFill>
                <a:latin typeface="Calibri"/>
              </a:rPr>
              <a:t>35</a:t>
            </a:r>
          </a:p>
        </p:txBody>
      </p:sp>
      <p:sp>
        <p:nvSpPr>
          <p:cNvPr id="5" name="Rectangle 4"/>
          <p:cNvSpPr/>
          <p:nvPr/>
        </p:nvSpPr>
        <p:spPr>
          <a:xfrm>
            <a:off x="457200" y="1280160"/>
            <a:ext cx="11277295" cy="489204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417319"/>
            <a:ext cx="10637215" cy="4617720"/>
          </a:xfrm>
          <a:prstGeom prst="rect">
            <a:avLst/>
          </a:prstGeom>
          <a:noFill/>
        </p:spPr>
        <p:txBody>
          <a:bodyPr wrap="square" lIns="45720" rIns="45720">
            <a:spAutoFit/>
          </a:bodyPr>
          <a:lstStyle/>
          <a:p>
            <a:pPr>
              <a:spcAft>
                <a:spcPts val="1080"/>
              </a:spcAft>
            </a:pPr>
            <a:r>
              <a:rPr sz="2400" b="0">
                <a:solidFill>
                  <a:srgbClr val="102A43"/>
                </a:solidFill>
                <a:latin typeface="Calibri"/>
              </a:rPr>
              <a:t>•  1. Debe moverla si tiene jugada legal.</a:t>
            </a:r>
          </a:p>
          <a:p>
            <a:pPr>
              <a:spcAft>
                <a:spcPts val="1080"/>
              </a:spcAft>
            </a:pPr>
            <a:r>
              <a:rPr sz="2400" b="0">
                <a:solidFill>
                  <a:srgbClr val="102A43"/>
                </a:solidFill>
                <a:latin typeface="Calibri"/>
              </a:rPr>
              <a:t>•  2. Aplicar la sanción establecida en el reglamento de competición.</a:t>
            </a:r>
          </a:p>
          <a:p>
            <a:pPr>
              <a:spcAft>
                <a:spcPts val="1080"/>
              </a:spcAft>
            </a:pPr>
            <a:r>
              <a:rPr sz="2400" b="0">
                <a:solidFill>
                  <a:srgbClr val="102A43"/>
                </a:solidFill>
                <a:latin typeface="Calibri"/>
              </a:rPr>
              <a:t>•  3. Cuando el jugador puso en marcha el reloj del rival.</a:t>
            </a:r>
          </a:p>
          <a:p>
            <a:pPr>
              <a:spcAft>
                <a:spcPts val="1080"/>
              </a:spcAft>
            </a:pPr>
            <a:r>
              <a:rPr sz="2400" b="0">
                <a:solidFill>
                  <a:srgbClr val="102A43"/>
                </a:solidFill>
                <a:latin typeface="Calibri"/>
              </a:rPr>
              <a:t>•  4. Un minuto (en ritmo clásico son dos).</a:t>
            </a:r>
          </a:p>
          <a:p>
            <a:pPr>
              <a:spcAft>
                <a:spcPts val="1080"/>
              </a:spcAft>
            </a:pPr>
            <a:r>
              <a:rPr sz="2400" b="0">
                <a:solidFill>
                  <a:srgbClr val="102A43"/>
                </a:solidFill>
                <a:latin typeface="Calibri"/>
              </a:rPr>
              <a:t>•  5. Con su propio tiempo.</a:t>
            </a:r>
          </a:p>
          <a:p>
            <a:pPr>
              <a:spcAft>
                <a:spcPts val="1080"/>
              </a:spcAft>
            </a:pPr>
            <a:r>
              <a:rPr sz="2400" b="0">
                <a:solidFill>
                  <a:srgbClr val="102A43"/>
                </a:solidFill>
                <a:latin typeface="Calibri"/>
              </a:rPr>
              <a:t>•  6. La advertencia.</a:t>
            </a:r>
          </a:p>
          <a:p>
            <a:pPr>
              <a:spcAft>
                <a:spcPts val="1080"/>
              </a:spcAft>
            </a:pPr>
            <a:r>
              <a:rPr sz="2400" b="0">
                <a:solidFill>
                  <a:srgbClr val="102A43"/>
                </a:solidFill>
                <a:latin typeface="Calibri"/>
              </a:rPr>
              <a:t>•  7. Permiso del árbitro.</a:t>
            </a:r>
          </a:p>
          <a:p>
            <a:pPr>
              <a:spcAft>
                <a:spcPts val="1080"/>
              </a:spcAft>
            </a:pPr>
            <a:r>
              <a:rPr sz="2400" b="0">
                <a:solidFill>
                  <a:srgbClr val="102A43"/>
                </a:solidFill>
                <a:latin typeface="Calibri"/>
              </a:rPr>
              <a:t>•  8. No: ya es espectador y no puede interferir ni analizar en la sala de juego.</a:t>
            </a:r>
          </a:p>
          <a:p>
            <a:pPr>
              <a:spcAft>
                <a:spcPts val="1080"/>
              </a:spcAft>
            </a:pPr>
            <a:r>
              <a:rPr sz="2400" b="0">
                <a:solidFill>
                  <a:srgbClr val="102A43"/>
                </a:solidFill>
                <a:latin typeface="Calibri"/>
              </a:rPr>
              <a:t>•  9. Desde la última posición identificable.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317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77295" cy="777240"/>
          </a:xfrm>
          <a:prstGeom prst="rect">
            <a:avLst/>
          </a:prstGeom>
          <a:noFill/>
        </p:spPr>
        <p:txBody>
          <a:bodyPr wrap="square" lIns="45720" rIns="45720" anchor="ctr">
            <a:spAutoFit/>
          </a:bodyPr>
          <a:lstStyle/>
          <a:p>
            <a:pPr algn="ctr">
              <a:spcAft>
                <a:spcPts val="1530"/>
              </a:spcAft>
            </a:pPr>
            <a:r>
              <a:rPr sz="3400" b="1">
                <a:solidFill>
                  <a:srgbClr val="FFFFFF"/>
                </a:solidFill>
                <a:latin typeface="Calibri"/>
              </a:rPr>
              <a:t>Quiz: respuestas (continuación)</a:t>
            </a:r>
          </a:p>
        </p:txBody>
      </p:sp>
      <p:sp>
        <p:nvSpPr>
          <p:cNvPr id="4" name="TextBox 3"/>
          <p:cNvSpPr txBox="1"/>
          <p:nvPr/>
        </p:nvSpPr>
        <p:spPr>
          <a:xfrm>
            <a:off x="10728655" y="6419088"/>
            <a:ext cx="1097280" cy="365760"/>
          </a:xfrm>
          <a:prstGeom prst="rect">
            <a:avLst/>
          </a:prstGeom>
          <a:noFill/>
        </p:spPr>
        <p:txBody>
          <a:bodyPr wrap="square" lIns="45720" rIns="45720">
            <a:spAutoFit/>
          </a:bodyPr>
          <a:lstStyle/>
          <a:p>
            <a:pPr algn="ctr">
              <a:spcAft>
                <a:spcPts val="540"/>
              </a:spcAft>
            </a:pPr>
            <a:r>
              <a:rPr sz="1200" b="0">
                <a:solidFill>
                  <a:srgbClr val="627D98"/>
                </a:solidFill>
                <a:latin typeface="Calibri"/>
              </a:rPr>
              <a:t>36</a:t>
            </a:r>
          </a:p>
        </p:txBody>
      </p:sp>
      <p:sp>
        <p:nvSpPr>
          <p:cNvPr id="5" name="Rectangle 4"/>
          <p:cNvSpPr/>
          <p:nvPr/>
        </p:nvSpPr>
        <p:spPr>
          <a:xfrm>
            <a:off x="457200" y="1280160"/>
            <a:ext cx="11277295" cy="489204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417319"/>
            <a:ext cx="10637215" cy="4617720"/>
          </a:xfrm>
          <a:prstGeom prst="rect">
            <a:avLst/>
          </a:prstGeom>
          <a:noFill/>
        </p:spPr>
        <p:txBody>
          <a:bodyPr wrap="square" lIns="45720" rIns="45720">
            <a:spAutoFit/>
          </a:bodyPr>
          <a:lstStyle/>
          <a:p>
            <a:pPr>
              <a:spcAft>
                <a:spcPts val="1350"/>
              </a:spcAft>
            </a:pPr>
            <a:r>
              <a:rPr sz="3000" b="0">
                <a:solidFill>
                  <a:srgbClr val="102A43"/>
                </a:solidFill>
                <a:latin typeface="Calibri"/>
              </a:rPr>
              <a:t>•  10. Multa anunciada de antemano, exclusión de una o más rondas o expulsión de la competición.</a:t>
            </a:r>
          </a:p>
          <a:p>
            <a:pPr>
              <a:spcAft>
                <a:spcPts val="1350"/>
              </a:spcAft>
            </a:pPr>
            <a:r>
              <a:rPr sz="3000" b="0">
                <a:solidFill>
                  <a:srgbClr val="102A43"/>
                </a:solidFill>
                <a:latin typeface="Calibri"/>
              </a:rPr>
              <a:t>•  11. No: al tocar una pieza con esa intención, pierde el derecho a reclamar esa infracción del rival.</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728655" y="6419088"/>
            <a:ext cx="1097280" cy="365760"/>
          </a:xfrm>
          <a:prstGeom prst="rect">
            <a:avLst/>
          </a:prstGeom>
          <a:noFill/>
        </p:spPr>
        <p:txBody>
          <a:bodyPr wrap="square" lIns="45720" rIns="45720">
            <a:spAutoFit/>
          </a:bodyPr>
          <a:lstStyle/>
          <a:p>
            <a:pPr algn="ctr">
              <a:spcAft>
                <a:spcPts val="540"/>
              </a:spcAft>
            </a:pPr>
            <a:r>
              <a:rPr sz="1200" b="0">
                <a:solidFill>
                  <a:srgbClr val="9FB3C8"/>
                </a:solidFill>
                <a:latin typeface="Calibri"/>
              </a:rPr>
              <a:t>37</a:t>
            </a:r>
          </a:p>
        </p:txBody>
      </p:sp>
      <p:sp>
        <p:nvSpPr>
          <p:cNvPr id="4" name="TextBox 3"/>
          <p:cNvSpPr txBox="1"/>
          <p:nvPr/>
        </p:nvSpPr>
        <p:spPr>
          <a:xfrm>
            <a:off x="731520" y="640080"/>
            <a:ext cx="10728655" cy="548640"/>
          </a:xfrm>
          <a:prstGeom prst="rect">
            <a:avLst/>
          </a:prstGeom>
          <a:noFill/>
        </p:spPr>
        <p:txBody>
          <a:bodyPr wrap="square" lIns="45720" rIns="45720">
            <a:spAutoFit/>
          </a:bodyPr>
          <a:lstStyle/>
          <a:p>
            <a:pPr>
              <a:spcAft>
                <a:spcPts val="900"/>
              </a:spcAft>
            </a:pPr>
            <a:r>
              <a:rPr sz="2000" b="1">
                <a:solidFill>
                  <a:srgbClr val="F4C430"/>
                </a:solidFill>
                <a:latin typeface="Calibri"/>
              </a:rPr>
              <a:t>TAREA PARA LA PRÓXIMA SESIÓN</a:t>
            </a:r>
          </a:p>
        </p:txBody>
      </p:sp>
      <p:sp>
        <p:nvSpPr>
          <p:cNvPr id="5" name="TextBox 4"/>
          <p:cNvSpPr txBox="1"/>
          <p:nvPr/>
        </p:nvSpPr>
        <p:spPr>
          <a:xfrm>
            <a:off x="731520" y="1371600"/>
            <a:ext cx="10728655" cy="3108960"/>
          </a:xfrm>
          <a:prstGeom prst="rect">
            <a:avLst/>
          </a:prstGeom>
          <a:noFill/>
        </p:spPr>
        <p:txBody>
          <a:bodyPr wrap="square" lIns="45720" rIns="45720">
            <a:spAutoFit/>
          </a:bodyPr>
          <a:lstStyle/>
          <a:p>
            <a:pPr>
              <a:spcAft>
                <a:spcPts val="1440"/>
              </a:spcAft>
            </a:pPr>
            <a:r>
              <a:rPr sz="3200" b="0">
                <a:solidFill>
                  <a:srgbClr val="FFFFFF"/>
                </a:solidFill>
                <a:latin typeface="Calibri"/>
              </a:rPr>
              <a:t>Redactar el análisis de un caso de reclamo (real o hipotético) indicando la normativa aplicada y la decisión arbitral justificada.</a:t>
            </a:r>
          </a:p>
        </p:txBody>
      </p:sp>
      <p:sp>
        <p:nvSpPr>
          <p:cNvPr id="6" name="TextBox 5"/>
          <p:cNvSpPr txBox="1"/>
          <p:nvPr/>
        </p:nvSpPr>
        <p:spPr>
          <a:xfrm>
            <a:off x="731520" y="4846320"/>
            <a:ext cx="10728655" cy="731520"/>
          </a:xfrm>
          <a:prstGeom prst="rect">
            <a:avLst/>
          </a:prstGeom>
          <a:noFill/>
        </p:spPr>
        <p:txBody>
          <a:bodyPr wrap="square" lIns="45720" rIns="45720">
            <a:spAutoFit/>
          </a:bodyPr>
          <a:lstStyle/>
          <a:p>
            <a:pPr>
              <a:spcAft>
                <a:spcPts val="1080"/>
              </a:spcAft>
            </a:pPr>
            <a:r>
              <a:rPr sz="2400" b="0">
                <a:solidFill>
                  <a:srgbClr val="CADCFC"/>
                </a:solidFill>
                <a:latin typeface="Calibri"/>
              </a:rPr>
              <a:t>¿Dudas? Este es el momento. Gracias por tu participación.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