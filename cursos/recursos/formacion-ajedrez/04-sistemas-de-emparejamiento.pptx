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FORMACIÓN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Modalidades, normativa y sistemas de torneo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mbria"/>
              </a:rPr>
              <a:t>Sistemas de emparejamiento para torneos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Sistema suizo y todos contra todos (round robin): cómo funcionan y cuándo usar cada uno.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1F33"/>
                </a:solidFill>
                <a:latin typeface="Cambria"/>
              </a:rPr>
              <a:t>Sistemas de emparejamiento para torneos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Aplicar las reglas básicas del sistema suizo: rivales, colores y descansos.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Ordenar la lista inicial y emparejar la primera ronda.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Emparejar una ronda siguiente por grupos de puntuación.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Calendarizar un torneo de todos contra todos con las tablas de Berger.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4E68"/>
                </a:solidFill>
                <a:latin typeface="Calibri"/>
              </a:rPr>
              <a:t>•  Elegir el sistema adecuado según participantes, tiempo y objetivo del torneo.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CRONOGRAMA DE LA SESIÓN · 5 HORAS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8138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Tiempo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0:00 – 0:15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Repaso y revisión de la tarea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0:15 – 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El sistema suizo: reglas básicas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1:00 – 1:40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La primera ronda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1:40 – 1:55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1:55 – 2:35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Las rondas siguientes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2:35 – 3:05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Todos contra todos (round robin)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3:05 – 3:20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E911D"/>
                          </a:solidFill>
                        </a:rPr>
                        <a:t>Receso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3:20 – 4:10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50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Práctica: construcción de cuadros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4:10 – 4:40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Quiz de la sesión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4:40 – 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4E68"/>
                          </a:solidFill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Reglas básicas de todo sistema suizo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En el suizo se empareja ronda a ronda a jugadores con puntuaciones iguales o parecidas. Su regla absoluta es que dos jugadores no se enfrentan más de una vez, por encima de puntuaciones y colores.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La diferencia entre partidas con blancas y con negras de un jugador no puede superar 2 ni bajar de -2.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Ningún jugador recibe el mismo color tres veces seguidas (con excepciones en la última ronda).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Con número impar, un jugador queda libre (bye): recibe un punto sin color, y no puede recibirlo dos veces.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El número de rondas se fija y se anuncia antes de empezar.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Reglas básicas del sistema suizo (Handbook C.04.1)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lista inicial y la primera ronda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A1F33"/>
                </a:solidFill>
                <a:latin typeface="Calibri"/>
              </a:rPr>
              <a:t>Antes de la primera ronda se ordena a los jugadores por rating, de mayor a menor, con criterios para los empates (en torneos escolares sin rating, suele usarse el orden alfabético o un sorteo que el reglamento anuncia). Ese número de orden acompaña al jugador todo el torneo. En la primera ronda se divide la lista en dos mitades y la superior juega contra la inferior.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Con 12 jugadores: 1–7, 2–8, 3–9, 4–10, 5–11 y 6–12.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El color del número 1 se sortea y se alterna tablero a tablero: si el 1 lleva blancas, el 2 lleva negras, el 3 blancas, y así.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Resultado con el 1 de blancas: 1–7, 8–2, 3–9, 10–4, 5–11, 12–6 (el primero de cada pareja lleva blancas).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Reglas generales de manejo del sistema suizo (Handbook C.04.2) y Sistema holandés de la FIDE (Handbook C.04.3)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rondas siguientes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Desde la segunda ronda se forman grupos de puntuación. Dentro de cada grupo, ordenado por el número inicial, se cruza la mitad superior con la inferior, respetando los colores y la prohibición de repetir rival. Quien no se puede emparejar en su grupo baja al siguiente como flotante.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34E68"/>
                </a:solidFill>
                <a:latin typeface="Calibri"/>
              </a:rPr>
              <a:t>•  Una vez publicado, el emparejamiento solo se cambia si hace jugar dos veces al mismo par.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4E68"/>
                </a:solidFill>
                <a:latin typeface="Calibri"/>
              </a:rPr>
              <a:t>•  A quien se sabe que no jugará una ronda no se le empareja y anota cero, salvo que el reglamento prevea otra cosa (por ejemplo, medio punto por descanso solicitado).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4E68"/>
                </a:solidFill>
                <a:latin typeface="Calibri"/>
              </a:rPr>
              <a:t>•  Quien falta sin avisar se considera retirado, salvo que explique su ausencia antes del siguiente emparejamiento.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4E68"/>
                </a:solidFill>
                <a:latin typeface="Calibri"/>
              </a:rPr>
              <a:t>•  Está prohibido alterar el emparejamiento correcto para favorecer a alguien.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4E68"/>
                </a:solidFill>
                <a:latin typeface="Calibri"/>
              </a:rPr>
              <a:t>•  En la práctica se usa un programa de emparejamiento reconocido por la FIDE; quien arbitra debe entender lo que hace para poder revisarlo.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Reglas generales de manejo del sistema suizo (Handbook C.04.2) y Sistema holandés de la FIDE (Handbook C.04.3)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Todos contra todos (round robin)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Cada jugador se enfrenta una vez con todos los demás. Con n jugadores (n par) hay n - 1 rondas y n × (n - 1) / 2 partidas. Si n es impar, se agrega un «descanso» como jugador más y en cada ronda descansa quien le toque enfrentarlo. El orden de las partidas sale de las tablas de Berger.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Tabla de Berger para 4 jugadores. Ronda 1: 1–4, 2–3. Ronda 2: 4–3, 1–2. Ronda 3: 2–4, 3–1.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Con 6 jugadores: 5 rondas y 15 partidas. Con 8: 7 rondas y 28 partidas.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Los números se sortean antes de empezar.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4E68"/>
                </a:solidFill>
                <a:latin typeface="Calibri"/>
              </a:rPr>
              <a:t>•  El desempate habitual es el Sonneborn-Berger, porque el Buchholz no distingue: todos enfrentaron a los mismos.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Tablas de Berger; Reglamento de desempates de la FIDE (Handbook C.07)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CONTENIDO PARA VER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¿Suizo o todos contra todos?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064240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1F33"/>
                </a:solidFill>
                <a:latin typeface="Calibri"/>
              </a:rPr>
              <a:t>La decisión depende de cuántas personas juegan, del tiempo disponible y del objetivo del torneo.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Pocos participantes (hasta 8 o 10) y tiempo suficiente: todos contra todos, que da la clasificación más justa.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Muchos participantes y pocas rondas posibles: suizo.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Regla práctica: con n jugadores, un suizo necesita al menos tantas rondas como veces hay que dividir n entre 2 para llegar a 1, y conviene sumar una o dos más para separar bien los primeros puestos.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E68"/>
                </a:solidFill>
                <a:latin typeface="Calibri"/>
              </a:rPr>
              <a:t>•  Si el objetivo es clasificar a una etapa siguiente, las bases deben decir cuántos clasifican y con qué desempates.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Fuente: Reglas básicas del sistema suizo (Handbook C.04.1)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ronda 2 de un suizo de 8 jugadores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Ronda 1 (primero, las blancas): 1–5, 6–2, 3–7, 8–4. Resultados: ganan 1, 2, 7 y 8. ¿Cómo queda la ronda 2?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La ronda 2 de un suizo de 8 jugadores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ADCFC"/>
                </a:solidFill>
                <a:latin typeface="Calibri"/>
              </a:rPr>
              <a:t>Grupo de 1 punto: 1, 2, 7 y 8 (mitades {1, 2} y {7, 8}): 1 contra 7 y 2 contra 8. Grupo de 0: 3, 4, 5 y 6: 3 contra 5 y 4 contra 6. Colores alternados: 7 (tuvo negras) lleva blancas contra 1; 2 (tuvo negras) lleva blancas contra 8; 5 (tuvo negras) blancas contra 3; 4 (tuvo negras) blancas contra 6. Emparejamiento: 7–1, 2–8, 5–3, 4–6.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Sistema holandés de la FIDE (Handbook C.04.3)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error del emparejamiento publicado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Tras publicar la ronda 4, un padre de familia pide cambiar un emparejamiento porque su hijo «ya jugó con alguien de su colegio».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El error del emparejamiento publicado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No se cambia: jugar con alguien del mismo centro educativo no es una causa. Solo se corrige si el emparejamiento hace jugar dos veces a los mismos dos jugadores (salvo que la normativa del evento prevea evitar cruces del mismo centro, y en ese caso debe estar anunciado).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Reglas generales de manejo del sistema suizo (Handbook C.04.2)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Siete jugadores en round robin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062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4E68"/>
                </a:solidFill>
                <a:latin typeface="Calibri"/>
              </a:rPr>
              <a:t>Se inscriben 7 estudiantes y se quiere un todos contra todos.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mbria"/>
              </a:rPr>
              <a:t>Siete jugadores en round robin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ADCFC"/>
                </a:solidFill>
                <a:latin typeface="Calibri"/>
              </a:rPr>
              <a:t>Se agrega un descanso como octavo número: 7 rondas, 21 partidas, y en cada ronda descansa un jugador.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C8"/>
                </a:solidFill>
                <a:latin typeface="Calibri"/>
              </a:rPr>
              <a:t>Fuente: Tablas de Berger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PRÁCTICA — CONSTRUCCIÓN DE UN CUADRO DE EMPAREJAMIENTO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mbria"/>
              </a:rPr>
              <a:t>Con una lista de 12 jugadores ficticios, cada participante construye la primera ronda bajo sistema suizo y, luego, la calendarización equivalente en round robin.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1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Con 12 jugadores ordenados por rating (1 a 12) y el 1 con blancas por sorteo, escribe la primera ronda del suizo.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2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¿Cuántas rondas y cuántas partidas tiene un todos contra todos con 10 jugadores? ¿Y con 9?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3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Escribe el calendario completo de un todos contra todos de 4 jugadores con la tabla de Berger.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EJERCICIO 4 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A1F33"/>
                </a:solidFill>
                <a:latin typeface="Calibri"/>
              </a:rPr>
              <a:t>Un suizo tiene 11 jugadores. ¿Qué pasa en cada ronda con el número impar?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QUIZ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1. ¿Qué sistema resulta más adecuado cuando hay muchos participantes y tiempo limitado?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2. En el sistema todos contra todos (round robin), ¿qué característica lo define?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3. ¿Cómo se ordena la lista inicial de un suizo?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4. Publicado el emparejamiento, ¿en qué único caso se puede cambiar?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5. ¿Qué recibe en un suizo quien queda libre por número impar?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4E68"/>
                </a:solidFill>
                <a:latin typeface="Calibri"/>
              </a:rPr>
              <a:t>6. ¿Cuántas partidas tiene un todos contra todos de 8 jugadores?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B429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mbria"/>
              </a:rPr>
              <a:t>A partir de los resultados de la ronda 1, elaborar el emparejamiento de la ronda 2 bajo sistema suizo.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3C8"/>
                </a:solidFill>
                <a:latin typeface="Calibri"/>
              </a:rPr>
              <a:t>Formación Ajedrez · Sesión 4 · ajedrez-integral.com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