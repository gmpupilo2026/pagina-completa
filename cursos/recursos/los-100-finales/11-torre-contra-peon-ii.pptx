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11
Torre contra peón (II): peones de caballo y torre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25 a 29 · 12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las excepciones con la torre delante del peón, el peón de caballo y el peón de torre (empuje desde atrás y lateral, ahogado en el rincón) y cuándo el peón gana a la torre.</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Cerca del rincón cambian las reglas: el zugzwang, la coronación de caballo y el ahogado deciden.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25 · La torre delante del peón</a:t>
            </a:r>
          </a:p>
          <a:p>
            <a:pPr>
              <a:spcAft>
                <a:spcPts val="600"/>
              </a:spcAft>
            </a:pPr>
            <a:r>
              <a:rPr sz="1600">
                <a:solidFill>
                  <a:srgbClr val="1F2937"/>
                </a:solidFill>
                <a:latin typeface="Calibri"/>
              </a:rPr>
              <a:t>•  Final 26 · Temas especiales del peón de caballo</a:t>
            </a:r>
          </a:p>
          <a:p>
            <a:pPr>
              <a:spcAft>
                <a:spcPts val="600"/>
              </a:spcAft>
            </a:pPr>
            <a:r>
              <a:rPr sz="1600">
                <a:solidFill>
                  <a:srgbClr val="1F2937"/>
                </a:solidFill>
                <a:latin typeface="Calibri"/>
              </a:rPr>
              <a:t>•  Final 27 · Peón de torre: el empuje desde atrás</a:t>
            </a:r>
          </a:p>
          <a:p>
            <a:pPr>
              <a:spcAft>
                <a:spcPts val="600"/>
              </a:spcAft>
            </a:pPr>
            <a:r>
              <a:rPr sz="1600">
                <a:solidFill>
                  <a:srgbClr val="1F2937"/>
                </a:solidFill>
                <a:latin typeface="Calibri"/>
              </a:rPr>
              <a:t>•  Final 28 · Peón de torre: el empuje lateral</a:t>
            </a:r>
          </a:p>
          <a:p>
            <a:pPr>
              <a:spcAft>
                <a:spcPts val="600"/>
              </a:spcAft>
            </a:pPr>
            <a:r>
              <a:rPr sz="1600">
                <a:solidFill>
                  <a:srgbClr val="1F2937"/>
                </a:solidFill>
                <a:latin typeface="Calibri"/>
              </a:rPr>
              <a:t>•  Final 29 · El peón gana a la torre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25 · La torre delante del peón</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la torre está delante del peón, lo frena, pero el bando del peón amenaza coronar y cambiar el peón por la torre. El rey fuerte tiene que dar un rodeo para controlar la casilla de coronación: entonces el bando del peón cae en zugzwang, porque su rey no puede abandonar el peón y cualquier jugada lo pierde.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la torre delante del peón, el rey fuerte debe controlar la casilla de coronación: si no, la torre se cambia por la dama.</a:t>
            </a:r>
          </a:p>
          <a:p>
            <a:pPr>
              <a:spcAft>
                <a:spcPts val="600"/>
              </a:spcAft>
            </a:pPr>
            <a:r>
              <a:rPr sz="1600">
                <a:solidFill>
                  <a:srgbClr val="1F2937"/>
                </a:solidFill>
                <a:latin typeface="Calibri"/>
              </a:rPr>
              <a:t>•  La torre no debe abandonar la columna del peón mientras el rey no controle la coronación.</a:t>
            </a:r>
          </a:p>
          <a:p>
            <a:pPr>
              <a:spcAft>
                <a:spcPts val="600"/>
              </a:spcAft>
            </a:pPr>
            <a:r>
              <a:rPr sz="1600">
                <a:solidFill>
                  <a:srgbClr val="1F2937"/>
                </a:solidFill>
                <a:latin typeface="Calibri"/>
              </a:rPr>
              <a:t>•  Zugzwang: cuando el rey fuerte controla la casilla de coronación, el rey débil no tiene jugadas útiles y el peón cae.</a:t>
            </a:r>
          </a:p>
          <a:p>
            <a:pPr>
              <a:spcAft>
                <a:spcPts val="600"/>
              </a:spcAft>
            </a:pPr>
            <a:r>
              <a:rPr sz="1600">
                <a:solidFill>
                  <a:srgbClr val="1F2937"/>
                </a:solidFill>
                <a:latin typeface="Calibri"/>
              </a:rPr>
              <a:t>•  Un tiempo de más o de menos en el rodeo cambia el resultado.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5-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25 · La torre delante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rodeo y el zugzwang</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1.Re2 Rc3 2.Re3 Rb3 3.Txd2</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1.Re2! controla la casilla d1 y deja a las negras en zugzwang: el rey no puede seguir protegiendo el peón (1...Rc1 2.Tc8+ Rb2 3.Rxd2) y cualquier retirada permite capturar el peón. Observe que con las negras en juego la posición también está perdida: es un zugzwang recíproco a favor del blanco.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25 · La torre delante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llega tarde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1.Re3 d1=D 2.Txd1 Rxd1</a:t>
            </a:r>
          </a:p>
        </p:txBody>
      </p:sp>
      <p:sp>
        <p:nvSpPr>
          <p:cNvPr id="7" name="TextBox 6"/>
          <p:cNvSpPr txBox="1"/>
          <p:nvPr/>
        </p:nvSpPr>
        <p:spPr>
          <a:xfrm>
            <a:off x="6309360" y="2737974"/>
            <a:ext cx="5486400" cy="3388505"/>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f4 el rodeo llega un tiempo tarde: las negras coronan y cambian el peón por la torre. Compare con el diagrama anterior: la diferencia es sólo una casilla.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26 · Temas especiales del peón de caballo</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caballo, el rey fuerte no puede acercarse por el lado del centro: las casillas que controlan la coronación están en la columna de torre y en la de alfil, y ésta la ocupa el rey rival. Por eso posiciones que se ganan con un peón central son tablas con el peón de caballo, salvo que el rey fuerte llegue por la banda.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peón de caballo, el rey fuerte sólo controla la coronación desde la columna de torre: el rodeo es más largo.</a:t>
            </a:r>
          </a:p>
          <a:p>
            <a:pPr>
              <a:spcAft>
                <a:spcPts val="600"/>
              </a:spcAft>
            </a:pPr>
            <a:r>
              <a:rPr sz="1600">
                <a:solidFill>
                  <a:srgbClr val="1F2937"/>
                </a:solidFill>
                <a:latin typeface="Calibri"/>
              </a:rPr>
              <a:t>•  Lo que se gana con peón central desde el lado del centro, con peón de caballo suele ser tablas.</a:t>
            </a:r>
          </a:p>
          <a:p>
            <a:pPr>
              <a:spcAft>
                <a:spcPts val="600"/>
              </a:spcAft>
            </a:pPr>
            <a:r>
              <a:rPr sz="1600">
                <a:solidFill>
                  <a:srgbClr val="1F2937"/>
                </a:solidFill>
                <a:latin typeface="Calibri"/>
              </a:rPr>
              <a:t>•  Si el rey fuerte llega a la columna de torre, el zugzwang funciona igual que con el peón central.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6-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26 · Temas especiales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Desde el centro no se llega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Rc1 2.Tb7 b1=D 3.Txb1+ Rxb1</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Compárese con el Final 25: con el peón en d2 el rey blanco en e2 ganaba. Aquí el rey no tiene ninguna casilla desde la que controlar b1 por el lado del centro (c1 está pegada al rey negro) y el peón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26 · Temas especiales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Desde la columna de torre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1...Rc3 2.Rb1 Rc4 3.Rxb2</a:t>
            </a:r>
          </a:p>
        </p:txBody>
      </p:sp>
      <p:sp>
        <p:nvSpPr>
          <p:cNvPr id="7" name="TextBox 6"/>
          <p:cNvSpPr txBox="1"/>
          <p:nvPr/>
        </p:nvSpPr>
        <p:spPr>
          <a:xfrm>
            <a:off x="6309360" y="2745812"/>
            <a:ext cx="5486400" cy="3380667"/>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a2 la casilla de coronación está controlada y las negras están en zugzwang: cualquier jugada del rey abandona el peón. Es el mismo mecanismo del peón central, pero sólo accesible por la banda.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27 · Peón de torre: el empuje desde atrás</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el bando débil tiene menos espacio y aparecen temas propios. Si el rey fuerte empuja desde atrás (desde la columna de caballo, por encima del rey rival), un jaque de torre obliga al rey a meterse en el rincón y la coronación de caballo ya no salva: el caballo en el rincón se pierde.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El rey fuerte empuja desde atrás por la columna de caballo, apoyado por un jaque de torre en la segunda fila.</a:t>
            </a:r>
          </a:p>
          <a:p>
            <a:pPr>
              <a:spcAft>
                <a:spcPts val="600"/>
              </a:spcAft>
            </a:pPr>
            <a:r>
              <a:rPr sz="1600">
                <a:solidFill>
                  <a:srgbClr val="1F2937"/>
                </a:solidFill>
                <a:latin typeface="Calibri"/>
              </a:rPr>
              <a:t>•  Coronar caballo en el rincón no sirve: el caballo queda encerrado y se pierde.</a:t>
            </a:r>
          </a:p>
          <a:p>
            <a:pPr>
              <a:spcAft>
                <a:spcPts val="600"/>
              </a:spcAft>
            </a:pPr>
            <a:r>
              <a:rPr sz="1600">
                <a:solidFill>
                  <a:srgbClr val="1F2937"/>
                </a:solidFill>
                <a:latin typeface="Calibri"/>
              </a:rPr>
              <a:t>•  Con el turno en contra, el bando débil corona dama y la torre sólo puede entregarse: tablas.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caballo en el rincón pierde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1.Th2+ Rb1 2.Rb3 a1=C+ 3.Rc3 Cb3 4.Rxb3</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El jaque en la segunda fila mete al rey negro en la banda y el rey blanco empuja desde b3. La coronación de caballo da jaque, pero desde el rincón el caballo no tiene escapatoria y cae.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Con el turno,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1...a1=D 2.Th2+ Rb1 3.Th1+ Ra2 4.Txa1+ Rxa1</a:t>
            </a:r>
          </a:p>
        </p:txBody>
      </p:sp>
      <p:sp>
        <p:nvSpPr>
          <p:cNvPr id="7" name="TextBox 6"/>
          <p:cNvSpPr txBox="1"/>
          <p:nvPr/>
        </p:nvSpPr>
        <p:spPr>
          <a:xfrm>
            <a:off x="6309360" y="2820270"/>
            <a:ext cx="5486400" cy="3306209"/>
          </a:xfrm>
          <a:prstGeom prst="rect">
            <a:avLst/>
          </a:prstGeom>
          <a:noFill/>
        </p:spPr>
        <p:txBody>
          <a:bodyPr wrap="square" anchor="t">
            <a:spAutoFit/>
          </a:bodyPr>
          <a:lstStyle/>
          <a:p>
            <a:pPr algn="l">
              <a:spcAft>
                <a:spcPts val="400"/>
              </a:spcAft>
            </a:pPr>
            <a:r>
              <a:rPr sz="1500" b="0" i="0">
                <a:solidFill>
                  <a:srgbClr val="1F2937"/>
                </a:solidFill>
                <a:latin typeface="Calibri"/>
              </a:rPr>
              <a:t>Si mueven las negras coronan dama; el clavado 2.Th2+ y 3.Th1+ gana la dama, pero el rey negro recupera la torre y no queda material.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en c2: el peón se pierde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1...a1=T 2.Ta8+ Rb4 3.Txa1</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c2 el rey negro está encerrado en la banda. Coronar dama permite el jaque y la clavada ganadora; coronar caballo pierde el caballo en el rincón; coronar torre tampoco salva.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28 · Peón de torre: el empuje lateral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fuerte viene por el lado (por la columna d), el bando débil dispone de un recurso extraordinario: el rey se mete delante del peón y en el momento justo se coloca en el rincón, de modo que la captura del peón o el jaque produzcan ahogado. La posición límite: con el rey fuerte en d3 es tablas; una fila más cerca (d2) se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rey fuerte en la columna d, el rey débil no avanza el peón enseguida: primero mueve el rey (Rb2!).</a:t>
            </a:r>
          </a:p>
          <a:p>
            <a:pPr>
              <a:spcAft>
                <a:spcPts val="600"/>
              </a:spcAft>
            </a:pPr>
            <a:r>
              <a:rPr sz="1600">
                <a:solidFill>
                  <a:srgbClr val="1F2937"/>
                </a:solidFill>
                <a:latin typeface="Calibri"/>
              </a:rPr>
              <a:t>•  Ante el jaque de torre en la columna b, el rey pasa a c1 para volver a b2 y sólo entonces avanza el peón.</a:t>
            </a:r>
          </a:p>
          <a:p>
            <a:pPr>
              <a:spcAft>
                <a:spcPts val="600"/>
              </a:spcAft>
            </a:pPr>
            <a:r>
              <a:rPr sz="1600">
                <a:solidFill>
                  <a:srgbClr val="1F2937"/>
                </a:solidFill>
                <a:latin typeface="Calibri"/>
              </a:rPr>
              <a:t>•  Con el peón en a2 y el rey en a1, la posición es tablas por ahogado.</a:t>
            </a:r>
          </a:p>
          <a:p>
            <a:pPr>
              <a:spcAft>
                <a:spcPts val="600"/>
              </a:spcAft>
            </a:pPr>
            <a:r>
              <a:rPr sz="1600">
                <a:solidFill>
                  <a:srgbClr val="1F2937"/>
                </a:solidFill>
                <a:latin typeface="Calibri"/>
              </a:rPr>
              <a:t>•  Posición límite: rey fuerte en d3 tablas; en d2 (o en la primera fila)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28 · Peón de torre: el empuje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Ahogado en el rincón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1...Rb2 2.Tb8+ Rc1 3.Ta8 Rb2 4.Rd2 a2 5.Tb8+ Ra1 6.Rc2</a:t>
            </a:r>
          </a:p>
        </p:txBody>
      </p:sp>
      <p:sp>
        <p:nvSpPr>
          <p:cNvPr id="7" name="TextBox 6"/>
          <p:cNvSpPr txBox="1"/>
          <p:nvPr/>
        </p:nvSpPr>
        <p:spPr>
          <a:xfrm>
            <a:off x="6309360" y="2863378"/>
            <a:ext cx="5486400" cy="3263101"/>
          </a:xfrm>
          <a:prstGeom prst="rect">
            <a:avLst/>
          </a:prstGeom>
          <a:noFill/>
        </p:spPr>
        <p:txBody>
          <a:bodyPr wrap="square" anchor="t">
            <a:spAutoFit/>
          </a:bodyPr>
          <a:lstStyle/>
          <a:p>
            <a:pPr algn="l">
              <a:spcAft>
                <a:spcPts val="400"/>
              </a:spcAft>
            </a:pPr>
            <a:r>
              <a:rPr sz="1500" b="0" i="0">
                <a:solidFill>
                  <a:srgbClr val="1F2937"/>
                </a:solidFill>
                <a:latin typeface="Calibri"/>
              </a:rPr>
              <a:t>1...a2? pierde por 2.Tb8+ Ra3 3.Rc2 a1=C+ 4.Rc3. La defensa correcta es el empuje lateral del rey: 1...Rb2! y ante el jaque, 2...Rc1!, para volver a b2; sólo entonces avanza el peón, y con el rey en a1 la captura o el jaque son ahogado.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28 · Peón de torre: el empuje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una fila más cerca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1...a2 2.Tb8+ Rc4 3.Ta8 Rb3 4.Rc1 a1=D+ 5.Txa1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d2 el mecanismo defensivo ya no funciona: el rey blanco llega a c1 y controla la coronación antes de que el rey negro pueda meterse en el rincón.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29 · El peón gana a la torre</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peón llega a séptima apoyado por su rey y la torre no está en la columna del peón ni en la última fila, la torre ya no puede detener la coronación ni entregarse por el peón: el peón "gana a la torre". Es un recurso fundamental en las luchas de torre contra varios peones, donde una captura descuidada de la torre permite que el otro peón corone.</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La torre debe ocupar a tiempo la columna del peón o la fila de coronación; si llega tarde, no puede ni entregarse.</a:t>
            </a:r>
          </a:p>
          <a:p>
            <a:pPr>
              <a:spcAft>
                <a:spcPts val="600"/>
              </a:spcAft>
            </a:pPr>
            <a:r>
              <a:rPr sz="1600">
                <a:solidFill>
                  <a:srgbClr val="1F2937"/>
                </a:solidFill>
                <a:latin typeface="Calibri"/>
              </a:rPr>
              <a:t>•  Un peón en séptima apoyado por su rey, con la torre fuera de esa columna y de la última fila, corona.</a:t>
            </a:r>
          </a:p>
          <a:p>
            <a:pPr>
              <a:spcAft>
                <a:spcPts val="600"/>
              </a:spcAft>
            </a:pPr>
            <a:r>
              <a:rPr sz="1600">
                <a:solidFill>
                  <a:srgbClr val="1F2937"/>
                </a:solidFill>
                <a:latin typeface="Calibri"/>
              </a:rPr>
              <a:t>•  En la lucha de torre contra dos peones, antes de capturar un peón hay que comprobar que el otro no se convierte en este final.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torre llega tarde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1.e8=D</a:t>
            </a:r>
          </a:p>
        </p:txBody>
      </p:sp>
      <p:sp>
        <p:nvSpPr>
          <p:cNvPr id="7" name="TextBox 6"/>
          <p:cNvSpPr txBox="1"/>
          <p:nvPr/>
        </p:nvSpPr>
        <p:spPr>
          <a:xfrm>
            <a:off x="6309360" y="2675273"/>
            <a:ext cx="5486400" cy="3451206"/>
          </a:xfrm>
          <a:prstGeom prst="rect">
            <a:avLst/>
          </a:prstGeom>
          <a:noFill/>
        </p:spPr>
        <p:txBody>
          <a:bodyPr wrap="square" anchor="t">
            <a:spAutoFit/>
          </a:bodyPr>
          <a:lstStyle/>
          <a:p>
            <a:pPr algn="l">
              <a:spcAft>
                <a:spcPts val="400"/>
              </a:spcAft>
            </a:pPr>
            <a:r>
              <a:rPr sz="1500" b="0" i="0">
                <a:solidFill>
                  <a:srgbClr val="1F2937"/>
                </a:solidFill>
                <a:latin typeface="Calibri"/>
              </a:rPr>
              <a:t>La torre no está ni en la columna e ni en la octava fila: el peón corona y la dama gana a la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Con el turno, la torre se salva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1...Th8 2.Rd6 Rc2 3.Re6 Rc3 4.Re5 Rd2 5.Rf6 Re3 6.Re6 Rd4 7.Rf7 Tb8 8.e8=D Txe8 9.Rxe8</a:t>
            </a:r>
          </a:p>
        </p:txBody>
      </p:sp>
      <p:sp>
        <p:nvSpPr>
          <p:cNvPr id="7" name="TextBox 6"/>
          <p:cNvSpPr txBox="1"/>
          <p:nvPr/>
        </p:nvSpPr>
        <p:spPr>
          <a:xfrm>
            <a:off x="6309360" y="2988781"/>
            <a:ext cx="5486400" cy="3137698"/>
          </a:xfrm>
          <a:prstGeom prst="rect">
            <a:avLst/>
          </a:prstGeom>
          <a:noFill/>
        </p:spPr>
        <p:txBody>
          <a:bodyPr wrap="square" anchor="t">
            <a:spAutoFit/>
          </a:bodyPr>
          <a:lstStyle/>
          <a:p>
            <a:pPr algn="l">
              <a:spcAft>
                <a:spcPts val="400"/>
              </a:spcAft>
            </a:pPr>
            <a:r>
              <a:rPr sz="1500" b="0" i="0">
                <a:solidFill>
                  <a:srgbClr val="1F2937"/>
                </a:solidFill>
                <a:latin typeface="Calibri"/>
              </a:rPr>
              <a:t>Con un tiempo, la torre toma la octava fila (también sirve 1...Te1) y se cambia por el peón en cuanto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torre en la columna vecina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1...Tg8 2.Rf6 Tf8 3.Re7 Txf7+ 4.Rxf7</a:t>
            </a:r>
          </a:p>
        </p:txBody>
      </p:sp>
      <p:sp>
        <p:nvSpPr>
          <p:cNvPr id="7" name="TextBox 6"/>
          <p:cNvSpPr txBox="1"/>
          <p:nvPr/>
        </p:nvSpPr>
        <p:spPr>
          <a:xfrm>
            <a:off x="6309360" y="2792838"/>
            <a:ext cx="5486400" cy="3333641"/>
          </a:xfrm>
          <a:prstGeom prst="rect">
            <a:avLst/>
          </a:prstGeom>
          <a:noFill/>
        </p:spPr>
        <p:txBody>
          <a:bodyPr wrap="square" anchor="t">
            <a:spAutoFit/>
          </a:bodyPr>
          <a:lstStyle/>
          <a:p>
            <a:pPr algn="l">
              <a:spcAft>
                <a:spcPts val="400"/>
              </a:spcAft>
            </a:pPr>
            <a:r>
              <a:rPr sz="1500" b="0" i="0">
                <a:solidFill>
                  <a:srgbClr val="1F2937"/>
                </a:solidFill>
                <a:latin typeface="Calibri"/>
              </a:rPr>
              <a:t>Desde g6 la torre llega a la octava fila y después a la columna del peón: no hay progreso. Pero si jugaran las blancas, 1.f8=D ganaría: en la lucha de torre contra peones, este es el final que hay que evitar al capturar un peón.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Jugá contra el motor las posiciones del peón de torre con ambos bandos.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