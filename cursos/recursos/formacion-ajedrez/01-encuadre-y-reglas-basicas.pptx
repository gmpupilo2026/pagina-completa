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Dejar que el grupo decida antes de pasar a la siguiente diapositiva.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Dejar que el grupo decida antes de pasar a la siguiente diapositiva.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Dejar que el grupo decida antes de pasar a la siguiente diapositiva.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Dejar que el grupo decida antes de pasar a la siguiente diapositiva.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Repasar en plenaria; cada respuesta con su artículo.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Repasar en plenaria; cada respuesta con su artículo.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minuto por pregunta, y después las respuestas.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minuto por pregunta, y después las respuestas.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9FB3C8"/>
                </a:solidFill>
                <a:latin typeface="Calibri"/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09728" cy="2377440"/>
          </a:xfrm>
          <a:prstGeom prst="rect">
            <a:avLst/>
          </a:prstGeom>
          <a:solidFill>
            <a:srgbClr val="F4C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097280"/>
            <a:ext cx="10058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</a:pPr>
            <a:r>
              <a:rPr sz="2000" b="1">
                <a:solidFill>
                  <a:srgbClr val="F4C430"/>
                </a:solidFill>
                <a:latin typeface="Calibri"/>
              </a:rPr>
              <a:t>SESIÓN 1  ·  FORMACIÓN AJEDREZ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920240"/>
            <a:ext cx="1033272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98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Encuadre del curso y reglas básicas del ajedrez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886200"/>
            <a:ext cx="1033272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ADCFC"/>
                </a:solidFill>
                <a:latin typeface="Calibri"/>
              </a:rPr>
              <a:t>Movimientos legales, jaque, jaque mate, ahogado y tablas, con los errores más frecuentes en el aula.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760720"/>
            <a:ext cx="10332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20"/>
              </a:spcAft>
            </a:pPr>
            <a:r>
              <a:rPr sz="1600" b="0">
                <a:solidFill>
                  <a:srgbClr val="9FB3C8"/>
                </a:solidFill>
                <a:latin typeface="Calibri"/>
              </a:rPr>
              <a:t>Programa de Formación para Personas Árbitras y Asesoras  ·  Juegos Deportivos Estudiantiles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0"/>
          </a:xfrm>
          <a:prstGeom prst="rect">
            <a:avLst/>
          </a:prstGeom>
          <a:solidFill>
            <a:srgbClr val="4E6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1277295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945"/>
              </a:spcAft>
            </a:pPr>
            <a:r>
              <a:rPr sz="2100" b="0">
                <a:solidFill>
                  <a:srgbClr val="FFFFFF"/>
                </a:solidFill>
                <a:latin typeface="Calibri"/>
              </a:rPr>
              <a:t>Al terminar esta sesión, cada participante podrá: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11277295" cy="43891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10637215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02A43"/>
                </a:solidFill>
                <a:latin typeface="Calibri"/>
              </a:rPr>
              <a:t>•  Conocer la organización del curso, sus evaluaciones y la sesión presencial de cierre.</a:t>
            </a:r>
          </a:p>
          <a:p>
            <a:pPr>
              <a:spcAft>
                <a:spcPts val="1080"/>
              </a:spcAft>
            </a:pPr>
            <a:r>
              <a:rPr sz="2400" b="0">
                <a:solidFill>
                  <a:srgbClr val="102A43"/>
                </a:solidFill>
                <a:latin typeface="Calibri"/>
              </a:rPr>
              <a:t>•  Describir el rol, los deberes y los límites de la persona árbitra y asesora en los JDE.</a:t>
            </a:r>
          </a:p>
          <a:p>
            <a:pPr>
              <a:spcAft>
                <a:spcPts val="1080"/>
              </a:spcAft>
            </a:pPr>
            <a:r>
              <a:rPr sz="2400" b="0">
                <a:solidFill>
                  <a:srgbClr val="102A43"/>
                </a:solidFill>
                <a:latin typeface="Calibri"/>
              </a:rPr>
              <a:t>•  Aplicar las reglas básicas del movimiento, incluidas las jugadas especiales y la regla de pieza tocada.</a:t>
            </a:r>
          </a:p>
          <a:p>
            <a:pPr>
              <a:spcAft>
                <a:spcPts val="1080"/>
              </a:spcAft>
            </a:pPr>
            <a:r>
              <a:rPr sz="2400" b="0">
                <a:solidFill>
                  <a:srgbClr val="102A43"/>
                </a:solidFill>
                <a:latin typeface="Calibri"/>
              </a:rPr>
              <a:t>•  Distinguir sin dudar jaque, jaque mate, ahogado, posición muerta y las demás formas de tablas.</a:t>
            </a:r>
          </a:p>
          <a:p>
            <a:pPr>
              <a:spcAft>
                <a:spcPts val="1080"/>
              </a:spcAft>
            </a:pPr>
            <a:r>
              <a:rPr sz="2400" b="0">
                <a:solidFill>
                  <a:srgbClr val="102A43"/>
                </a:solidFill>
                <a:latin typeface="Calibri"/>
              </a:rPr>
              <a:t>•  Leer y escribir partidas en notación algebraica y conocer las obligaciones de la planilla.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Cronograma de la sesión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0"/>
          </a:xfrm>
          <a:prstGeom prst="rect">
            <a:avLst/>
          </a:prstGeom>
          <a:solidFill>
            <a:srgbClr val="4E6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1277295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945"/>
              </a:spcAft>
            </a:pPr>
            <a:r>
              <a:rPr sz="2100" b="0">
                <a:solidFill>
                  <a:srgbClr val="FFFFFF"/>
                </a:solidFill>
                <a:latin typeface="Calibri"/>
              </a:rPr>
              <a:t>Sesión 1 · 4 horas (240 minutos)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8308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463040"/>
                <a:gridCol w="7162495"/>
              </a:tblGrid>
              <a:tr h="41563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Horario</a:t>
                      </a:r>
                    </a:p>
                  </a:txBody>
                  <a:tcPr>
                    <a:solidFill>
                      <a:srgbClr val="3172A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Duración</a:t>
                      </a:r>
                    </a:p>
                  </a:txBody>
                  <a:tcPr>
                    <a:solidFill>
                      <a:srgbClr val="3172A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Bloque</a:t>
                      </a:r>
                    </a:p>
                  </a:txBody>
                  <a:tcPr>
                    <a:solidFill>
                      <a:srgbClr val="3172AC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0:00 – 0:10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10 min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Bienvenida y encuadre del curso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0:10 – 0:35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25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El rol de la persona árbitra y asesora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0:35 – 1:15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40 min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Reglas básicas I: tablero, piezas y jugadas especiales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02A43"/>
                          </a:solidFill>
                          <a:latin typeface="Calibri"/>
                        </a:rPr>
                        <a:t>1:15 – 1:25</a:t>
                      </a:r>
                    </a:p>
                  </a:txBody>
                  <a:tcPr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02A43"/>
                          </a:solidFill>
                          <a:latin typeface="Calibri"/>
                        </a:rPr>
                        <a:t>10 min</a:t>
                      </a:r>
                    </a:p>
                  </a:txBody>
                  <a:tcPr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02A43"/>
                          </a:solidFill>
                          <a:latin typeface="Calibri"/>
                        </a:rPr>
                        <a:t>Receso</a:t>
                      </a:r>
                    </a:p>
                  </a:txBody>
                  <a:tcPr>
                    <a:solidFill>
                      <a:srgbClr val="FDF3D7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1:25 – 2:00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35 min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Reglas básicas II: cómo termina una partida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2:00 – 2:25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25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Notación algebraica y planilla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02A43"/>
                          </a:solidFill>
                          <a:latin typeface="Calibri"/>
                        </a:rPr>
                        <a:t>2:25 – 2:35</a:t>
                      </a:r>
                    </a:p>
                  </a:txBody>
                  <a:tcPr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02A43"/>
                          </a:solidFill>
                          <a:latin typeface="Calibri"/>
                        </a:rPr>
                        <a:t>10 min</a:t>
                      </a:r>
                    </a:p>
                  </a:txBody>
                  <a:tcPr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02A43"/>
                          </a:solidFill>
                          <a:latin typeface="Calibri"/>
                        </a:rPr>
                        <a:t>Receso</a:t>
                      </a:r>
                    </a:p>
                  </a:txBody>
                  <a:tcPr>
                    <a:solidFill>
                      <a:srgbClr val="FDF3D7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2:35 – 3:15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40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Práctica en salas de trabajo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3:15 – 3:45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30 min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Quiz de la sesión y errores frecuentes en el aula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56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3:45 – 4:00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15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02A43"/>
                          </a:solidFill>
                          <a:latin typeface="Calibri"/>
                        </a:rPr>
                        <a:t>Cierre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La persona árbitra: deberes y límites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10180015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Fuente: Leyes del Ajedrez 2023 (Handbook E.I.01), art. 11.9, 12.1, 12.2, 12.3 y 12.6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7295" cy="48920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19"/>
            <a:ext cx="10637215" cy="4617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125"/>
              </a:spcAft>
            </a:pPr>
            <a:r>
              <a:rPr sz="2500" b="0">
                <a:solidFill>
                  <a:srgbClr val="3172AC"/>
                </a:solidFill>
                <a:latin typeface="Calibri"/>
              </a:rPr>
              <a:t>El deber central de quien arbitra es que se cumplan las Leyes y cuidar la competición. De ahí salen los demás: supervisar las partidas (en especial en apuro de tiempo), mantener el orden en la sala, aplicar sanciones proporcionadas y tomar medidas especiales para personas con discapacidad o que necesitan atención médica.</a:t>
            </a:r>
          </a:p>
          <a:p>
            <a:pPr>
              <a:spcAft>
                <a:spcPts val="1125"/>
              </a:spcAft>
            </a:pPr>
            <a:r>
              <a:rPr sz="2500" b="0">
                <a:solidFill>
                  <a:srgbClr val="102A43"/>
                </a:solidFill>
                <a:latin typeface="Calibri"/>
              </a:rPr>
              <a:t>•  Una sola voz decide: el árbitro principal. Los adjuntos observan, informan y aplican lo acordado.</a:t>
            </a:r>
          </a:p>
          <a:p>
            <a:pPr>
              <a:spcAft>
                <a:spcPts val="1125"/>
              </a:spcAft>
            </a:pPr>
            <a:r>
              <a:rPr sz="2500" b="0">
                <a:solidFill>
                  <a:srgbClr val="102A43"/>
                </a:solidFill>
                <a:latin typeface="Calibri"/>
              </a:rPr>
              <a:t>•  Quien arbitra no puede jugar el torneo que dirige.</a:t>
            </a:r>
          </a:p>
          <a:p>
            <a:pPr>
              <a:spcAft>
                <a:spcPts val="1125"/>
              </a:spcAft>
            </a:pPr>
            <a:r>
              <a:rPr sz="2500" b="0">
                <a:solidFill>
                  <a:srgbClr val="102A43"/>
                </a:solidFill>
                <a:latin typeface="Calibri"/>
              </a:rPr>
              <a:t>•  Explica una regla si el jugador lo pide, pero no aconseja sobre la posición.</a:t>
            </a:r>
          </a:p>
          <a:p>
            <a:pPr>
              <a:spcAft>
                <a:spcPts val="1125"/>
              </a:spcAft>
            </a:pPr>
            <a:r>
              <a:rPr sz="2500" b="0">
                <a:solidFill>
                  <a:srgbClr val="102A43"/>
                </a:solidFill>
                <a:latin typeface="Calibri"/>
              </a:rPr>
              <a:t>•  No avisa que el rival ya movió ni que el jugador olvidó presionar el reloj.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El tablero y el inicio de la partida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10180015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Fuente: Leyes del Ajedrez 2023 (Handbook E.I.01), art. 1.1, 2.1, 7.2 y 7.3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7295" cy="48920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19"/>
            <a:ext cx="10637215" cy="4617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3172AC"/>
                </a:solidFill>
                <a:latin typeface="Calibri"/>
              </a:rPr>
              <a:t>El tablero se coloca con una casilla clara en la esquina derecha de cada jugador («clara a la derecha»): h1 y a8 son claras, y la dama empieza en la casilla de su color. Empiezan siempre las blancas y luego se juega por turnos.</a:t>
            </a:r>
          </a:p>
          <a:p>
            <a:pPr>
              <a:spcAft>
                <a:spcPts val="1170"/>
              </a:spcAft>
            </a:pPr>
            <a:r>
              <a:rPr sz="2600" b="0">
                <a:solidFill>
                  <a:srgbClr val="102A43"/>
                </a:solidFill>
                <a:latin typeface="Calibri"/>
              </a:rPr>
              <a:t>•  Si se descubre que la posición inicial estaba mal armada, la partida se anula y se juega de nuevo.</a:t>
            </a:r>
          </a:p>
          <a:p>
            <a:pPr>
              <a:spcAft>
                <a:spcPts val="1170"/>
              </a:spcAft>
            </a:pPr>
            <a:r>
              <a:rPr sz="2600" b="0">
                <a:solidFill>
                  <a:srgbClr val="102A43"/>
                </a:solidFill>
                <a:latin typeface="Calibri"/>
              </a:rPr>
              <a:t>•  Si solo el tablero estaba mal orientado, la posición se pasa a un tablero bien colocado y la partida sigue.</a:t>
            </a:r>
          </a:p>
          <a:p>
            <a:pPr>
              <a:spcAft>
                <a:spcPts val="1170"/>
              </a:spcAft>
            </a:pPr>
            <a:r>
              <a:rPr sz="2600" b="0">
                <a:solidFill>
                  <a:srgbClr val="102A43"/>
                </a:solidFill>
                <a:latin typeface="Calibri"/>
              </a:rPr>
              <a:t>•  Si los colores estaban invertidos y cada bando hizo menos de 10 jugadas, se empieza otra partida con los colores correctos; con 10 o más, se sigue.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Movimientos y jugadas especiales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10180015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Fuente: Leyes del Ajedrez 2023 (Handbook E.I.01), art. 3.5, 3.7.4, 3.7.5, 3.8.2, 4.2, 4.3 y 4.4.2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7295" cy="48920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19"/>
            <a:ext cx="10637215" cy="4617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35"/>
              </a:spcAft>
            </a:pPr>
            <a:r>
              <a:rPr sz="2300" b="0">
                <a:solidFill>
                  <a:srgbClr val="3172AC"/>
                </a:solidFill>
                <a:latin typeface="Calibri"/>
              </a:rPr>
              <a:t>Solo el caballo salta por encima de otras piezas. El enroque es una jugada de rey: se toca primero el rey. La captura al paso solo se puede hacer en la jugada inmediatamente siguiente al avance doble. La coronación forma parte de la misma jugada: el peón se cambia en ese momento por dama, torre, alfil o caballo del mismo color.</a:t>
            </a:r>
          </a:p>
          <a:p>
            <a:pPr>
              <a:spcAft>
                <a:spcPts val="1035"/>
              </a:spcAft>
            </a:pPr>
            <a:r>
              <a:rPr sz="2300" b="0">
                <a:solidFill>
                  <a:srgbClr val="102A43"/>
                </a:solidFill>
                <a:latin typeface="Calibri"/>
              </a:rPr>
              <a:t>•  Mover el rey hace perder los dos enroques; mover una torre, solo el de ese lado, aunque vuelva a su casilla.</a:t>
            </a:r>
          </a:p>
          <a:p>
            <a:pPr>
              <a:spcAft>
                <a:spcPts val="1035"/>
              </a:spcAft>
            </a:pPr>
            <a:r>
              <a:rPr sz="2300" b="0">
                <a:solidFill>
                  <a:srgbClr val="102A43"/>
                </a:solidFill>
                <a:latin typeface="Calibri"/>
              </a:rPr>
              <a:t>•  Nunca se enroca estando en jaque.</a:t>
            </a:r>
          </a:p>
          <a:p>
            <a:pPr>
              <a:spcAft>
                <a:spcPts val="1035"/>
              </a:spcAft>
            </a:pPr>
            <a:r>
              <a:rPr sz="2300" b="0">
                <a:solidFill>
                  <a:srgbClr val="102A43"/>
                </a:solidFill>
                <a:latin typeface="Calibri"/>
              </a:rPr>
              <a:t>•  Pieza tocada, pieza jugada: si se toca deliberadamente una pieza propia que tiene jugada legal, hay que moverla.</a:t>
            </a:r>
          </a:p>
          <a:p>
            <a:pPr>
              <a:spcAft>
                <a:spcPts val="1035"/>
              </a:spcAft>
            </a:pPr>
            <a:r>
              <a:rPr sz="2300" b="0">
                <a:solidFill>
                  <a:srgbClr val="102A43"/>
                </a:solidFill>
                <a:latin typeface="Calibri"/>
              </a:rPr>
              <a:t>•  «Compongo» se dice antes de tocar la pieza y solo en el propio turno.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Movimientos y jugadas especiales (continuación)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10180015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Fuente: Leyes del Ajedrez 2023 (Handbook E.I.01), art. 3.5, 3.7.4, 3.7.5, 3.8.2, 4.2, 4.3 y 4.4.2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7295" cy="48920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19"/>
            <a:ext cx="10637215" cy="4617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350"/>
              </a:spcAft>
            </a:pPr>
            <a:r>
              <a:rPr sz="3000" b="0">
                <a:solidFill>
                  <a:srgbClr val="102A43"/>
                </a:solidFill>
                <a:latin typeface="Calibri"/>
              </a:rPr>
              <a:t>•  Si con intención de enrocar se toca primero la torre, hay que mover la torre y ya no se puede enrocar con ella.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9FB3C8"/>
                </a:solidFill>
                <a:latin typeface="Calibri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127729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3240"/>
              </a:spcAft>
            </a:pPr>
            <a:r>
              <a:rPr sz="7200" b="1">
                <a:solidFill>
                  <a:srgbClr val="FFFFFF"/>
                </a:solidFill>
                <a:latin typeface="Calibri"/>
              </a:rPr>
              <a:t>Receso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1260"/>
              </a:spcAft>
            </a:pPr>
            <a:r>
              <a:rPr sz="2800" b="0">
                <a:solidFill>
                  <a:srgbClr val="CADCFC"/>
                </a:solidFill>
                <a:latin typeface="Calibri"/>
              </a:rPr>
              <a:t>10 minutos</a:t>
            </a:r>
          </a:p>
          <a:p>
            <a:pPr algn="ctr">
              <a:spcAft>
                <a:spcPts val="1260"/>
              </a:spcAft>
            </a:pPr>
            <a:r>
              <a:rPr sz="2800" b="0">
                <a:solidFill>
                  <a:srgbClr val="CADCFC"/>
                </a:solidFill>
                <a:latin typeface="Calibri"/>
              </a:rPr>
              <a:t>Pausa los relojes: seguimos en breve.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Cómo termina una partida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10180015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Fuente: Leyes del Ajedrez 2023 (Handbook E.I.01), art. 3.9, 5.1, 5.2, 9.1, 9.2 y 9.3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7295" cy="48920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19"/>
            <a:ext cx="10637215" cy="4617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35"/>
              </a:spcAft>
            </a:pPr>
            <a:r>
              <a:rPr sz="2300" b="0">
                <a:solidFill>
                  <a:srgbClr val="3172AC"/>
                </a:solidFill>
                <a:latin typeface="Calibri"/>
              </a:rPr>
              <a:t>Hay jaque cuando el rey está atacado; se sale capturando la pieza que da jaque, tapando o moviendo el rey. Si no existe ninguna jugada legal para salir del jaque, es jaque mate y la partida termina. Si el bando que mueve no está en jaque pero no tiene ninguna jugada legal, es ahogado: tablas.</a:t>
            </a:r>
          </a:p>
          <a:p>
            <a:pPr>
              <a:spcAft>
                <a:spcPts val="1035"/>
              </a:spcAft>
            </a:pPr>
            <a:r>
              <a:rPr sz="2300" b="0">
                <a:solidFill>
                  <a:srgbClr val="102A43"/>
                </a:solidFill>
                <a:latin typeface="Calibri"/>
              </a:rPr>
              <a:t>•  Posición muerta: ninguna serie de jugadas legales puede dar mate (por ejemplo, rey contra rey, o rey y alfil contra rey). Son tablas de inmediato, sin reclamo.</a:t>
            </a:r>
          </a:p>
          <a:p>
            <a:pPr>
              <a:spcAft>
                <a:spcPts val="1035"/>
              </a:spcAft>
            </a:pPr>
            <a:r>
              <a:rPr sz="2300" b="0">
                <a:solidFill>
                  <a:srgbClr val="102A43"/>
                </a:solidFill>
                <a:latin typeface="Calibri"/>
              </a:rPr>
              <a:t>•  Tablas por acuerdo: la oferta se hace después de mover y antes de presionar el reloj; la partida termina cuando el rival acepta.</a:t>
            </a:r>
          </a:p>
          <a:p>
            <a:pPr>
              <a:spcAft>
                <a:spcPts val="1035"/>
              </a:spcAft>
            </a:pPr>
            <a:r>
              <a:rPr sz="2300" b="0">
                <a:solidFill>
                  <a:srgbClr val="102A43"/>
                </a:solidFill>
                <a:latin typeface="Calibri"/>
              </a:rPr>
              <a:t>•  Triple repetición y regla de las 50 jugadas: son tablas por reclamo del jugador, con el procedimiento del art. 9.</a:t>
            </a:r>
          </a:p>
          <a:p>
            <a:pPr>
              <a:spcAft>
                <a:spcPts val="1035"/>
              </a:spcAft>
            </a:pPr>
            <a:r>
              <a:rPr sz="2300" b="0">
                <a:solidFill>
                  <a:srgbClr val="102A43"/>
                </a:solidFill>
                <a:latin typeface="Calibri"/>
              </a:rPr>
              <a:t>•  Darse la mano sin una oferta previa no es un acuerdo de tablas.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Notación algebraica y planilla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10180015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Fuente: Leyes del Ajedrez 2023 (Handbook E.I.01), art. 8.1, 8.3, 8.7 y apéndice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7295" cy="48920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19"/>
            <a:ext cx="10637215" cy="4617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3172AC"/>
                </a:solidFill>
                <a:latin typeface="Calibri"/>
              </a:rPr>
              <a:t>En competencias de ritmo clásico cada jugador anota sus jugadas y las del rival, jugada a jugada, de forma legible y en notación algebraica. Las iniciales de las piezas pueden ser las del idioma del jugador (R, D, T, A, C en español).</a:t>
            </a:r>
          </a:p>
          <a:p>
            <a:pPr>
              <a:spcAft>
                <a:spcPts val="1170"/>
              </a:spcAft>
            </a:pPr>
            <a:r>
              <a:rPr sz="2600" b="0">
                <a:solidFill>
                  <a:srgbClr val="102A43"/>
                </a:solidFill>
                <a:latin typeface="Calibri"/>
              </a:rPr>
              <a:t>•  No se anota la jugada antes de hacerla, salvo para reclamar tablas.</a:t>
            </a:r>
          </a:p>
          <a:p>
            <a:pPr>
              <a:spcAft>
                <a:spcPts val="1170"/>
              </a:spcAft>
            </a:pPr>
            <a:r>
              <a:rPr sz="2600" b="0">
                <a:solidFill>
                  <a:srgbClr val="102A43"/>
                </a:solidFill>
                <a:latin typeface="Calibri"/>
              </a:rPr>
              <a:t>•  La planilla debe estar a la vista del árbitro durante toda la partida.</a:t>
            </a:r>
          </a:p>
          <a:p>
            <a:pPr>
              <a:spcAft>
                <a:spcPts val="1170"/>
              </a:spcAft>
            </a:pPr>
            <a:r>
              <a:rPr sz="2600" b="0">
                <a:solidFill>
                  <a:srgbClr val="102A43"/>
                </a:solidFill>
                <a:latin typeface="Calibri"/>
              </a:rPr>
              <a:t>•  Las ofertas de tablas se anotan con el signo (=).</a:t>
            </a:r>
          </a:p>
          <a:p>
            <a:pPr>
              <a:spcAft>
                <a:spcPts val="1170"/>
              </a:spcAft>
            </a:pPr>
            <a:r>
              <a:rPr sz="2600" b="0">
                <a:solidFill>
                  <a:srgbClr val="102A43"/>
                </a:solidFill>
                <a:latin typeface="Calibri"/>
              </a:rPr>
              <a:t>•  Al terminar, ambos jugadores firman las dos planillas con el resultado. Firmar no quita el derecho a apelar.</a:t>
            </a:r>
          </a:p>
          <a:p>
            <a:pPr>
              <a:spcAft>
                <a:spcPts val="1170"/>
              </a:spcAft>
            </a:pPr>
            <a:r>
              <a:rPr sz="2600" b="0">
                <a:solidFill>
                  <a:srgbClr val="102A43"/>
                </a:solidFill>
                <a:latin typeface="Calibri"/>
              </a:rPr>
              <a:t>•  Las planillas pertenecen al organizador.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Errores frecuentes en el ámbito escolar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10180015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Fuente: Leyes del Ajedrez 2023 (Handbook E.I.01), art. 3.7, 3.8, 5.2.2 y 7.5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7295" cy="48920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19"/>
            <a:ext cx="10637215" cy="4617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3172AC"/>
                </a:solidFill>
                <a:latin typeface="Calibri"/>
              </a:rPr>
              <a:t>En los torneos estudiantiles se repiten siempre las mismas confusiones. Conocerlas permite anticiparlas en la charla técnica previa a la primera ronda.</a:t>
            </a:r>
          </a:p>
          <a:p>
            <a:pPr>
              <a:spcAft>
                <a:spcPts val="1170"/>
              </a:spcAft>
            </a:pPr>
            <a:r>
              <a:rPr sz="2600" b="0">
                <a:solidFill>
                  <a:srgbClr val="102A43"/>
                </a:solidFill>
                <a:latin typeface="Calibri"/>
              </a:rPr>
              <a:t>•  Llamar «mate» a un ahogado, o al revés.</a:t>
            </a:r>
          </a:p>
          <a:p>
            <a:pPr>
              <a:spcAft>
                <a:spcPts val="1170"/>
              </a:spcAft>
            </a:pPr>
            <a:r>
              <a:rPr sz="2600" b="0">
                <a:solidFill>
                  <a:srgbClr val="102A43"/>
                </a:solidFill>
                <a:latin typeface="Calibri"/>
              </a:rPr>
              <a:t>•  Dejar el peón en la octava fila sin cambiarlo y presionar el reloj: es una jugada ilegal.</a:t>
            </a:r>
          </a:p>
          <a:p>
            <a:pPr>
              <a:spcAft>
                <a:spcPts val="1170"/>
              </a:spcAft>
            </a:pPr>
            <a:r>
              <a:rPr sz="2600" b="0">
                <a:solidFill>
                  <a:srgbClr val="102A43"/>
                </a:solidFill>
                <a:latin typeface="Calibri"/>
              </a:rPr>
              <a:t>•  Enrocar después de haber movido el rey y haberlo devuelto a su casilla.</a:t>
            </a:r>
          </a:p>
          <a:p>
            <a:pPr>
              <a:spcAft>
                <a:spcPts val="1170"/>
              </a:spcAft>
            </a:pPr>
            <a:r>
              <a:rPr sz="2600" b="0">
                <a:solidFill>
                  <a:srgbClr val="102A43"/>
                </a:solidFill>
                <a:latin typeface="Calibri"/>
              </a:rPr>
              <a:t>•  Capturar al paso una o dos jugadas tarde.</a:t>
            </a:r>
          </a:p>
          <a:p>
            <a:pPr>
              <a:spcAft>
                <a:spcPts val="1170"/>
              </a:spcAft>
            </a:pPr>
            <a:r>
              <a:rPr sz="2600" b="0">
                <a:solidFill>
                  <a:srgbClr val="102A43"/>
                </a:solidFill>
                <a:latin typeface="Calibri"/>
              </a:rPr>
              <a:t>•  Seguir jugando con rey contra rey «para ver qué pasa»: la partida ya terminó en tablas.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Caso 1 · ¿Qué decide la persona árbitra?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0"/>
          </a:xfrm>
          <a:prstGeom prst="rect">
            <a:avLst/>
          </a:prstGeom>
          <a:solidFill>
            <a:srgbClr val="4E6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1277295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945"/>
              </a:spcAft>
            </a:pPr>
            <a:r>
              <a:rPr sz="2100" b="0">
                <a:solidFill>
                  <a:srgbClr val="FFFFFF"/>
                </a:solidFill>
                <a:latin typeface="Calibri"/>
              </a:rPr>
              <a:t>El enroque que empezó por la torre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11277295" cy="43891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0545775" cy="3931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0">
                <a:solidFill>
                  <a:srgbClr val="102A43"/>
                </a:solidFill>
                <a:latin typeface="Calibri"/>
              </a:rPr>
              <a:t>Con el rey y la torre de h1 sin mover, un estudiante toma primero la torre para enrocar corto.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Caso 1 · Decisión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0"/>
          </a:xfrm>
          <a:prstGeom prst="rect">
            <a:avLst/>
          </a:prstGeom>
          <a:solidFill>
            <a:srgbClr val="4E6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1277295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945"/>
              </a:spcAft>
            </a:pPr>
            <a:r>
              <a:rPr sz="2100" b="0">
                <a:solidFill>
                  <a:srgbClr val="FFFFFF"/>
                </a:solidFill>
                <a:latin typeface="Calibri"/>
              </a:rPr>
              <a:t>El enroque que empezó por la torre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0180015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Fuente: Leyes del Ajedrez 2023 (Handbook E.I.01), art. 4.4.2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11277295" cy="4389120"/>
          </a:xfrm>
          <a:prstGeom prst="rect">
            <a:avLst/>
          </a:prstGeom>
          <a:solidFill>
            <a:srgbClr val="EEF7EE"/>
          </a:solidFill>
          <a:ln w="1905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10545775" cy="3931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1350"/>
              </a:spcAft>
            </a:pPr>
            <a:r>
              <a:rPr sz="3000" b="0">
                <a:solidFill>
                  <a:srgbClr val="102A43"/>
                </a:solidFill>
                <a:latin typeface="Calibri"/>
              </a:rPr>
              <a:t>Aplica pieza tocada: como tocó primero la torre, debe mover esa torre y no puede enrocar con ella. El enroque se hace tocando primero el rey.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Caso 2 · ¿Qué decide la persona árbitra?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0"/>
          </a:xfrm>
          <a:prstGeom prst="rect">
            <a:avLst/>
          </a:prstGeom>
          <a:solidFill>
            <a:srgbClr val="4E6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1277295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945"/>
              </a:spcAft>
            </a:pPr>
            <a:r>
              <a:rPr sz="2100" b="0">
                <a:solidFill>
                  <a:srgbClr val="FFFFFF"/>
                </a:solidFill>
                <a:latin typeface="Calibri"/>
              </a:rPr>
              <a:t>El peón que llegó a la octava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11277295" cy="43891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0545775" cy="3931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0">
                <a:solidFill>
                  <a:srgbClr val="102A43"/>
                </a:solidFill>
                <a:latin typeface="Calibri"/>
              </a:rPr>
              <a:t>Un peón blanco llega a e8, el jugador lo deja como peón y presiona el reloj.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Caso 2 · Decisión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0"/>
          </a:xfrm>
          <a:prstGeom prst="rect">
            <a:avLst/>
          </a:prstGeom>
          <a:solidFill>
            <a:srgbClr val="4E6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1277295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945"/>
              </a:spcAft>
            </a:pPr>
            <a:r>
              <a:rPr sz="2100" b="0">
                <a:solidFill>
                  <a:srgbClr val="FFFFFF"/>
                </a:solidFill>
                <a:latin typeface="Calibri"/>
              </a:rPr>
              <a:t>El peón que llegó a la octava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0180015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Fuente: Leyes del Ajedrez 2023 (Handbook E.I.01), art. 3.7.5, 7.5.2 y 7.5.5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11277295" cy="4389120"/>
          </a:xfrm>
          <a:prstGeom prst="rect">
            <a:avLst/>
          </a:prstGeom>
          <a:solidFill>
            <a:srgbClr val="EEF7EE"/>
          </a:solidFill>
          <a:ln w="1905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10545775" cy="3931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1350"/>
              </a:spcAft>
            </a:pPr>
            <a:r>
              <a:rPr sz="3000" b="0">
                <a:solidFill>
                  <a:srgbClr val="102A43"/>
                </a:solidFill>
                <a:latin typeface="Calibri"/>
              </a:rPr>
              <a:t>Es una jugada ilegal completada: el cambio del peón es parte de la misma jugada. No se repone la posición: el peón se cambia por una dama del mismo color y se aplica la sanción de la primera jugada ilegal (dos minutos más para el rival en ritmo clásico, uno en rápidas y relámpago).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Caso 3 · ¿Qué decide la persona árbitra?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0"/>
          </a:xfrm>
          <a:prstGeom prst="rect">
            <a:avLst/>
          </a:prstGeom>
          <a:solidFill>
            <a:srgbClr val="4E6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1277295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945"/>
              </a:spcAft>
            </a:pPr>
            <a:r>
              <a:rPr sz="2100" b="0">
                <a:solidFill>
                  <a:srgbClr val="FFFFFF"/>
                </a:solidFill>
                <a:latin typeface="Calibri"/>
              </a:rPr>
              <a:t>Rey contra rey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11277295" cy="43891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0545775" cy="3931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0">
                <a:solidFill>
                  <a:srgbClr val="102A43"/>
                </a:solidFill>
                <a:latin typeface="Calibri"/>
              </a:rPr>
              <a:t>Tras varios cambios quedan solo los dos reyes. Los jugadores quieren seguir moviendo.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Caso 3 · Decisión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0"/>
          </a:xfrm>
          <a:prstGeom prst="rect">
            <a:avLst/>
          </a:prstGeom>
          <a:solidFill>
            <a:srgbClr val="4E6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1277295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945"/>
              </a:spcAft>
            </a:pPr>
            <a:r>
              <a:rPr sz="2100" b="0">
                <a:solidFill>
                  <a:srgbClr val="FFFFFF"/>
                </a:solidFill>
                <a:latin typeface="Calibri"/>
              </a:rPr>
              <a:t>Rey contra rey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0180015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Fuente: Leyes del Ajedrez 2023 (Handbook E.I.01), art. 5.2.2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11277295" cy="4389120"/>
          </a:xfrm>
          <a:prstGeom prst="rect">
            <a:avLst/>
          </a:prstGeom>
          <a:solidFill>
            <a:srgbClr val="EEF7EE"/>
          </a:solidFill>
          <a:ln w="1905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10545775" cy="3931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1350"/>
              </a:spcAft>
            </a:pPr>
            <a:r>
              <a:rPr sz="3000" b="0">
                <a:solidFill>
                  <a:srgbClr val="102A43"/>
                </a:solidFill>
                <a:latin typeface="Calibri"/>
              </a:rPr>
              <a:t>La partida terminó en tablas en el momento en que se llegó a esa posición: es posición muerta y no hace falta ningún reclamo.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Caso 4 · ¿Qué decide la persona árbitra?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0"/>
          </a:xfrm>
          <a:prstGeom prst="rect">
            <a:avLst/>
          </a:prstGeom>
          <a:solidFill>
            <a:srgbClr val="4E6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1277295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945"/>
              </a:spcAft>
            </a:pPr>
            <a:r>
              <a:rPr sz="2100" b="0">
                <a:solidFill>
                  <a:srgbClr val="FFFFFF"/>
                </a:solidFill>
                <a:latin typeface="Calibri"/>
              </a:rPr>
              <a:t>La captura al paso tardía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11277295" cy="43891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0545775" cy="3931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0">
                <a:solidFill>
                  <a:srgbClr val="102A43"/>
                </a:solidFill>
                <a:latin typeface="Calibri"/>
              </a:rPr>
              <a:t>Un peón negro avanzó de d7 a d5 hace dos jugadas. Ahora el peón blanco de e5 lo captura al paso.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Caso 4 · Decisión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0"/>
          </a:xfrm>
          <a:prstGeom prst="rect">
            <a:avLst/>
          </a:prstGeom>
          <a:solidFill>
            <a:srgbClr val="4E6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1277295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945"/>
              </a:spcAft>
            </a:pPr>
            <a:r>
              <a:rPr sz="2100" b="0">
                <a:solidFill>
                  <a:srgbClr val="FFFFFF"/>
                </a:solidFill>
                <a:latin typeface="Calibri"/>
              </a:rPr>
              <a:t>La captura al paso tardía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0180015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Fuente: Leyes del Ajedrez 2023 (Handbook E.I.01), art. 3.7.4.1 y 7.5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11277295" cy="4389120"/>
          </a:xfrm>
          <a:prstGeom prst="rect">
            <a:avLst/>
          </a:prstGeom>
          <a:solidFill>
            <a:srgbClr val="EEF7EE"/>
          </a:solidFill>
          <a:ln w="1905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10545775" cy="3931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1350"/>
              </a:spcAft>
            </a:pPr>
            <a:r>
              <a:rPr sz="3000" b="0">
                <a:solidFill>
                  <a:srgbClr val="102A43"/>
                </a:solidFill>
                <a:latin typeface="Calibri"/>
              </a:rPr>
              <a:t>Es una jugada ilegal: el derecho a capturar al paso solo existe en la respuesta inmediata al avance doble.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9FB3C8"/>
                </a:solidFill>
                <a:latin typeface="Calibri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127729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3240"/>
              </a:spcAft>
            </a:pPr>
            <a:r>
              <a:rPr sz="7200" b="1">
                <a:solidFill>
                  <a:srgbClr val="FFFFFF"/>
                </a:solidFill>
                <a:latin typeface="Calibri"/>
              </a:rPr>
              <a:t>Receso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1260"/>
              </a:spcAft>
            </a:pPr>
            <a:r>
              <a:rPr sz="2800" b="0">
                <a:solidFill>
                  <a:srgbClr val="CADCFC"/>
                </a:solidFill>
                <a:latin typeface="Calibri"/>
              </a:rPr>
              <a:t>10 minutos</a:t>
            </a:r>
          </a:p>
          <a:p>
            <a:pPr algn="ctr">
              <a:spcAft>
                <a:spcPts val="1260"/>
              </a:spcAft>
            </a:pPr>
            <a:r>
              <a:rPr sz="2800" b="0">
                <a:solidFill>
                  <a:srgbClr val="CADCFC"/>
                </a:solidFill>
                <a:latin typeface="Calibri"/>
              </a:rPr>
              <a:t>Pausa los relojes: seguimos en breve.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Práctica · Identificación de jugadas legales y finales de partida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77295" cy="48920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45775" cy="4480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1440"/>
              </a:spcAft>
            </a:pPr>
            <a:r>
              <a:rPr sz="3200" b="0">
                <a:solidFill>
                  <a:srgbClr val="102A43"/>
                </a:solidFill>
                <a:latin typeface="Calibri"/>
              </a:rPr>
              <a:t>A partir de un set de 8 posiciones, cada participante determina si hay jaque, jaque mate, ahogado o tablas, y justifica su respuesta con base en el reglamento.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Ejercicio 1 de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22</a:t>
            </a:r>
          </a:p>
        </p:txBody>
      </p:sp>
      <p:pic>
        <p:nvPicPr>
          <p:cNvPr id="5" name="Picture 4" descr="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12064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1371600"/>
            <a:ext cx="5608015" cy="4846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1350"/>
              </a:spcAft>
            </a:pPr>
            <a:r>
              <a:rPr sz="3000" b="0">
                <a:solidFill>
                  <a:srgbClr val="102A43"/>
                </a:solidFill>
                <a:latin typeface="Calibri"/>
              </a:rPr>
              <a:t>Posición 1. Juegan las negras. ¿Hay jaque, jaque mate, ahogado o posición muerta? ¿Sigue la partida?</a:t>
            </a:r>
          </a:p>
          <a:p>
            <a:pPr>
              <a:spcAft>
                <a:spcPts val="1350"/>
              </a:spcAft>
            </a:pPr>
            <a:r>
              <a:rPr sz="3000" b="0">
                <a:solidFill>
                  <a:srgbClr val="102A43"/>
                </a:solidFill>
                <a:latin typeface="Calibri"/>
              </a:rPr>
              <a:t>Juegan las negras.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Ejercicio 2 de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23</a:t>
            </a:r>
          </a:p>
        </p:txBody>
      </p:sp>
      <p:pic>
        <p:nvPicPr>
          <p:cNvPr id="5" name="Picture 4" descr="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12064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1371600"/>
            <a:ext cx="5608015" cy="4846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1350"/>
              </a:spcAft>
            </a:pPr>
            <a:r>
              <a:rPr sz="3000" b="0">
                <a:solidFill>
                  <a:srgbClr val="102A43"/>
                </a:solidFill>
                <a:latin typeface="Calibri"/>
              </a:rPr>
              <a:t>Posición 2. Juegan las negras. ¿Qué situación es y cuál es el resultado?</a:t>
            </a:r>
          </a:p>
          <a:p>
            <a:pPr>
              <a:spcAft>
                <a:spcPts val="1350"/>
              </a:spcAft>
            </a:pPr>
            <a:r>
              <a:rPr sz="3000" b="0">
                <a:solidFill>
                  <a:srgbClr val="102A43"/>
                </a:solidFill>
                <a:latin typeface="Calibri"/>
              </a:rPr>
              <a:t>Juegan las negras.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Ejercicio 3 de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24</a:t>
            </a:r>
          </a:p>
        </p:txBody>
      </p:sp>
      <p:pic>
        <p:nvPicPr>
          <p:cNvPr id="5" name="Picture 4" descr="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12064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1371600"/>
            <a:ext cx="5608015" cy="4846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1350"/>
              </a:spcAft>
            </a:pPr>
            <a:r>
              <a:rPr sz="3000" b="0">
                <a:solidFill>
                  <a:srgbClr val="102A43"/>
                </a:solidFill>
                <a:latin typeface="Calibri"/>
              </a:rPr>
              <a:t>Posición 3. Juegan las negras. ¿Qué situación es? ¿Sigue la partida?</a:t>
            </a:r>
          </a:p>
          <a:p>
            <a:pPr>
              <a:spcAft>
                <a:spcPts val="1350"/>
              </a:spcAft>
            </a:pPr>
            <a:r>
              <a:rPr sz="3000" b="0">
                <a:solidFill>
                  <a:srgbClr val="102A43"/>
                </a:solidFill>
                <a:latin typeface="Calibri"/>
              </a:rPr>
              <a:t>Juegan las negras.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Ejercicio 4 de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25</a:t>
            </a:r>
          </a:p>
        </p:txBody>
      </p:sp>
      <p:pic>
        <p:nvPicPr>
          <p:cNvPr id="5" name="Picture 4" descr="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12064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1371600"/>
            <a:ext cx="5608015" cy="4846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1350"/>
              </a:spcAft>
            </a:pPr>
            <a:r>
              <a:rPr sz="3000" b="0">
                <a:solidFill>
                  <a:srgbClr val="102A43"/>
                </a:solidFill>
                <a:latin typeface="Calibri"/>
              </a:rPr>
              <a:t>Posición 4. Juegan las blancas. ¿Puede seguir la partida?</a:t>
            </a:r>
          </a:p>
          <a:p>
            <a:pPr>
              <a:spcAft>
                <a:spcPts val="1350"/>
              </a:spcAft>
            </a:pPr>
            <a:r>
              <a:rPr sz="3000" b="0">
                <a:solidFill>
                  <a:srgbClr val="102A43"/>
                </a:solidFill>
                <a:latin typeface="Calibri"/>
              </a:rPr>
              <a:t>Juegan las blancas.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Ejercicio 5 de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26</a:t>
            </a:r>
          </a:p>
        </p:txBody>
      </p:sp>
      <p:pic>
        <p:nvPicPr>
          <p:cNvPr id="5" name="Picture 4" descr="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12064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1371600"/>
            <a:ext cx="5608015" cy="4846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1350"/>
              </a:spcAft>
            </a:pPr>
            <a:r>
              <a:rPr sz="3000" b="0">
                <a:solidFill>
                  <a:srgbClr val="102A43"/>
                </a:solidFill>
                <a:latin typeface="Calibri"/>
              </a:rPr>
              <a:t>Posición 5. Juegan las blancas. Se llegó tras 1.f3 e5 2.g4 Dh4. ¿Qué situación es?</a:t>
            </a:r>
          </a:p>
          <a:p>
            <a:pPr>
              <a:spcAft>
                <a:spcPts val="1350"/>
              </a:spcAft>
            </a:pPr>
            <a:r>
              <a:rPr sz="3000" b="0">
                <a:solidFill>
                  <a:srgbClr val="102A43"/>
                </a:solidFill>
                <a:latin typeface="Calibri"/>
              </a:rPr>
              <a:t>Juegan las blancas.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Ejercicio 6 de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27</a:t>
            </a:r>
          </a:p>
        </p:txBody>
      </p:sp>
      <p:pic>
        <p:nvPicPr>
          <p:cNvPr id="5" name="Picture 4" descr="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12064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1371600"/>
            <a:ext cx="5608015" cy="4846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1350"/>
              </a:spcAft>
            </a:pPr>
            <a:r>
              <a:rPr sz="3000" b="0">
                <a:solidFill>
                  <a:srgbClr val="102A43"/>
                </a:solidFill>
                <a:latin typeface="Calibri"/>
              </a:rPr>
              <a:t>Posición 6. Juegan las negras. ¿Puede seguir la partida?</a:t>
            </a:r>
          </a:p>
          <a:p>
            <a:pPr>
              <a:spcAft>
                <a:spcPts val="1350"/>
              </a:spcAft>
            </a:pPr>
            <a:r>
              <a:rPr sz="3000" b="0">
                <a:solidFill>
                  <a:srgbClr val="102A43"/>
                </a:solidFill>
                <a:latin typeface="Calibri"/>
              </a:rPr>
              <a:t>Juegan las negras.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Ejercicio 7 de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28</a:t>
            </a:r>
          </a:p>
        </p:txBody>
      </p:sp>
      <p:pic>
        <p:nvPicPr>
          <p:cNvPr id="5" name="Picture 4" descr="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12064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1371600"/>
            <a:ext cx="5608015" cy="4846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1350"/>
              </a:spcAft>
            </a:pPr>
            <a:r>
              <a:rPr sz="3000" b="0">
                <a:solidFill>
                  <a:srgbClr val="102A43"/>
                </a:solidFill>
                <a:latin typeface="Calibri"/>
              </a:rPr>
              <a:t>Posición 7. Juegan las negras. ¿Puede seguir la partida?</a:t>
            </a:r>
          </a:p>
          <a:p>
            <a:pPr>
              <a:spcAft>
                <a:spcPts val="1350"/>
              </a:spcAft>
            </a:pPr>
            <a:r>
              <a:rPr sz="3000" b="0">
                <a:solidFill>
                  <a:srgbClr val="102A43"/>
                </a:solidFill>
                <a:latin typeface="Calibri"/>
              </a:rPr>
              <a:t>Juegan las negras.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Ejercicio 8 de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29</a:t>
            </a:r>
          </a:p>
        </p:txBody>
      </p:sp>
      <p:pic>
        <p:nvPicPr>
          <p:cNvPr id="5" name="Picture 4" descr="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12064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1371600"/>
            <a:ext cx="5608015" cy="4846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1350"/>
              </a:spcAft>
            </a:pPr>
            <a:r>
              <a:rPr sz="3000" b="0">
                <a:solidFill>
                  <a:srgbClr val="102A43"/>
                </a:solidFill>
                <a:latin typeface="Calibri"/>
              </a:rPr>
              <a:t>Posición 8. Juegan las negras. ¿Qué situación es y cuál es el resultado?</a:t>
            </a:r>
          </a:p>
          <a:p>
            <a:pPr>
              <a:spcAft>
                <a:spcPts val="1350"/>
              </a:spcAft>
            </a:pPr>
            <a:r>
              <a:rPr sz="3000" b="0">
                <a:solidFill>
                  <a:srgbClr val="102A43"/>
                </a:solidFill>
                <a:latin typeface="Calibri"/>
              </a:rPr>
              <a:t>Juegan las negras.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Ejercicios: respuestas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30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77295" cy="48920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19"/>
            <a:ext cx="10637215" cy="4617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125"/>
              </a:spcAft>
            </a:pPr>
            <a:r>
              <a:rPr sz="2500" b="0">
                <a:solidFill>
                  <a:srgbClr val="102A43"/>
                </a:solidFill>
                <a:latin typeface="Calibri"/>
              </a:rPr>
              <a:t>•  1. Jaque mate: el rey está en jaque y no tiene ninguna jugada legal. La partida terminó (art. 5.1).</a:t>
            </a:r>
          </a:p>
          <a:p>
            <a:pPr>
              <a:spcAft>
                <a:spcPts val="1125"/>
              </a:spcAft>
            </a:pPr>
            <a:r>
              <a:rPr sz="2500" b="0">
                <a:solidFill>
                  <a:srgbClr val="102A43"/>
                </a:solidFill>
                <a:latin typeface="Calibri"/>
              </a:rPr>
              <a:t>•  2. Ahogado: el rey no está en jaque y el bando que mueve no tiene ninguna jugada legal. Tablas (art. 5.2.1).</a:t>
            </a:r>
          </a:p>
          <a:p>
            <a:pPr>
              <a:spcAft>
                <a:spcPts val="1125"/>
              </a:spcAft>
            </a:pPr>
            <a:r>
              <a:rPr sz="2500" b="0">
                <a:solidFill>
                  <a:srgbClr val="102A43"/>
                </a:solidFill>
                <a:latin typeface="Calibri"/>
              </a:rPr>
              <a:t>•  3. Jaque, pero no mate: el rey tiene al menos una jugada legal para salir del jaque. La partida sigue (art. 3.9).</a:t>
            </a:r>
          </a:p>
          <a:p>
            <a:pPr>
              <a:spcAft>
                <a:spcPts val="1125"/>
              </a:spcAft>
            </a:pPr>
            <a:r>
              <a:rPr sz="2500" b="0">
                <a:solidFill>
                  <a:srgbClr val="102A43"/>
                </a:solidFill>
                <a:latin typeface="Calibri"/>
              </a:rPr>
              <a:t>•  4. Posición muerta: ninguna serie de jugadas legales puede terminar en mate. Tablas de inmediato, sin reclamo (art. 5.2.2).</a:t>
            </a:r>
          </a:p>
          <a:p>
            <a:pPr>
              <a:spcAft>
                <a:spcPts val="1125"/>
              </a:spcAft>
            </a:pPr>
            <a:r>
              <a:rPr sz="2500" b="0">
                <a:solidFill>
                  <a:srgbClr val="102A43"/>
                </a:solidFill>
                <a:latin typeface="Calibri"/>
              </a:rPr>
              <a:t>•  5. Jaque mate: el rey está en jaque y no tiene ninguna jugada legal. La partida terminó (art. 5.1).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Ejercicios: respuestas (continuación)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31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77295" cy="48920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19"/>
            <a:ext cx="10637215" cy="4617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350"/>
              </a:spcAft>
            </a:pPr>
            <a:r>
              <a:rPr sz="3000" b="0">
                <a:solidFill>
                  <a:srgbClr val="102A43"/>
                </a:solidFill>
                <a:latin typeface="Calibri"/>
              </a:rPr>
              <a:t>•  6. Posición muerta: ninguna serie de jugadas legales puede terminar en mate. Tablas de inmediato, sin reclamo (art. 5.2.2).</a:t>
            </a:r>
          </a:p>
          <a:p>
            <a:pPr>
              <a:spcAft>
                <a:spcPts val="1350"/>
              </a:spcAft>
            </a:pPr>
            <a:r>
              <a:rPr sz="3000" b="0">
                <a:solidFill>
                  <a:srgbClr val="102A43"/>
                </a:solidFill>
                <a:latin typeface="Calibri"/>
              </a:rPr>
              <a:t>•  7. No hay jaque y sí hay material para dar mate: la partida sigue.</a:t>
            </a:r>
          </a:p>
          <a:p>
            <a:pPr>
              <a:spcAft>
                <a:spcPts val="1350"/>
              </a:spcAft>
            </a:pPr>
            <a:r>
              <a:rPr sz="3000" b="0">
                <a:solidFill>
                  <a:srgbClr val="102A43"/>
                </a:solidFill>
                <a:latin typeface="Calibri"/>
              </a:rPr>
              <a:t>•  8. Ahogado: el rey no está en jaque y el bando que mueve no tiene ninguna jugada legal. Tablas (art. 5.2.1).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Quiz de la sesión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0"/>
          </a:xfrm>
          <a:prstGeom prst="rect">
            <a:avLst/>
          </a:prstGeom>
          <a:solidFill>
            <a:srgbClr val="4E6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1277295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945"/>
              </a:spcAft>
            </a:pPr>
            <a:r>
              <a:rPr sz="2100" b="0">
                <a:solidFill>
                  <a:srgbClr val="FFFFFF"/>
                </a:solidFill>
                <a:latin typeface="Calibri"/>
              </a:rPr>
              <a:t>Responde de forma individual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32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11277295" cy="43891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10637215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35"/>
              </a:spcAft>
            </a:pPr>
            <a:r>
              <a:rPr sz="2300" b="0">
                <a:solidFill>
                  <a:srgbClr val="102A43"/>
                </a:solidFill>
                <a:latin typeface="Calibri"/>
              </a:rPr>
              <a:t>•  1. Un rey está en jaque y no existe ninguna jugada legal que lo saque de esa condición. ¿Cómo se denomina esta situación?</a:t>
            </a:r>
          </a:p>
          <a:p>
            <a:pPr>
              <a:spcAft>
                <a:spcPts val="1035"/>
              </a:spcAft>
            </a:pPr>
            <a:r>
              <a:rPr sz="2300" b="0">
                <a:solidFill>
                  <a:srgbClr val="102A43"/>
                </a:solidFill>
                <a:latin typeface="Calibri"/>
              </a:rPr>
              <a:t>•  2. Un jugador no está en jaque, pero no dispone de ninguna jugada legal en su turno. ¿Qué resultado corresponde?</a:t>
            </a:r>
          </a:p>
          <a:p>
            <a:pPr>
              <a:spcAft>
                <a:spcPts val="1035"/>
              </a:spcAft>
            </a:pPr>
            <a:r>
              <a:rPr sz="2300" b="0">
                <a:solidFill>
                  <a:srgbClr val="102A43"/>
                </a:solidFill>
                <a:latin typeface="Calibri"/>
              </a:rPr>
              <a:t>•  3. ¿Cuándo se pierde para siempre el derecho a enrocar de un lado?</a:t>
            </a:r>
          </a:p>
          <a:p>
            <a:pPr>
              <a:spcAft>
                <a:spcPts val="1035"/>
              </a:spcAft>
            </a:pPr>
            <a:r>
              <a:rPr sz="2300" b="0">
                <a:solidFill>
                  <a:srgbClr val="102A43"/>
                </a:solidFill>
                <a:latin typeface="Calibri"/>
              </a:rPr>
              <a:t>•  4. Quedan en el tablero rey contra rey. ¿Qué corresponde?</a:t>
            </a:r>
          </a:p>
          <a:p>
            <a:pPr>
              <a:spcAft>
                <a:spcPts val="1035"/>
              </a:spcAft>
            </a:pPr>
            <a:r>
              <a:rPr sz="2300" b="0">
                <a:solidFill>
                  <a:srgbClr val="102A43"/>
                </a:solidFill>
                <a:latin typeface="Calibri"/>
              </a:rPr>
              <a:t>•  5. ¿Cuándo puede un jugador decir «compongo» para acomodar una pieza?</a:t>
            </a:r>
          </a:p>
          <a:p>
            <a:pPr>
              <a:spcAft>
                <a:spcPts val="1035"/>
              </a:spcAft>
            </a:pPr>
            <a:r>
              <a:rPr sz="2300" b="0">
                <a:solidFill>
                  <a:srgbClr val="102A43"/>
                </a:solidFill>
                <a:latin typeface="Calibri"/>
              </a:rPr>
              <a:t>•  6. ¿Qué debe anotar cada jugador en su planilla en una partida de ritmo clásico?</a:t>
            </a:r>
          </a:p>
          <a:p>
            <a:pPr>
              <a:spcAft>
                <a:spcPts val="1035"/>
              </a:spcAft>
            </a:pPr>
            <a:r>
              <a:rPr sz="2300" b="0">
                <a:solidFill>
                  <a:srgbClr val="102A43"/>
                </a:solidFill>
                <a:latin typeface="Calibri"/>
              </a:rPr>
              <a:t>•  7. ¿Puede el árbitro principal jugar como participante en el torneo que dirige?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Quiz de la sesión (continuación)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0"/>
          </a:xfrm>
          <a:prstGeom prst="rect">
            <a:avLst/>
          </a:prstGeom>
          <a:solidFill>
            <a:srgbClr val="4E6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1277295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945"/>
              </a:spcAft>
            </a:pPr>
            <a:r>
              <a:rPr sz="2100" b="0">
                <a:solidFill>
                  <a:srgbClr val="FFFFFF"/>
                </a:solidFill>
                <a:latin typeface="Calibri"/>
              </a:rPr>
              <a:t>Responde de forma individual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33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11277295" cy="43891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10637215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02A43"/>
                </a:solidFill>
                <a:latin typeface="Calibri"/>
              </a:rPr>
              <a:t>•  8. Un jugador le pide al árbitro que le explique qué significa una regla durante la partida. ¿Puede hacerlo?</a:t>
            </a:r>
          </a:p>
          <a:p>
            <a:pPr>
              <a:spcAft>
                <a:spcPts val="1080"/>
              </a:spcAft>
            </a:pPr>
            <a:r>
              <a:rPr sz="2400" b="0">
                <a:solidFill>
                  <a:srgbClr val="102A43"/>
                </a:solidFill>
                <a:latin typeface="Calibri"/>
              </a:rPr>
              <a:t>•  9. Se descubre a mitad de partida que la posición inicial estaba mal armada desde el principio. ¿Qué corresponde?</a:t>
            </a:r>
          </a:p>
          <a:p>
            <a:pPr>
              <a:spcAft>
                <a:spcPts val="1080"/>
              </a:spcAft>
            </a:pPr>
            <a:r>
              <a:rPr sz="2400" b="0">
                <a:solidFill>
                  <a:srgbClr val="102A43"/>
                </a:solidFill>
                <a:latin typeface="Calibri"/>
              </a:rPr>
              <a:t>•  10. ¿Hasta qué momento es legal capturar un peón al paso?</a:t>
            </a:r>
          </a:p>
          <a:p>
            <a:pPr>
              <a:spcAft>
                <a:spcPts val="1080"/>
              </a:spcAft>
            </a:pPr>
            <a:r>
              <a:rPr sz="2400" b="0">
                <a:solidFill>
                  <a:srgbClr val="102A43"/>
                </a:solidFill>
                <a:latin typeface="Calibri"/>
              </a:rPr>
              <a:t>•  11. ¿Qué letras se usan en español para las piezas al anotar una partida en notación algebraica?</a:t>
            </a:r>
          </a:p>
          <a:p>
            <a:pPr>
              <a:spcAft>
                <a:spcPts val="1080"/>
              </a:spcAft>
            </a:pPr>
            <a:r>
              <a:rPr sz="2400" b="0">
                <a:solidFill>
                  <a:srgbClr val="102A43"/>
                </a:solidFill>
                <a:latin typeface="Calibri"/>
              </a:rPr>
              <a:t>•  12. ¿Puede un jugador escribir en la planilla una jugada antes de hacerla en el tablero?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Quiz: respuestas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34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77295" cy="48920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19"/>
            <a:ext cx="10637215" cy="4617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35"/>
              </a:spcAft>
            </a:pPr>
            <a:r>
              <a:rPr sz="2300" b="0">
                <a:solidFill>
                  <a:srgbClr val="102A43"/>
                </a:solidFill>
                <a:latin typeface="Calibri"/>
              </a:rPr>
              <a:t>•  1. Jaque mate.</a:t>
            </a:r>
          </a:p>
          <a:p>
            <a:pPr>
              <a:spcAft>
                <a:spcPts val="1035"/>
              </a:spcAft>
            </a:pPr>
            <a:r>
              <a:rPr sz="2300" b="0">
                <a:solidFill>
                  <a:srgbClr val="102A43"/>
                </a:solidFill>
                <a:latin typeface="Calibri"/>
              </a:rPr>
              <a:t>•  2. Partida ahogada (tablas).</a:t>
            </a:r>
          </a:p>
          <a:p>
            <a:pPr>
              <a:spcAft>
                <a:spcPts val="1035"/>
              </a:spcAft>
            </a:pPr>
            <a:r>
              <a:rPr sz="2300" b="0">
                <a:solidFill>
                  <a:srgbClr val="102A43"/>
                </a:solidFill>
                <a:latin typeface="Calibri"/>
              </a:rPr>
              <a:t>•  3. Cuando ya se movió el rey o la torre de ese lado, aunque hayan vuelto a su casilla.</a:t>
            </a:r>
          </a:p>
          <a:p>
            <a:pPr>
              <a:spcAft>
                <a:spcPts val="1035"/>
              </a:spcAft>
            </a:pPr>
            <a:r>
              <a:rPr sz="2300" b="0">
                <a:solidFill>
                  <a:srgbClr val="102A43"/>
                </a:solidFill>
                <a:latin typeface="Calibri"/>
              </a:rPr>
              <a:t>•  4. Tablas de inmediato: es posición muerta, sin necesidad de reclamo.</a:t>
            </a:r>
          </a:p>
          <a:p>
            <a:pPr>
              <a:spcAft>
                <a:spcPts val="1035"/>
              </a:spcAft>
            </a:pPr>
            <a:r>
              <a:rPr sz="2300" b="0">
                <a:solidFill>
                  <a:srgbClr val="102A43"/>
                </a:solidFill>
                <a:latin typeface="Calibri"/>
              </a:rPr>
              <a:t>•  5. Solo en su turno y antes de tocar la pieza.</a:t>
            </a:r>
          </a:p>
          <a:p>
            <a:pPr>
              <a:spcAft>
                <a:spcPts val="1035"/>
              </a:spcAft>
            </a:pPr>
            <a:r>
              <a:rPr sz="2300" b="0">
                <a:solidFill>
                  <a:srgbClr val="102A43"/>
                </a:solidFill>
                <a:latin typeface="Calibri"/>
              </a:rPr>
              <a:t>•  6. Sus jugadas y las del rival, jugada a jugada, en notación algebraica y de forma legible.</a:t>
            </a:r>
          </a:p>
          <a:p>
            <a:pPr>
              <a:spcAft>
                <a:spcPts val="1035"/>
              </a:spcAft>
            </a:pPr>
            <a:r>
              <a:rPr sz="2300" b="0">
                <a:solidFill>
                  <a:srgbClr val="102A43"/>
                </a:solidFill>
                <a:latin typeface="Calibri"/>
              </a:rPr>
              <a:t>•  7. No.</a:t>
            </a:r>
          </a:p>
          <a:p>
            <a:pPr>
              <a:spcAft>
                <a:spcPts val="1035"/>
              </a:spcAft>
            </a:pPr>
            <a:r>
              <a:rPr sz="2300" b="0">
                <a:solidFill>
                  <a:srgbClr val="102A43"/>
                </a:solidFill>
                <a:latin typeface="Calibri"/>
              </a:rPr>
              <a:t>•  8. Sí: puede explicar el significado de la regla, pero no debe opinar sobre la posición actual ni aconsejar una jugada.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17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153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Quiz: respuestas (continuación)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627D98"/>
                </a:solidFill>
                <a:latin typeface="Calibri"/>
              </a:rPr>
              <a:t>35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77295" cy="48920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19"/>
            <a:ext cx="10637215" cy="4617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60"/>
              </a:spcAft>
            </a:pPr>
            <a:r>
              <a:rPr sz="2800" b="0">
                <a:solidFill>
                  <a:srgbClr val="102A43"/>
                </a:solidFill>
                <a:latin typeface="Calibri"/>
              </a:rPr>
              <a:t>•  9. Se anula la partida y se juega de nuevo (distinto de si solo el tablero estaba mal orientado, donde la posición se traslada a un tablero bien colocado y la partida sigue).</a:t>
            </a:r>
          </a:p>
          <a:p>
            <a:pPr>
              <a:spcAft>
                <a:spcPts val="1260"/>
              </a:spcAft>
            </a:pPr>
            <a:r>
              <a:rPr sz="2800" b="0">
                <a:solidFill>
                  <a:srgbClr val="102A43"/>
                </a:solidFill>
                <a:latin typeface="Calibri"/>
              </a:rPr>
              <a:t>•  10. Solo en la jugada inmediatamente siguiente al avance doble del peón rival; después se pierde el derecho.</a:t>
            </a:r>
          </a:p>
          <a:p>
            <a:pPr>
              <a:spcAft>
                <a:spcPts val="1260"/>
              </a:spcAft>
            </a:pPr>
            <a:r>
              <a:rPr sz="2800" b="0">
                <a:solidFill>
                  <a:srgbClr val="102A43"/>
                </a:solidFill>
                <a:latin typeface="Calibri"/>
              </a:rPr>
              <a:t>•  11. R (rey), D (dama), T (torre), A (alfil) y C (caballo); el peón no lleva letra.</a:t>
            </a:r>
          </a:p>
          <a:p>
            <a:pPr>
              <a:spcAft>
                <a:spcPts val="1260"/>
              </a:spcAft>
            </a:pPr>
            <a:r>
              <a:rPr sz="2800" b="0">
                <a:solidFill>
                  <a:srgbClr val="102A43"/>
                </a:solidFill>
                <a:latin typeface="Calibri"/>
              </a:rPr>
              <a:t>•  12. Solo como excepción, para reclamar tablas por triple repetición o por la regla de las 50 jugadas.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28655" y="6419088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9FB3C8"/>
                </a:solidFill>
                <a:latin typeface="Calibri"/>
              </a:rPr>
              <a:t>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</a:pPr>
            <a:r>
              <a:rPr sz="2000" b="1">
                <a:solidFill>
                  <a:srgbClr val="F4C430"/>
                </a:solidFill>
                <a:latin typeface="Calibri"/>
              </a:rPr>
              <a:t>TAREA PARA LA PRÓXIMA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3108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440"/>
              </a:spcAft>
            </a:pPr>
            <a:r>
              <a:rPr sz="3200" b="0">
                <a:solidFill>
                  <a:srgbClr val="FFFFFF"/>
                </a:solidFill>
                <a:latin typeface="Calibri"/>
              </a:rPr>
              <a:t>Leer el capítulo de reglas básicas de las Leyes de Ajedrez de la FIDE y completar una ficha breve de reflexión sobre una situación de arbitraje básica vivida en su contexto educativo.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728655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ADCFC"/>
                </a:solidFill>
                <a:latin typeface="Calibri"/>
              </a:rPr>
              <a:t>¿Dudas? Este es el momento. Gracias por tu participación.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