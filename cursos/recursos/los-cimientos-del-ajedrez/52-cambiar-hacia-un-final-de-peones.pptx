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692640" y="-1463040"/>
            <a:ext cx="4572000" cy="4572000"/>
          </a:xfrm>
          <a:prstGeom prst="ellipse">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645920" y="4937760"/>
            <a:ext cx="3840480" cy="3840480"/>
          </a:xfrm>
          <a:prstGeom prst="ellipse">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594360"/>
            <a:ext cx="1005840" cy="100584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594360"/>
            <a:ext cx="1005840" cy="1005840"/>
          </a:xfrm>
          <a:prstGeom prst="rect">
            <a:avLst/>
          </a:prstGeom>
          <a:noFill/>
        </p:spPr>
        <p:txBody>
          <a:bodyPr wrap="square">
            <a:spAutoFit/>
          </a:bodyPr>
          <a:lstStyle/>
          <a:p>
            <a:pPr algn="ctr"/>
            <a:r>
              <a:rPr sz="3200" b="1">
                <a:solidFill>
                  <a:srgbClr val="0A1F33"/>
                </a:solidFill>
                <a:latin typeface="Calibri"/>
              </a:rPr>
              <a:t>52</a:t>
            </a:r>
          </a:p>
        </p:txBody>
      </p:sp>
      <p:sp>
        <p:nvSpPr>
          <p:cNvPr id="7" name="TextBox 6"/>
          <p:cNvSpPr txBox="1"/>
          <p:nvPr/>
        </p:nvSpPr>
        <p:spPr>
          <a:xfrm>
            <a:off x="1920240" y="685800"/>
            <a:ext cx="9509760" cy="457200"/>
          </a:xfrm>
          <a:prstGeom prst="rect">
            <a:avLst/>
          </a:prstGeom>
          <a:noFill/>
        </p:spPr>
        <p:txBody>
          <a:bodyPr wrap="square">
            <a:spAutoFit/>
          </a:bodyPr>
          <a:lstStyle/>
          <a:p>
            <a:r>
              <a:rPr sz="1300" b="1">
                <a:solidFill>
                  <a:srgbClr val="F0B429"/>
                </a:solidFill>
                <a:latin typeface="Calibri"/>
              </a:rPr>
              <a:t>AJEDREZ INTEGRAL  ·  LOS CIMIENTOS DEL AJEDREZ</a:t>
            </a:r>
          </a:p>
        </p:txBody>
      </p:sp>
      <p:sp>
        <p:nvSpPr>
          <p:cNvPr id="8" name="TextBox 7"/>
          <p:cNvSpPr txBox="1"/>
          <p:nvPr/>
        </p:nvSpPr>
        <p:spPr>
          <a:xfrm>
            <a:off x="1920240" y="1097280"/>
            <a:ext cx="9509760" cy="365760"/>
          </a:xfrm>
          <a:prstGeom prst="rect">
            <a:avLst/>
          </a:prstGeom>
          <a:noFill/>
        </p:spPr>
        <p:txBody>
          <a:bodyPr wrap="square">
            <a:spAutoFit/>
          </a:bodyPr>
          <a:lstStyle/>
          <a:p>
            <a:r>
              <a:rPr sz="1300" b="0">
                <a:solidFill>
                  <a:srgbClr val="9FB3C8"/>
                </a:solidFill>
                <a:latin typeface="Calibri"/>
              </a:rPr>
              <a:t>Bloque 3 · La coordinación de las piezas</a:t>
            </a:r>
          </a:p>
        </p:txBody>
      </p:sp>
      <p:sp>
        <p:nvSpPr>
          <p:cNvPr id="9" name="TextBox 8"/>
          <p:cNvSpPr txBox="1"/>
          <p:nvPr/>
        </p:nvSpPr>
        <p:spPr>
          <a:xfrm>
            <a:off x="640080" y="2651760"/>
            <a:ext cx="10881360" cy="2011680"/>
          </a:xfrm>
          <a:prstGeom prst="rect">
            <a:avLst/>
          </a:prstGeom>
          <a:noFill/>
        </p:spPr>
        <p:txBody>
          <a:bodyPr wrap="square">
            <a:spAutoFit/>
          </a:bodyPr>
          <a:lstStyle/>
          <a:p>
            <a:r>
              <a:rPr sz="4000" b="1">
                <a:solidFill>
                  <a:srgbClr val="FFFFFF"/>
                </a:solidFill>
                <a:latin typeface="Cambria"/>
              </a:rPr>
              <a:t>Cambiar hacia un final de peones</a:t>
            </a:r>
          </a:p>
        </p:txBody>
      </p:sp>
      <p:sp>
        <p:nvSpPr>
          <p:cNvPr id="10" name="TextBox 9"/>
          <p:cNvSpPr txBox="1"/>
          <p:nvPr/>
        </p:nvSpPr>
        <p:spPr>
          <a:xfrm>
            <a:off x="640080" y="4617720"/>
            <a:ext cx="9601200" cy="914400"/>
          </a:xfrm>
          <a:prstGeom prst="rect">
            <a:avLst/>
          </a:prstGeom>
          <a:noFill/>
        </p:spPr>
        <p:txBody>
          <a:bodyPr wrap="square">
            <a:spAutoFit/>
          </a:bodyPr>
          <a:lstStyle/>
          <a:p>
            <a:r>
              <a:rPr sz="1800" b="0">
                <a:solidFill>
                  <a:srgbClr val="CADCFC"/>
                </a:solidFill>
                <a:latin typeface="Calibri"/>
              </a:rPr>
              <a:t>Cambiar la última pieza para entrar en un final de peones es una decisión que no tiene vuelta atrás. Aprende a contar antes de hacerlo.</a:t>
            </a:r>
          </a:p>
        </p:txBody>
      </p:sp>
      <p:sp>
        <p:nvSpPr>
          <p:cNvPr id="11" name="TextBox 10"/>
          <p:cNvSpPr txBox="1"/>
          <p:nvPr/>
        </p:nvSpPr>
        <p:spPr>
          <a:xfrm>
            <a:off x="640080" y="6309360"/>
            <a:ext cx="5486400" cy="365760"/>
          </a:xfrm>
          <a:prstGeom prst="rect">
            <a:avLst/>
          </a:prstGeom>
          <a:noFill/>
        </p:spPr>
        <p:txBody>
          <a:bodyPr wrap="square">
            <a:spAutoFit/>
          </a:bodyPr>
          <a:lstStyle/>
          <a:p>
            <a:r>
              <a:rPr sz="1100" b="0">
                <a:solidFill>
                  <a:srgbClr val="627D98"/>
                </a:solidFill>
                <a:latin typeface="Calibri"/>
              </a:rPr>
              <a:t>ajedrez-integral.com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Cambiar hacia un final de peones</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Un final de peones es el más exacto del ajedrez: casi siempre está ganado o hecho tablas, sin término medio. Por eso cambiar la última pieza que queda es una de las decisiones más importantes de una partida. Si el final de peones resultante está ganado, el cambio resuelve todo de un golpe; si no lo está, puedes estar regalando una ventaja que con piezas se habría impuesto. No hay forma de corregir después.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Cambiar hacia un final de peones</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Lo que decide un final de peones se puede contar: quién tiene el rey más activo y más cerca del centro, quién tiene un peón pasado o una mayoría que lo puede crear, quién tiene un peón pasado más alejado que desvíe al rey rival, y quién gana la oposición en el momento clave. También importa quién tiene jugadas de espera con los peones. Si al cambiar todas esas cuentas te favorecen, el cambio es una buena señal.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Cambiar hacia un final de peones</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Antes de cambiar, calcula la carrera concreta: cuántas jugadas necesita cada peón para coronar, si el rey rival entra en el cuadrado, qué pasa con los peones del otro flanco. El error típico es cambiar por comodidad, pensando que menos piezas es más fácil, y descubrir que el rey rival llega primero. El error contrario también es común: no cambiar por miedo y dejar escapar un final de peones que se ganaba solo.</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280160" y="-1463040"/>
            <a:ext cx="4114800" cy="4114800"/>
          </a:xfrm>
          <a:prstGeom prst="ellipse">
            <a:avLst/>
          </a:prstGeom>
          <a:solidFill>
            <a:srgbClr val="0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175504" y="822960"/>
            <a:ext cx="1828800" cy="182880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175504" y="822960"/>
            <a:ext cx="1828800" cy="1828800"/>
          </a:xfrm>
          <a:prstGeom prst="rect">
            <a:avLst/>
          </a:prstGeom>
          <a:noFill/>
        </p:spPr>
        <p:txBody>
          <a:bodyPr wrap="square">
            <a:spAutoFit/>
          </a:bodyPr>
          <a:lstStyle/>
          <a:p>
            <a:pPr algn="ctr"/>
            <a:r>
              <a:rPr sz="4400" b="1">
                <a:solidFill>
                  <a:srgbClr val="0A1F33"/>
                </a:solidFill>
                <a:latin typeface="Calibri"/>
              </a:rPr>
              <a:t>✔</a:t>
            </a:r>
          </a:p>
        </p:txBody>
      </p:sp>
      <p:sp>
        <p:nvSpPr>
          <p:cNvPr id="6" name="TextBox 5"/>
          <p:cNvSpPr txBox="1"/>
          <p:nvPr/>
        </p:nvSpPr>
        <p:spPr>
          <a:xfrm>
            <a:off x="548640" y="2880360"/>
            <a:ext cx="11064240" cy="457200"/>
          </a:xfrm>
          <a:prstGeom prst="rect">
            <a:avLst/>
          </a:prstGeom>
          <a:noFill/>
        </p:spPr>
        <p:txBody>
          <a:bodyPr wrap="square">
            <a:spAutoFit/>
          </a:bodyPr>
          <a:lstStyle/>
          <a:p>
            <a:pPr algn="ctr"/>
            <a:r>
              <a:rPr sz="1400" b="1">
                <a:solidFill>
                  <a:srgbClr val="F0B429"/>
                </a:solidFill>
                <a:latin typeface="Calibri"/>
              </a:rPr>
              <a:t>PARA PRACTICAR</a:t>
            </a:r>
          </a:p>
        </p:txBody>
      </p:sp>
      <p:sp>
        <p:nvSpPr>
          <p:cNvPr id="7" name="TextBox 6"/>
          <p:cNvSpPr txBox="1"/>
          <p:nvPr/>
        </p:nvSpPr>
        <p:spPr>
          <a:xfrm>
            <a:off x="1280160" y="3383280"/>
            <a:ext cx="9601200" cy="2377440"/>
          </a:xfrm>
          <a:prstGeom prst="rect">
            <a:avLst/>
          </a:prstGeom>
          <a:noFill/>
        </p:spPr>
        <p:txBody>
          <a:bodyPr wrap="square">
            <a:spAutoFit/>
          </a:bodyPr>
          <a:lstStyle/>
          <a:p>
            <a:pPr algn="ctr"/>
            <a:r>
              <a:rPr sz="2200" b="0">
                <a:solidFill>
                  <a:srgbClr val="FFFFFF"/>
                </a:solidFill>
                <a:latin typeface="Cambria"/>
              </a:rPr>
              <a:t>Busca en tus partidas un momento en que quedaba una sola pieza por bando. Monta el final de peones que habría salido al cambiarla y juégalo contra el motor o un compañero desde los dos lados.</a:t>
            </a:r>
          </a:p>
        </p:txBody>
      </p:sp>
      <p:sp>
        <p:nvSpPr>
          <p:cNvPr id="8" name="TextBox 7"/>
          <p:cNvSpPr txBox="1"/>
          <p:nvPr/>
        </p:nvSpPr>
        <p:spPr>
          <a:xfrm>
            <a:off x="548640" y="6263640"/>
            <a:ext cx="11064240" cy="365760"/>
          </a:xfrm>
          <a:prstGeom prst="rect">
            <a:avLst/>
          </a:prstGeom>
          <a:noFill/>
        </p:spPr>
        <p:txBody>
          <a:bodyPr wrap="square">
            <a:spAutoFit/>
          </a:bodyPr>
          <a:lstStyle/>
          <a:p>
            <a:pPr algn="ctr"/>
            <a:r>
              <a:rPr sz="1200" b="0">
                <a:solidFill>
                  <a:srgbClr val="9FB3C8"/>
                </a:solidFill>
                <a:latin typeface="Calibri"/>
              </a:rPr>
              <a:t>Los cimientos del ajedrez · Lección 52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