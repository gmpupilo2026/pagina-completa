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6</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FORMACIÓN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Integración práctica y cierre presencial</a:t>
            </a:r>
          </a:p>
        </p:txBody>
      </p:sp>
      <p:sp>
        <p:nvSpPr>
          <p:cNvPr id="9" name="TextBox 8"/>
          <p:cNvSpPr txBox="1"/>
          <p:nvPr/>
        </p:nvSpPr>
        <p:spPr>
          <a:xfrm>
            <a:off x="640080" y="2651760"/>
            <a:ext cx="10881360" cy="2011680"/>
          </a:xfrm>
          <a:prstGeom prst="rect">
            <a:avLst/>
          </a:prstGeom>
          <a:noFill/>
        </p:spPr>
        <p:txBody>
          <a:bodyPr wrap="square">
            <a:spAutoFit/>
          </a:bodyPr>
          <a:lstStyle/>
          <a:p>
            <a:r>
              <a:rPr sz="3400" b="1">
                <a:solidFill>
                  <a:srgbClr val="FFFFFF"/>
                </a:solidFill>
                <a:latin typeface="Cambria"/>
              </a:rPr>
              <a:t>Resolución de casos en grupos y experiencias regionales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Casos integradores de arbitraje y elementos logísticos de un torneo estudiantil.</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9144000" cy="457200"/>
          </a:xfrm>
          <a:prstGeom prst="rect">
            <a:avLst/>
          </a:prstGeom>
          <a:noFill/>
        </p:spPr>
        <p:txBody>
          <a:bodyPr wrap="square">
            <a:spAutoFit/>
          </a:bodyPr>
          <a:lstStyle/>
          <a:p>
            <a:r>
              <a:rPr sz="1400" b="1">
                <a:solidFill>
                  <a:srgbClr val="DE911D"/>
                </a:solidFill>
                <a:latin typeface="Calibri"/>
              </a:rPr>
              <a:t>OBJETIVOS DE LA SESIÓN</a:t>
            </a:r>
          </a:p>
        </p:txBody>
      </p:sp>
      <p:sp>
        <p:nvSpPr>
          <p:cNvPr id="5" name="TextBox 4"/>
          <p:cNvSpPr txBox="1"/>
          <p:nvPr/>
        </p:nvSpPr>
        <p:spPr>
          <a:xfrm>
            <a:off x="548640" y="1051560"/>
            <a:ext cx="11064240" cy="822960"/>
          </a:xfrm>
          <a:prstGeom prst="rect">
            <a:avLst/>
          </a:prstGeom>
          <a:noFill/>
        </p:spPr>
        <p:txBody>
          <a:bodyPr wrap="square">
            <a:spAutoFit/>
          </a:bodyPr>
          <a:lstStyle/>
          <a:p>
            <a:r>
              <a:rPr sz="2400" b="1">
                <a:solidFill>
                  <a:srgbClr val="0A1F33"/>
                </a:solidFill>
                <a:latin typeface="Cambria"/>
              </a:rPr>
              <a:t>Resolución de casos en grupos y experiencias regionales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94560"/>
            <a:ext cx="10332720" cy="3931920"/>
          </a:xfrm>
          <a:prstGeom prst="rect">
            <a:avLst/>
          </a:prstGeom>
          <a:noFill/>
        </p:spPr>
        <p:txBody>
          <a:bodyPr wrap="square">
            <a:spAutoFit/>
          </a:bodyPr>
          <a:lstStyle/>
          <a:p>
            <a:pPr>
              <a:spcAft>
                <a:spcPts val="800"/>
              </a:spcAft>
            </a:pPr>
            <a:r>
              <a:rPr sz="1800">
                <a:solidFill>
                  <a:srgbClr val="334E68"/>
                </a:solidFill>
                <a:latin typeface="Calibri"/>
              </a:rPr>
              <a:t>•  Resolver casos complejos con un método: hechos, artículo, decisión y registro.</a:t>
            </a:r>
          </a:p>
          <a:p>
            <a:pPr>
              <a:spcAft>
                <a:spcPts val="800"/>
              </a:spcAft>
            </a:pPr>
            <a:r>
              <a:rPr sz="1800">
                <a:solidFill>
                  <a:srgbClr val="334E68"/>
                </a:solidFill>
                <a:latin typeface="Calibri"/>
              </a:rPr>
              <a:t>•  Planificar la logística de un torneo estudiantil antes, durante y después de las rondas.</a:t>
            </a:r>
          </a:p>
          <a:p>
            <a:pPr>
              <a:spcAft>
                <a:spcPts val="800"/>
              </a:spcAft>
            </a:pPr>
            <a:r>
              <a:rPr sz="1800">
                <a:solidFill>
                  <a:srgbClr val="334E68"/>
                </a:solidFill>
                <a:latin typeface="Calibri"/>
              </a:rPr>
              <a:t>•  Comunicar decisiones arbitrales con claridad a estudiantes, familias y docentes.</a:t>
            </a:r>
          </a:p>
          <a:p>
            <a:pPr>
              <a:spcAft>
                <a:spcPts val="800"/>
              </a:spcAft>
            </a:pPr>
            <a:r>
              <a:rPr sz="1800">
                <a:solidFill>
                  <a:srgbClr val="334E68"/>
                </a:solidFill>
                <a:latin typeface="Calibri"/>
              </a:rPr>
              <a:t>•  Redactar el informe de una incidencia.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9144000" cy="457200"/>
          </a:xfrm>
          <a:prstGeom prst="rect">
            <a:avLst/>
          </a:prstGeom>
          <a:noFill/>
        </p:spPr>
        <p:txBody>
          <a:bodyPr wrap="square">
            <a:spAutoFit/>
          </a:bodyPr>
          <a:lstStyle/>
          <a:p>
            <a:r>
              <a:rPr sz="1400" b="1">
                <a:solidFill>
                  <a:srgbClr val="DE911D"/>
                </a:solidFill>
                <a:latin typeface="Calibri"/>
              </a:rPr>
              <a:t>CRONOGRAMA DE LA SESIÓN · 5 HORAS</a:t>
            </a:r>
          </a:p>
        </p:txBody>
      </p:sp>
      <p:graphicFrame>
        <p:nvGraphicFramePr>
          <p:cNvPr id="5" name="Table 4"/>
          <p:cNvGraphicFramePr>
            <a:graphicFrameLocks noGrp="1"/>
          </p:cNvGraphicFramePr>
          <p:nvPr/>
        </p:nvGraphicFramePr>
        <p:xfrm>
          <a:off x="548640" y="1143000"/>
          <a:ext cx="11064240" cy="5029200"/>
        </p:xfrm>
        <a:graphic>
          <a:graphicData uri="http://schemas.openxmlformats.org/drawingml/2006/table">
            <a:tbl>
              <a:tblPr firstRow="1" bandRow="1">
                <a:tableStyleId>{5C22544A-7EE6-4342-B048-85BDC9FD1C3A}</a:tableStyleId>
              </a:tblPr>
              <a:tblGrid>
                <a:gridCol w="1737360"/>
                <a:gridCol w="1188720"/>
                <a:gridCol w="8138160"/>
              </a:tblGrid>
              <a:tr h="457200">
                <a:tc>
                  <a:txBody>
                    <a:bodyPr/>
                    <a:lstStyle/>
                    <a:p>
                      <a:r>
                        <a:rPr sz="1300" b="1">
                          <a:solidFill>
                            <a:srgbClr val="FFFFFF"/>
                          </a:solidFill>
                        </a:rPr>
                        <a:t>Tiempo</a:t>
                      </a:r>
                    </a:p>
                  </a:txBody>
                  <a:tcPr>
                    <a:solidFill>
                      <a:srgbClr val="102A43"/>
                    </a:solidFill>
                  </a:tcPr>
                </a:tc>
                <a:tc>
                  <a:txBody>
                    <a:bodyPr/>
                    <a:lstStyle/>
                    <a:p>
                      <a:r>
                        <a:rPr sz="1300" b="1">
                          <a:solidFill>
                            <a:srgbClr val="FFFFFF"/>
                          </a:solidFill>
                        </a:rPr>
                        <a:t>Duración</a:t>
                      </a:r>
                    </a:p>
                  </a:txBody>
                  <a:tcPr>
                    <a:solidFill>
                      <a:srgbClr val="102A43"/>
                    </a:solidFill>
                  </a:tcPr>
                </a:tc>
                <a:tc>
                  <a:txBody>
                    <a:bodyPr/>
                    <a:lstStyle/>
                    <a:p>
                      <a:r>
                        <a:rPr sz="1300" b="1">
                          <a:solidFill>
                            <a:srgbClr val="FFFFFF"/>
                          </a:solidFill>
                        </a:rPr>
                        <a:t>Actividad</a:t>
                      </a:r>
                    </a:p>
                  </a:txBody>
                  <a:tcPr>
                    <a:solidFill>
                      <a:srgbClr val="102A43"/>
                    </a:solidFill>
                  </a:tcPr>
                </a:tc>
              </a:tr>
              <a:tr h="457200">
                <a:tc>
                  <a:txBody>
                    <a:bodyPr/>
                    <a:lstStyle/>
                    <a:p>
                      <a:r>
                        <a:rPr sz="1200" b="0">
                          <a:solidFill>
                            <a:srgbClr val="334E68"/>
                          </a:solidFill>
                        </a:rPr>
                        <a:t>0:00 – 0:15</a:t>
                      </a:r>
                    </a:p>
                  </a:txBody>
                  <a:tcPr>
                    <a:solidFill>
                      <a:srgbClr val="F0F4F8"/>
                    </a:solidFill>
                  </a:tcPr>
                </a:tc>
                <a:tc>
                  <a:txBody>
                    <a:bodyPr/>
                    <a:lstStyle/>
                    <a:p>
                      <a:r>
                        <a:rPr sz="1200" b="0">
                          <a:solidFill>
                            <a:srgbClr val="334E68"/>
                          </a:solidFill>
                        </a:rPr>
                        <a:t>15 min</a:t>
                      </a:r>
                    </a:p>
                  </a:txBody>
                  <a:tcPr>
                    <a:solidFill>
                      <a:srgbClr val="F0F4F8"/>
                    </a:solidFill>
                  </a:tcPr>
                </a:tc>
                <a:tc>
                  <a:txBody>
                    <a:bodyPr/>
                    <a:lstStyle/>
                    <a:p>
                      <a:r>
                        <a:rPr sz="1200" b="0">
                          <a:solidFill>
                            <a:srgbClr val="334E68"/>
                          </a:solidFill>
                        </a:rPr>
                        <a:t>Repaso y revisión de la tarea</a:t>
                      </a:r>
                    </a:p>
                  </a:txBody>
                  <a:tcPr>
                    <a:solidFill>
                      <a:srgbClr val="F0F4F8"/>
                    </a:solidFill>
                  </a:tcPr>
                </a:tc>
              </a:tr>
              <a:tr h="457200">
                <a:tc>
                  <a:txBody>
                    <a:bodyPr/>
                    <a:lstStyle/>
                    <a:p>
                      <a:r>
                        <a:rPr sz="1200" b="0">
                          <a:solidFill>
                            <a:srgbClr val="334E68"/>
                          </a:solidFill>
                        </a:rPr>
                        <a:t>0:15 – 0:55</a:t>
                      </a:r>
                    </a:p>
                  </a:txBody>
                  <a:tcPr>
                    <a:solidFill>
                      <a:srgbClr val="FFFFFF"/>
                    </a:solidFill>
                  </a:tcPr>
                </a:tc>
                <a:tc>
                  <a:txBody>
                    <a:bodyPr/>
                    <a:lstStyle/>
                    <a:p>
                      <a:r>
                        <a:rPr sz="1200" b="0">
                          <a:solidFill>
                            <a:srgbClr val="334E68"/>
                          </a:solidFill>
                        </a:rPr>
                        <a:t>40 min</a:t>
                      </a:r>
                    </a:p>
                  </a:txBody>
                  <a:tcPr>
                    <a:solidFill>
                      <a:srgbClr val="FFFFFF"/>
                    </a:solidFill>
                  </a:tcPr>
                </a:tc>
                <a:tc>
                  <a:txBody>
                    <a:bodyPr/>
                    <a:lstStyle/>
                    <a:p>
                      <a:r>
                        <a:rPr sz="1200" b="0">
                          <a:solidFill>
                            <a:srgbClr val="334E68"/>
                          </a:solidFill>
                        </a:rPr>
                        <a:t>Método para resolver un caso arbitral</a:t>
                      </a:r>
                    </a:p>
                  </a:txBody>
                  <a:tcPr>
                    <a:solidFill>
                      <a:srgbClr val="FFFFFF"/>
                    </a:solidFill>
                  </a:tcPr>
                </a:tc>
              </a:tr>
              <a:tr h="457200">
                <a:tc>
                  <a:txBody>
                    <a:bodyPr/>
                    <a:lstStyle/>
                    <a:p>
                      <a:r>
                        <a:rPr sz="1200" b="0">
                          <a:solidFill>
                            <a:srgbClr val="334E68"/>
                          </a:solidFill>
                        </a:rPr>
                        <a:t>0:55 – 1:40</a:t>
                      </a:r>
                    </a:p>
                  </a:txBody>
                  <a:tcPr>
                    <a:solidFill>
                      <a:srgbClr val="F0F4F8"/>
                    </a:solidFill>
                  </a:tcPr>
                </a:tc>
                <a:tc>
                  <a:txBody>
                    <a:bodyPr/>
                    <a:lstStyle/>
                    <a:p>
                      <a:r>
                        <a:rPr sz="1200" b="0">
                          <a:solidFill>
                            <a:srgbClr val="334E68"/>
                          </a:solidFill>
                        </a:rPr>
                        <a:t>45 min</a:t>
                      </a:r>
                    </a:p>
                  </a:txBody>
                  <a:tcPr>
                    <a:solidFill>
                      <a:srgbClr val="F0F4F8"/>
                    </a:solidFill>
                  </a:tcPr>
                </a:tc>
                <a:tc>
                  <a:txBody>
                    <a:bodyPr/>
                    <a:lstStyle/>
                    <a:p>
                      <a:r>
                        <a:rPr sz="1200" b="0">
                          <a:solidFill>
                            <a:srgbClr val="334E68"/>
                          </a:solidFill>
                        </a:rPr>
                        <a:t>Logística de un torneo estudiantil</a:t>
                      </a:r>
                    </a:p>
                  </a:txBody>
                  <a:tcPr>
                    <a:solidFill>
                      <a:srgbClr val="F0F4F8"/>
                    </a:solidFill>
                  </a:tcPr>
                </a:tc>
              </a:tr>
              <a:tr h="457200">
                <a:tc>
                  <a:txBody>
                    <a:bodyPr/>
                    <a:lstStyle/>
                    <a:p>
                      <a:r>
                        <a:rPr sz="1200" b="1">
                          <a:solidFill>
                            <a:srgbClr val="DE911D"/>
                          </a:solidFill>
                        </a:rPr>
                        <a:t>1:40 – 1:55</a:t>
                      </a:r>
                    </a:p>
                  </a:txBody>
                  <a:tcPr>
                    <a:solidFill>
                      <a:srgbClr val="FFFFFF"/>
                    </a:solidFill>
                  </a:tcPr>
                </a:tc>
                <a:tc>
                  <a:txBody>
                    <a:bodyPr/>
                    <a:lstStyle/>
                    <a:p>
                      <a:r>
                        <a:rPr sz="1200" b="1">
                          <a:solidFill>
                            <a:srgbClr val="DE911D"/>
                          </a:solidFill>
                        </a:rPr>
                        <a:t>15 min</a:t>
                      </a:r>
                    </a:p>
                  </a:txBody>
                  <a:tcPr>
                    <a:solidFill>
                      <a:srgbClr val="FFFFFF"/>
                    </a:solidFill>
                  </a:tcPr>
                </a:tc>
                <a:tc>
                  <a:txBody>
                    <a:bodyPr/>
                    <a:lstStyle/>
                    <a:p>
                      <a:r>
                        <a:rPr sz="1200" b="1">
                          <a:solidFill>
                            <a:srgbClr val="DE911D"/>
                          </a:solidFill>
                        </a:rPr>
                        <a:t>Receso</a:t>
                      </a:r>
                    </a:p>
                  </a:txBody>
                  <a:tcPr>
                    <a:solidFill>
                      <a:srgbClr val="FFFFFF"/>
                    </a:solidFill>
                  </a:tcPr>
                </a:tc>
              </a:tr>
              <a:tr h="457200">
                <a:tc>
                  <a:txBody>
                    <a:bodyPr/>
                    <a:lstStyle/>
                    <a:p>
                      <a:r>
                        <a:rPr sz="1200" b="0">
                          <a:solidFill>
                            <a:srgbClr val="334E68"/>
                          </a:solidFill>
                        </a:rPr>
                        <a:t>1:55 – 2:55</a:t>
                      </a:r>
                    </a:p>
                  </a:txBody>
                  <a:tcPr>
                    <a:solidFill>
                      <a:srgbClr val="F0F4F8"/>
                    </a:solidFill>
                  </a:tcPr>
                </a:tc>
                <a:tc>
                  <a:txBody>
                    <a:bodyPr/>
                    <a:lstStyle/>
                    <a:p>
                      <a:r>
                        <a:rPr sz="1200" b="0">
                          <a:solidFill>
                            <a:srgbClr val="334E68"/>
                          </a:solidFill>
                        </a:rPr>
                        <a:t>60 min</a:t>
                      </a:r>
                    </a:p>
                  </a:txBody>
                  <a:tcPr>
                    <a:solidFill>
                      <a:srgbClr val="F0F4F8"/>
                    </a:solidFill>
                  </a:tcPr>
                </a:tc>
                <a:tc>
                  <a:txBody>
                    <a:bodyPr/>
                    <a:lstStyle/>
                    <a:p>
                      <a:r>
                        <a:rPr sz="1200" b="0">
                          <a:solidFill>
                            <a:srgbClr val="334E68"/>
                          </a:solidFill>
                        </a:rPr>
                        <a:t>Casos integradores en grupos</a:t>
                      </a:r>
                    </a:p>
                  </a:txBody>
                  <a:tcPr>
                    <a:solidFill>
                      <a:srgbClr val="F0F4F8"/>
                    </a:solidFill>
                  </a:tcPr>
                </a:tc>
              </a:tr>
              <a:tr h="457200">
                <a:tc>
                  <a:txBody>
                    <a:bodyPr/>
                    <a:lstStyle/>
                    <a:p>
                      <a:r>
                        <a:rPr sz="1200" b="0">
                          <a:solidFill>
                            <a:srgbClr val="334E68"/>
                          </a:solidFill>
                        </a:rPr>
                        <a:t>2:55 – 3:35</a:t>
                      </a:r>
                    </a:p>
                  </a:txBody>
                  <a:tcPr>
                    <a:solidFill>
                      <a:srgbClr val="FFFFFF"/>
                    </a:solidFill>
                  </a:tcPr>
                </a:tc>
                <a:tc>
                  <a:txBody>
                    <a:bodyPr/>
                    <a:lstStyle/>
                    <a:p>
                      <a:r>
                        <a:rPr sz="1200" b="0">
                          <a:solidFill>
                            <a:srgbClr val="334E68"/>
                          </a:solidFill>
                        </a:rPr>
                        <a:t>40 min</a:t>
                      </a:r>
                    </a:p>
                  </a:txBody>
                  <a:tcPr>
                    <a:solidFill>
                      <a:srgbClr val="FFFFFF"/>
                    </a:solidFill>
                  </a:tcPr>
                </a:tc>
                <a:tc>
                  <a:txBody>
                    <a:bodyPr/>
                    <a:lstStyle/>
                    <a:p>
                      <a:r>
                        <a:rPr sz="1200" b="0">
                          <a:solidFill>
                            <a:srgbClr val="334E68"/>
                          </a:solidFill>
                        </a:rPr>
                        <a:t>Plenaria de soluciones</a:t>
                      </a:r>
                    </a:p>
                  </a:txBody>
                  <a:tcPr>
                    <a:solidFill>
                      <a:srgbClr val="FFFFFF"/>
                    </a:solidFill>
                  </a:tcPr>
                </a:tc>
              </a:tr>
              <a:tr h="457200">
                <a:tc>
                  <a:txBody>
                    <a:bodyPr/>
                    <a:lstStyle/>
                    <a:p>
                      <a:r>
                        <a:rPr sz="1200" b="1">
                          <a:solidFill>
                            <a:srgbClr val="DE911D"/>
                          </a:solidFill>
                        </a:rPr>
                        <a:t>3:35 – 3:50</a:t>
                      </a:r>
                    </a:p>
                  </a:txBody>
                  <a:tcPr>
                    <a:solidFill>
                      <a:srgbClr val="F0F4F8"/>
                    </a:solidFill>
                  </a:tcPr>
                </a:tc>
                <a:tc>
                  <a:txBody>
                    <a:bodyPr/>
                    <a:lstStyle/>
                    <a:p>
                      <a:r>
                        <a:rPr sz="1200" b="1">
                          <a:solidFill>
                            <a:srgbClr val="DE911D"/>
                          </a:solidFill>
                        </a:rPr>
                        <a:t>15 min</a:t>
                      </a:r>
                    </a:p>
                  </a:txBody>
                  <a:tcPr>
                    <a:solidFill>
                      <a:srgbClr val="F0F4F8"/>
                    </a:solidFill>
                  </a:tcPr>
                </a:tc>
                <a:tc>
                  <a:txBody>
                    <a:bodyPr/>
                    <a:lstStyle/>
                    <a:p>
                      <a:r>
                        <a:rPr sz="1200" b="1">
                          <a:solidFill>
                            <a:srgbClr val="DE911D"/>
                          </a:solidFill>
                        </a:rPr>
                        <a:t>Receso</a:t>
                      </a:r>
                    </a:p>
                  </a:txBody>
                  <a:tcPr>
                    <a:solidFill>
                      <a:srgbClr val="F0F4F8"/>
                    </a:solidFill>
                  </a:tcPr>
                </a:tc>
              </a:tr>
              <a:tr h="457200">
                <a:tc>
                  <a:txBody>
                    <a:bodyPr/>
                    <a:lstStyle/>
                    <a:p>
                      <a:r>
                        <a:rPr sz="1200" b="0">
                          <a:solidFill>
                            <a:srgbClr val="334E68"/>
                          </a:solidFill>
                        </a:rPr>
                        <a:t>3:50 – 4:20</a:t>
                      </a:r>
                    </a:p>
                  </a:txBody>
                  <a:tcPr>
                    <a:solidFill>
                      <a:srgbClr val="FFFFFF"/>
                    </a:solidFill>
                  </a:tcPr>
                </a:tc>
                <a:tc>
                  <a:txBody>
                    <a:bodyPr/>
                    <a:lstStyle/>
                    <a:p>
                      <a:r>
                        <a:rPr sz="1200" b="0">
                          <a:solidFill>
                            <a:srgbClr val="334E68"/>
                          </a:solidFill>
                        </a:rPr>
                        <a:t>30 min</a:t>
                      </a:r>
                    </a:p>
                  </a:txBody>
                  <a:tcPr>
                    <a:solidFill>
                      <a:srgbClr val="FFFFFF"/>
                    </a:solidFill>
                  </a:tcPr>
                </a:tc>
                <a:tc>
                  <a:txBody>
                    <a:bodyPr/>
                    <a:lstStyle/>
                    <a:p>
                      <a:r>
                        <a:rPr sz="1200" b="0">
                          <a:solidFill>
                            <a:srgbClr val="334E68"/>
                          </a:solidFill>
                        </a:rPr>
                        <a:t>Fortalecer el desempeño como persona asesora y árbitra</a:t>
                      </a:r>
                    </a:p>
                  </a:txBody>
                  <a:tcPr>
                    <a:solidFill>
                      <a:srgbClr val="FFFFFF"/>
                    </a:solidFill>
                  </a:tcPr>
                </a:tc>
              </a:tr>
              <a:tr h="457200">
                <a:tc>
                  <a:txBody>
                    <a:bodyPr/>
                    <a:lstStyle/>
                    <a:p>
                      <a:r>
                        <a:rPr sz="1200" b="0">
                          <a:solidFill>
                            <a:srgbClr val="334E68"/>
                          </a:solidFill>
                        </a:rPr>
                        <a:t>4:20 – 4:45</a:t>
                      </a:r>
                    </a:p>
                  </a:txBody>
                  <a:tcPr>
                    <a:solidFill>
                      <a:srgbClr val="F0F4F8"/>
                    </a:solidFill>
                  </a:tcPr>
                </a:tc>
                <a:tc>
                  <a:txBody>
                    <a:bodyPr/>
                    <a:lstStyle/>
                    <a:p>
                      <a:r>
                        <a:rPr sz="1200" b="0">
                          <a:solidFill>
                            <a:srgbClr val="334E68"/>
                          </a:solidFill>
                        </a:rPr>
                        <a:t>25 min</a:t>
                      </a:r>
                    </a:p>
                  </a:txBody>
                  <a:tcPr>
                    <a:solidFill>
                      <a:srgbClr val="F0F4F8"/>
                    </a:solidFill>
                  </a:tcPr>
                </a:tc>
                <a:tc>
                  <a:txBody>
                    <a:bodyPr/>
                    <a:lstStyle/>
                    <a:p>
                      <a:r>
                        <a:rPr sz="1200" b="0">
                          <a:solidFill>
                            <a:srgbClr val="334E68"/>
                          </a:solidFill>
                        </a:rPr>
                        <a:t>Quiz de la sesión</a:t>
                      </a:r>
                    </a:p>
                  </a:txBody>
                  <a:tcPr>
                    <a:solidFill>
                      <a:srgbClr val="F0F4F8"/>
                    </a:solidFill>
                  </a:tcPr>
                </a:tc>
              </a:tr>
              <a:tr h="457200">
                <a:tc>
                  <a:txBody>
                    <a:bodyPr/>
                    <a:lstStyle/>
                    <a:p>
                      <a:r>
                        <a:rPr sz="1200" b="0">
                          <a:solidFill>
                            <a:srgbClr val="334E68"/>
                          </a:solidFill>
                        </a:rPr>
                        <a:t>4:45 – 5:00</a:t>
                      </a:r>
                    </a:p>
                  </a:txBody>
                  <a:tcPr>
                    <a:solidFill>
                      <a:srgbClr val="FFFFFF"/>
                    </a:solidFill>
                  </a:tcPr>
                </a:tc>
                <a:tc>
                  <a:txBody>
                    <a:bodyPr/>
                    <a:lstStyle/>
                    <a:p>
                      <a:r>
                        <a:rPr sz="1200" b="0">
                          <a:solidFill>
                            <a:srgbClr val="334E68"/>
                          </a:solidFill>
                        </a:rPr>
                        <a:t>15 min</a:t>
                      </a:r>
                    </a:p>
                  </a:txBody>
                  <a:tcPr>
                    <a:solidFill>
                      <a:srgbClr val="FFFFFF"/>
                    </a:solidFill>
                  </a:tcPr>
                </a:tc>
                <a:tc>
                  <a:txBody>
                    <a:bodyPr/>
                    <a:lstStyle/>
                    <a:p>
                      <a:r>
                        <a:rPr sz="1200" b="0">
                          <a:solidFill>
                            <a:srgbClr val="334E68"/>
                          </a:solidFill>
                        </a:rPr>
                        <a:t>Cierre</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9144000" cy="457200"/>
          </a:xfrm>
          <a:prstGeom prst="rect">
            <a:avLst/>
          </a:prstGeom>
          <a:noFill/>
        </p:spPr>
        <p:txBody>
          <a:bodyPr wrap="square">
            <a:spAutoFit/>
          </a:bodyPr>
          <a:lstStyle/>
          <a:p>
            <a:r>
              <a:rPr sz="1400" b="1">
                <a:solidFill>
                  <a:srgbClr val="DE911D"/>
                </a:solidFill>
                <a:latin typeface="Calibri"/>
              </a:rPr>
              <a:t>CONTENIDO PARA VER EN CLASE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Método para resolver un caso</a:t>
            </a:r>
          </a:p>
        </p:txBody>
      </p:sp>
      <p:sp>
        <p:nvSpPr>
          <p:cNvPr id="6" name="Rectangle 5"/>
          <p:cNvSpPr/>
          <p:nvPr/>
        </p:nvSpPr>
        <p:spPr>
          <a:xfrm>
            <a:off x="548640" y="1874519"/>
            <a:ext cx="11064240" cy="438912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332720" cy="1371600"/>
          </a:xfrm>
          <a:prstGeom prst="rect">
            <a:avLst/>
          </a:prstGeom>
          <a:noFill/>
        </p:spPr>
        <p:txBody>
          <a:bodyPr wrap="square">
            <a:spAutoFit/>
          </a:bodyPr>
          <a:lstStyle/>
          <a:p>
            <a:r>
              <a:rPr sz="1500" b="0">
                <a:solidFill>
                  <a:srgbClr val="0A1F33"/>
                </a:solidFill>
                <a:latin typeface="Calibri"/>
              </a:rPr>
              <a:t>Un caso bien resuelto se puede explicar y defender. Estos cuatro pasos evitan decidir de memoria o por presión.</a:t>
            </a:r>
          </a:p>
        </p:txBody>
      </p:sp>
      <p:sp>
        <p:nvSpPr>
          <p:cNvPr id="8" name="TextBox 7"/>
          <p:cNvSpPr txBox="1"/>
          <p:nvPr/>
        </p:nvSpPr>
        <p:spPr>
          <a:xfrm>
            <a:off x="914400" y="3429000"/>
            <a:ext cx="10332720" cy="2743200"/>
          </a:xfrm>
          <a:prstGeom prst="rect">
            <a:avLst/>
          </a:prstGeom>
          <a:noFill/>
        </p:spPr>
        <p:txBody>
          <a:bodyPr wrap="square">
            <a:spAutoFit/>
          </a:bodyPr>
          <a:lstStyle/>
          <a:p>
            <a:pPr>
              <a:spcAft>
                <a:spcPts val="800"/>
              </a:spcAft>
            </a:pPr>
            <a:r>
              <a:rPr sz="1300">
                <a:solidFill>
                  <a:srgbClr val="334E68"/>
                </a:solidFill>
                <a:latin typeface="Calibri"/>
              </a:rPr>
              <a:t>•  1. Hechos: qué pasó, en qué orden, con qué pruebas (planillas, reloj, testigos, posición).</a:t>
            </a:r>
          </a:p>
          <a:p>
            <a:pPr>
              <a:spcAft>
                <a:spcPts val="800"/>
              </a:spcAft>
            </a:pPr>
            <a:r>
              <a:rPr sz="1300">
                <a:solidFill>
                  <a:srgbClr val="334E68"/>
                </a:solidFill>
                <a:latin typeface="Calibri"/>
              </a:rPr>
              <a:t>•  2. Artículo: qué regla se aplica (Leyes de la FIDE y normativa del evento). Si no hay una regla exacta, la más cercana, con imparcialidad.</a:t>
            </a:r>
          </a:p>
          <a:p>
            <a:pPr>
              <a:spcAft>
                <a:spcPts val="800"/>
              </a:spcAft>
            </a:pPr>
            <a:r>
              <a:rPr sz="1300">
                <a:solidFill>
                  <a:srgbClr val="334E68"/>
                </a:solidFill>
                <a:latin typeface="Calibri"/>
              </a:rPr>
              <a:t>•  3. Decisión: clara, proporcionada y comunicada a las dos partes, con el artículo.</a:t>
            </a:r>
          </a:p>
          <a:p>
            <a:pPr>
              <a:spcAft>
                <a:spcPts val="800"/>
              </a:spcAft>
            </a:pPr>
            <a:r>
              <a:rPr sz="1300">
                <a:solidFill>
                  <a:srgbClr val="334E68"/>
                </a:solidFill>
                <a:latin typeface="Calibri"/>
              </a:rPr>
              <a:t>•  4. Registro: se anota en la planilla o en el acta y en el informe del torneo.</a:t>
            </a:r>
          </a:p>
        </p:txBody>
      </p:sp>
      <p:sp>
        <p:nvSpPr>
          <p:cNvPr id="9" name="TextBox 8"/>
          <p:cNvSpPr txBox="1"/>
          <p:nvPr/>
        </p:nvSpPr>
        <p:spPr>
          <a:xfrm>
            <a:off x="548640" y="6355080"/>
            <a:ext cx="11064240" cy="365760"/>
          </a:xfrm>
          <a:prstGeom prst="rect">
            <a:avLst/>
          </a:prstGeom>
          <a:noFill/>
        </p:spPr>
        <p:txBody>
          <a:bodyPr wrap="square">
            <a:spAutoFit/>
          </a:bodyPr>
          <a:lstStyle/>
          <a:p>
            <a:r>
              <a:rPr sz="1100" b="0">
                <a:solidFill>
                  <a:srgbClr val="627D98"/>
                </a:solidFill>
                <a:latin typeface="Calibri"/>
              </a:rPr>
              <a:t>Fuente: Leyes del Ajedrez 2023 (Handbook E.I.01), art. 12.1 y 12.2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9144000" cy="457200"/>
          </a:xfrm>
          <a:prstGeom prst="rect">
            <a:avLst/>
          </a:prstGeom>
          <a:noFill/>
        </p:spPr>
        <p:txBody>
          <a:bodyPr wrap="square">
            <a:spAutoFit/>
          </a:bodyPr>
          <a:lstStyle/>
          <a:p>
            <a:r>
              <a:rPr sz="1400" b="1">
                <a:solidFill>
                  <a:srgbClr val="DE911D"/>
                </a:solidFill>
                <a:latin typeface="Calibri"/>
              </a:rPr>
              <a:t>CONTENIDO PARA VER EN CLASE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Logística antes del torneo</a:t>
            </a:r>
          </a:p>
        </p:txBody>
      </p:sp>
      <p:sp>
        <p:nvSpPr>
          <p:cNvPr id="6" name="Rectangle 5"/>
          <p:cNvSpPr/>
          <p:nvPr/>
        </p:nvSpPr>
        <p:spPr>
          <a:xfrm>
            <a:off x="548640" y="1874519"/>
            <a:ext cx="11064240" cy="438912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332720" cy="1371600"/>
          </a:xfrm>
          <a:prstGeom prst="rect">
            <a:avLst/>
          </a:prstGeom>
          <a:noFill/>
        </p:spPr>
        <p:txBody>
          <a:bodyPr wrap="square">
            <a:spAutoFit/>
          </a:bodyPr>
          <a:lstStyle/>
          <a:p>
            <a:r>
              <a:rPr sz="1500" b="0">
                <a:solidFill>
                  <a:srgbClr val="0A1F33"/>
                </a:solidFill>
                <a:latin typeface="Calibri"/>
              </a:rPr>
              <a:t>La mayoría de los problemas de un torneo escolar se evitan antes de la primera ronda.</a:t>
            </a:r>
          </a:p>
        </p:txBody>
      </p:sp>
      <p:sp>
        <p:nvSpPr>
          <p:cNvPr id="8" name="TextBox 7"/>
          <p:cNvSpPr txBox="1"/>
          <p:nvPr/>
        </p:nvSpPr>
        <p:spPr>
          <a:xfrm>
            <a:off x="914400" y="3429000"/>
            <a:ext cx="10332720" cy="2743200"/>
          </a:xfrm>
          <a:prstGeom prst="rect">
            <a:avLst/>
          </a:prstGeom>
          <a:noFill/>
        </p:spPr>
        <p:txBody>
          <a:bodyPr wrap="square">
            <a:spAutoFit/>
          </a:bodyPr>
          <a:lstStyle/>
          <a:p>
            <a:pPr>
              <a:spcAft>
                <a:spcPts val="800"/>
              </a:spcAft>
            </a:pPr>
            <a:r>
              <a:rPr sz="1100">
                <a:solidFill>
                  <a:srgbClr val="334E68"/>
                </a:solidFill>
                <a:latin typeface="Calibri"/>
              </a:rPr>
              <a:t>•  Inscripción con los datos que pide la normativa y verificación de la categoría de cada estudiante.</a:t>
            </a:r>
          </a:p>
          <a:p>
            <a:pPr>
              <a:spcAft>
                <a:spcPts val="800"/>
              </a:spcAft>
            </a:pPr>
            <a:r>
              <a:rPr sz="1100">
                <a:solidFill>
                  <a:srgbClr val="334E68"/>
                </a:solidFill>
                <a:latin typeface="Calibri"/>
              </a:rPr>
              <a:t>•  Lista inicial ordenada y publicada; número de rondas y desempates anunciados en las bases.</a:t>
            </a:r>
          </a:p>
          <a:p>
            <a:pPr>
              <a:spcAft>
                <a:spcPts val="800"/>
              </a:spcAft>
            </a:pPr>
            <a:r>
              <a:rPr sz="1100">
                <a:solidFill>
                  <a:srgbClr val="334E68"/>
                </a:solidFill>
                <a:latin typeface="Calibri"/>
              </a:rPr>
              <a:t>•  Sala con buena luz y ventilación, mesas numeradas, espacio entre mesas y zona separada para público.</a:t>
            </a:r>
          </a:p>
          <a:p>
            <a:pPr>
              <a:spcAft>
                <a:spcPts val="800"/>
              </a:spcAft>
            </a:pPr>
            <a:r>
              <a:rPr sz="1100">
                <a:solidFill>
                  <a:srgbClr val="334E68"/>
                </a:solidFill>
                <a:latin typeface="Calibri"/>
              </a:rPr>
              <a:t>•  Materiales: tableros, juegos de piezas y relojes revisados y configurados, repuestos, planillas, actas, formularios y cinta para numerar.</a:t>
            </a:r>
          </a:p>
          <a:p>
            <a:pPr>
              <a:spcAft>
                <a:spcPts val="800"/>
              </a:spcAft>
            </a:pPr>
            <a:r>
              <a:rPr sz="1100">
                <a:solidFill>
                  <a:srgbClr val="334E68"/>
                </a:solidFill>
                <a:latin typeface="Calibri"/>
              </a:rPr>
              <a:t>•  Personal: árbitro principal, adjuntos, mesa de control y apoyo para la inscripción.</a:t>
            </a:r>
          </a:p>
          <a:p>
            <a:pPr>
              <a:spcAft>
                <a:spcPts val="800"/>
              </a:spcAft>
            </a:pPr>
            <a:r>
              <a:rPr sz="1100">
                <a:solidFill>
                  <a:srgbClr val="334E68"/>
                </a:solidFill>
                <a:latin typeface="Calibri"/>
              </a:rPr>
              <a:t>•  Charla técnica antes de la ronda 1: ritmo, dispositivos, tolerancia, reclamos y conducta del público.</a:t>
            </a:r>
          </a:p>
        </p:txBody>
      </p:sp>
      <p:sp>
        <p:nvSpPr>
          <p:cNvPr id="9" name="TextBox 8"/>
          <p:cNvSpPr txBox="1"/>
          <p:nvPr/>
        </p:nvSpPr>
        <p:spPr>
          <a:xfrm>
            <a:off x="548640" y="6355080"/>
            <a:ext cx="11064240" cy="365760"/>
          </a:xfrm>
          <a:prstGeom prst="rect">
            <a:avLst/>
          </a:prstGeom>
          <a:noFill/>
        </p:spPr>
        <p:txBody>
          <a:bodyPr wrap="square">
            <a:spAutoFit/>
          </a:bodyPr>
          <a:lstStyle/>
          <a:p>
            <a:r>
              <a:rPr sz="1100" b="0">
                <a:solidFill>
                  <a:srgbClr val="627D98"/>
                </a:solidFill>
                <a:latin typeface="Calibri"/>
              </a:rPr>
              <a:t>Fuente: Buenas prácticas de organización; normativa vigente de los JDE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9144000" cy="457200"/>
          </a:xfrm>
          <a:prstGeom prst="rect">
            <a:avLst/>
          </a:prstGeom>
          <a:noFill/>
        </p:spPr>
        <p:txBody>
          <a:bodyPr wrap="square">
            <a:spAutoFit/>
          </a:bodyPr>
          <a:lstStyle/>
          <a:p>
            <a:r>
              <a:rPr sz="1400" b="1">
                <a:solidFill>
                  <a:srgbClr val="DE911D"/>
                </a:solidFill>
                <a:latin typeface="Calibri"/>
              </a:rPr>
              <a:t>CONTENIDO PARA VER EN CLASE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Durante y después de las rondas</a:t>
            </a:r>
          </a:p>
        </p:txBody>
      </p:sp>
      <p:sp>
        <p:nvSpPr>
          <p:cNvPr id="6" name="Rectangle 5"/>
          <p:cNvSpPr/>
          <p:nvPr/>
        </p:nvSpPr>
        <p:spPr>
          <a:xfrm>
            <a:off x="548640" y="1874519"/>
            <a:ext cx="11064240" cy="438912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332720" cy="1371600"/>
          </a:xfrm>
          <a:prstGeom prst="rect">
            <a:avLst/>
          </a:prstGeom>
          <a:noFill/>
        </p:spPr>
        <p:txBody>
          <a:bodyPr wrap="square">
            <a:spAutoFit/>
          </a:bodyPr>
          <a:lstStyle/>
          <a:p>
            <a:r>
              <a:rPr sz="1500" b="0">
                <a:solidFill>
                  <a:srgbClr val="0A1F33"/>
                </a:solidFill>
                <a:latin typeface="Calibri"/>
              </a:rPr>
              <a:t>Durante el torneo, el orden de las tareas se repite ronda a ronda.</a:t>
            </a:r>
          </a:p>
        </p:txBody>
      </p:sp>
      <p:sp>
        <p:nvSpPr>
          <p:cNvPr id="8" name="TextBox 7"/>
          <p:cNvSpPr txBox="1"/>
          <p:nvPr/>
        </p:nvSpPr>
        <p:spPr>
          <a:xfrm>
            <a:off x="914400" y="3429000"/>
            <a:ext cx="10332720" cy="2743200"/>
          </a:xfrm>
          <a:prstGeom prst="rect">
            <a:avLst/>
          </a:prstGeom>
          <a:noFill/>
        </p:spPr>
        <p:txBody>
          <a:bodyPr wrap="square">
            <a:spAutoFit/>
          </a:bodyPr>
          <a:lstStyle/>
          <a:p>
            <a:pPr>
              <a:spcAft>
                <a:spcPts val="800"/>
              </a:spcAft>
            </a:pPr>
            <a:r>
              <a:rPr sz="1500">
                <a:solidFill>
                  <a:srgbClr val="334E68"/>
                </a:solidFill>
                <a:latin typeface="Calibri"/>
              </a:rPr>
              <a:t>•  Publicar el emparejamiento con tiempo y en un lugar visible.</a:t>
            </a:r>
          </a:p>
          <a:p>
            <a:pPr>
              <a:spcAft>
                <a:spcPts val="800"/>
              </a:spcAft>
            </a:pPr>
            <a:r>
              <a:rPr sz="1500">
                <a:solidFill>
                  <a:srgbClr val="334E68"/>
                </a:solidFill>
                <a:latin typeface="Calibri"/>
              </a:rPr>
              <a:t>•  Iniciar puntual, recorrer la sala y observar en especial las partidas en apuro de tiempo.</a:t>
            </a:r>
          </a:p>
          <a:p>
            <a:pPr>
              <a:spcAft>
                <a:spcPts val="800"/>
              </a:spcAft>
            </a:pPr>
            <a:r>
              <a:rPr sz="1500">
                <a:solidFill>
                  <a:srgbClr val="334E68"/>
                </a:solidFill>
                <a:latin typeface="Calibri"/>
              </a:rPr>
              <a:t>•  Recoger resultados firmados, revisarlos e ingresarlos antes de emparejar la ronda siguiente.</a:t>
            </a:r>
          </a:p>
          <a:p>
            <a:pPr>
              <a:spcAft>
                <a:spcPts val="800"/>
              </a:spcAft>
            </a:pPr>
            <a:r>
              <a:rPr sz="1500">
                <a:solidFill>
                  <a:srgbClr val="334E68"/>
                </a:solidFill>
                <a:latin typeface="Calibri"/>
              </a:rPr>
              <a:t>•  Al final: tabla con desempates, acta del torneo, informe de incidencias y premiación.</a:t>
            </a:r>
          </a:p>
        </p:txBody>
      </p:sp>
      <p:sp>
        <p:nvSpPr>
          <p:cNvPr id="9" name="TextBox 8"/>
          <p:cNvSpPr txBox="1"/>
          <p:nvPr/>
        </p:nvSpPr>
        <p:spPr>
          <a:xfrm>
            <a:off x="548640" y="6355080"/>
            <a:ext cx="11064240" cy="365760"/>
          </a:xfrm>
          <a:prstGeom prst="rect">
            <a:avLst/>
          </a:prstGeom>
          <a:noFill/>
        </p:spPr>
        <p:txBody>
          <a:bodyPr wrap="square">
            <a:spAutoFit/>
          </a:bodyPr>
          <a:lstStyle/>
          <a:p>
            <a:r>
              <a:rPr sz="1100" b="0">
                <a:solidFill>
                  <a:srgbClr val="627D98"/>
                </a:solidFill>
                <a:latin typeface="Calibri"/>
              </a:rPr>
              <a:t>Fuente: Leyes del Ajedrez 2023 (Handbook E.I.01), art. 8.7 y 12.3; Reglas generales de manejo del sistema suizo (Handbook C.04.2)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9144000" cy="457200"/>
          </a:xfrm>
          <a:prstGeom prst="rect">
            <a:avLst/>
          </a:prstGeom>
          <a:noFill/>
        </p:spPr>
        <p:txBody>
          <a:bodyPr wrap="square">
            <a:spAutoFit/>
          </a:bodyPr>
          <a:lstStyle/>
          <a:p>
            <a:r>
              <a:rPr sz="1400" b="1">
                <a:solidFill>
                  <a:srgbClr val="DE911D"/>
                </a:solidFill>
                <a:latin typeface="Calibri"/>
              </a:rPr>
              <a:t>CONTENIDO PARA VER EN CLASE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Comunicar decisiones</a:t>
            </a:r>
          </a:p>
        </p:txBody>
      </p:sp>
      <p:sp>
        <p:nvSpPr>
          <p:cNvPr id="6" name="Rectangle 5"/>
          <p:cNvSpPr/>
          <p:nvPr/>
        </p:nvSpPr>
        <p:spPr>
          <a:xfrm>
            <a:off x="548640" y="1874519"/>
            <a:ext cx="11064240" cy="438912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332720" cy="1371600"/>
          </a:xfrm>
          <a:prstGeom prst="rect">
            <a:avLst/>
          </a:prstGeom>
          <a:noFill/>
        </p:spPr>
        <p:txBody>
          <a:bodyPr wrap="square">
            <a:spAutoFit/>
          </a:bodyPr>
          <a:lstStyle/>
          <a:p>
            <a:r>
              <a:rPr sz="1500" b="0">
                <a:solidFill>
                  <a:srgbClr val="0A1F33"/>
                </a:solidFill>
                <a:latin typeface="Calibri"/>
              </a:rPr>
              <a:t>En un torneo estudiantil, la decisión arbitral la escuchan estudiantes, familias y docentes. Una decisión correcta mal comunicada genera tanto conflicto como una incorrecta.</a:t>
            </a:r>
          </a:p>
        </p:txBody>
      </p:sp>
      <p:sp>
        <p:nvSpPr>
          <p:cNvPr id="8" name="TextBox 7"/>
          <p:cNvSpPr txBox="1"/>
          <p:nvPr/>
        </p:nvSpPr>
        <p:spPr>
          <a:xfrm>
            <a:off x="914400" y="3429000"/>
            <a:ext cx="10332720" cy="2743200"/>
          </a:xfrm>
          <a:prstGeom prst="rect">
            <a:avLst/>
          </a:prstGeom>
          <a:noFill/>
        </p:spPr>
        <p:txBody>
          <a:bodyPr wrap="square">
            <a:spAutoFit/>
          </a:bodyPr>
          <a:lstStyle/>
          <a:p>
            <a:pPr>
              <a:spcAft>
                <a:spcPts val="800"/>
              </a:spcAft>
            </a:pPr>
            <a:r>
              <a:rPr sz="1500">
                <a:solidFill>
                  <a:srgbClr val="334E68"/>
                </a:solidFill>
                <a:latin typeface="Calibri"/>
              </a:rPr>
              <a:t>•  Habla primero con los dos jugadores, en voz baja y lejos de otras mesas.</a:t>
            </a:r>
          </a:p>
          <a:p>
            <a:pPr>
              <a:spcAft>
                <a:spcPts val="800"/>
              </a:spcAft>
            </a:pPr>
            <a:r>
              <a:rPr sz="1500">
                <a:solidFill>
                  <a:srgbClr val="334E68"/>
                </a:solidFill>
                <a:latin typeface="Calibri"/>
              </a:rPr>
              <a:t>•  Explica la regla y el artículo, sin discutir la posición.</a:t>
            </a:r>
          </a:p>
          <a:p>
            <a:pPr>
              <a:spcAft>
                <a:spcPts val="800"/>
              </a:spcAft>
            </a:pPr>
            <a:r>
              <a:rPr sz="1500">
                <a:solidFill>
                  <a:srgbClr val="334E68"/>
                </a:solidFill>
                <a:latin typeface="Calibri"/>
              </a:rPr>
              <a:t>•  Las familias y el público no intervienen en las partidas; sus inquietudes se atienden fuera de la sala.</a:t>
            </a:r>
          </a:p>
          <a:p>
            <a:pPr>
              <a:spcAft>
                <a:spcPts val="800"/>
              </a:spcAft>
            </a:pPr>
            <a:r>
              <a:rPr sz="1500">
                <a:solidFill>
                  <a:srgbClr val="334E68"/>
                </a:solidFill>
                <a:latin typeface="Calibri"/>
              </a:rPr>
              <a:t>•  Si hay una apelación, informa ante quién y en qué plazo según el reglamento.</a:t>
            </a:r>
          </a:p>
        </p:txBody>
      </p:sp>
      <p:sp>
        <p:nvSpPr>
          <p:cNvPr id="9" name="TextBox 8"/>
          <p:cNvSpPr txBox="1"/>
          <p:nvPr/>
        </p:nvSpPr>
        <p:spPr>
          <a:xfrm>
            <a:off x="548640" y="6355080"/>
            <a:ext cx="11064240" cy="365760"/>
          </a:xfrm>
          <a:prstGeom prst="rect">
            <a:avLst/>
          </a:prstGeom>
          <a:noFill/>
        </p:spPr>
        <p:txBody>
          <a:bodyPr wrap="square">
            <a:spAutoFit/>
          </a:bodyPr>
          <a:lstStyle/>
          <a:p>
            <a:r>
              <a:rPr sz="1100" b="0">
                <a:solidFill>
                  <a:srgbClr val="627D98"/>
                </a:solidFill>
                <a:latin typeface="Calibri"/>
              </a:rPr>
              <a:t>Fuente: Leyes del Ajedrez 2023 (Handbook E.I.01), art. 11.9, 11.10 y 12.7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9144000" cy="457200"/>
          </a:xfrm>
          <a:prstGeom prst="rect">
            <a:avLst/>
          </a:prstGeom>
          <a:noFill/>
        </p:spPr>
        <p:txBody>
          <a:bodyPr wrap="square">
            <a:spAutoFit/>
          </a:bodyPr>
          <a:lstStyle/>
          <a:p>
            <a:r>
              <a:rPr sz="1400" b="1">
                <a:solidFill>
                  <a:srgbClr val="DE911D"/>
                </a:solidFill>
                <a:latin typeface="Calibri"/>
              </a:rPr>
              <a:t>CASO 1 · ¿QUÉ DECIDE LA PERSONA ÁRBITRA?</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Caso integrador 1: la ronda que empezó tarde</a:t>
            </a:r>
          </a:p>
        </p:txBody>
      </p:sp>
      <p:sp>
        <p:nvSpPr>
          <p:cNvPr id="6" name="Rectangle 5"/>
          <p:cNvSpPr/>
          <p:nvPr/>
        </p:nvSpPr>
        <p:spPr>
          <a:xfrm>
            <a:off x="548640" y="1965960"/>
            <a:ext cx="11064240" cy="42062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40280"/>
            <a:ext cx="10332720" cy="3749039"/>
          </a:xfrm>
          <a:prstGeom prst="rect">
            <a:avLst/>
          </a:prstGeom>
          <a:noFill/>
        </p:spPr>
        <p:txBody>
          <a:bodyPr wrap="square">
            <a:spAutoFit/>
          </a:bodyPr>
          <a:lstStyle/>
          <a:p>
            <a:r>
              <a:rPr sz="1600" b="0">
                <a:solidFill>
                  <a:srgbClr val="334E68"/>
                </a:solidFill>
                <a:latin typeface="Calibri"/>
              </a:rPr>
              <a:t>Un suizo escolar a 15 minutos más 5 segundos, 5 rondas. La ronda 3 se publicó con 20 minutos de retraso. Un jugador de blancas llega 5 minutos después de la hora de inicio publicada; el reglamento fija 10 minutos de tolerancia. En su partida, el rival completa una jugada ilegal y, más tarde, suena el celular del jugador que llegó tarde. El reglamento sanciona el celular con la pérdida de la partida.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11064240" cy="457200"/>
          </a:xfrm>
          <a:prstGeom prst="rect">
            <a:avLst/>
          </a:prstGeom>
          <a:noFill/>
        </p:spPr>
        <p:txBody>
          <a:bodyPr wrap="square">
            <a:spAutoFit/>
          </a:bodyPr>
          <a:lstStyle/>
          <a:p>
            <a:r>
              <a:rPr sz="1400" b="1">
                <a:solidFill>
                  <a:srgbClr val="F0B429"/>
                </a:solidFill>
                <a:latin typeface="Calibri"/>
              </a:rPr>
              <a:t>CASO 1 · DECISIÓN</a:t>
            </a:r>
          </a:p>
        </p:txBody>
      </p:sp>
      <p:sp>
        <p:nvSpPr>
          <p:cNvPr id="4" name="TextBox 3"/>
          <p:cNvSpPr txBox="1"/>
          <p:nvPr/>
        </p:nvSpPr>
        <p:spPr>
          <a:xfrm>
            <a:off x="548640" y="1051560"/>
            <a:ext cx="11064240" cy="822960"/>
          </a:xfrm>
          <a:prstGeom prst="rect">
            <a:avLst/>
          </a:prstGeom>
          <a:noFill/>
        </p:spPr>
        <p:txBody>
          <a:bodyPr wrap="square">
            <a:spAutoFit/>
          </a:bodyPr>
          <a:lstStyle/>
          <a:p>
            <a:r>
              <a:rPr sz="2600" b="1">
                <a:solidFill>
                  <a:srgbClr val="FFFFFF"/>
                </a:solidFill>
                <a:latin typeface="Cambria"/>
              </a:rPr>
              <a:t>Caso integrador 1: la ronda que empezó tarde</a:t>
            </a:r>
          </a:p>
        </p:txBody>
      </p:sp>
      <p:sp>
        <p:nvSpPr>
          <p:cNvPr id="5" name="TextBox 4"/>
          <p:cNvSpPr txBox="1"/>
          <p:nvPr/>
        </p:nvSpPr>
        <p:spPr>
          <a:xfrm>
            <a:off x="548640" y="2103120"/>
            <a:ext cx="11064240" cy="3931920"/>
          </a:xfrm>
          <a:prstGeom prst="rect">
            <a:avLst/>
          </a:prstGeom>
          <a:noFill/>
        </p:spPr>
        <p:txBody>
          <a:bodyPr wrap="square">
            <a:spAutoFit/>
          </a:bodyPr>
          <a:lstStyle/>
          <a:p>
            <a:r>
              <a:rPr sz="2000" b="0">
                <a:solidFill>
                  <a:srgbClr val="CADCFC"/>
                </a:solidFill>
                <a:latin typeface="Calibri"/>
              </a:rPr>
              <a:t>El jugador juega: llegó dentro de la tolerancia, con 5 minutos menos en su reloj. La jugada ilegal del rival (primera, en rápidas) se corrige: se repone la posición y el que llegó tarde recibe un minuto. El celular: pierde la partida según el reglamento. Se registra todo en el acta y se revisa por qué la ronda se publicó tarde.</a:t>
            </a:r>
          </a:p>
        </p:txBody>
      </p:sp>
      <p:sp>
        <p:nvSpPr>
          <p:cNvPr id="6" name="TextBox 5"/>
          <p:cNvSpPr txBox="1"/>
          <p:nvPr/>
        </p:nvSpPr>
        <p:spPr>
          <a:xfrm>
            <a:off x="548640" y="6263640"/>
            <a:ext cx="11064240" cy="365760"/>
          </a:xfrm>
          <a:prstGeom prst="rect">
            <a:avLst/>
          </a:prstGeom>
          <a:noFill/>
        </p:spPr>
        <p:txBody>
          <a:bodyPr wrap="square">
            <a:spAutoFit/>
          </a:bodyPr>
          <a:lstStyle/>
          <a:p>
            <a:r>
              <a:rPr sz="1100" b="0">
                <a:solidFill>
                  <a:srgbClr val="9FB3C8"/>
                </a:solidFill>
                <a:latin typeface="Calibri"/>
              </a:rPr>
              <a:t>Fuente: Leyes del Ajedrez 2023 (Handbook E.I.01), art. 6.7, 7.5, 11.3.2 y apéndice A.3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9144000" cy="457200"/>
          </a:xfrm>
          <a:prstGeom prst="rect">
            <a:avLst/>
          </a:prstGeom>
          <a:noFill/>
        </p:spPr>
        <p:txBody>
          <a:bodyPr wrap="square">
            <a:spAutoFit/>
          </a:bodyPr>
          <a:lstStyle/>
          <a:p>
            <a:r>
              <a:rPr sz="1400" b="1">
                <a:solidFill>
                  <a:srgbClr val="DE911D"/>
                </a:solidFill>
                <a:latin typeface="Calibri"/>
              </a:rPr>
              <a:t>CASO 2 · ¿QUÉ DECIDE LA PERSONA ÁRBITRA?</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Caso integrador 2: empate en el primer lugar</a:t>
            </a:r>
          </a:p>
        </p:txBody>
      </p:sp>
      <p:sp>
        <p:nvSpPr>
          <p:cNvPr id="6" name="Rectangle 5"/>
          <p:cNvSpPr/>
          <p:nvPr/>
        </p:nvSpPr>
        <p:spPr>
          <a:xfrm>
            <a:off x="548640" y="1965960"/>
            <a:ext cx="11064240" cy="42062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40280"/>
            <a:ext cx="10332720" cy="3749039"/>
          </a:xfrm>
          <a:prstGeom prst="rect">
            <a:avLst/>
          </a:prstGeom>
          <a:noFill/>
        </p:spPr>
        <p:txBody>
          <a:bodyPr wrap="square">
            <a:spAutoFit/>
          </a:bodyPr>
          <a:lstStyle/>
          <a:p>
            <a:r>
              <a:rPr sz="2000" b="0">
                <a:solidFill>
                  <a:srgbClr val="334E68"/>
                </a:solidFill>
                <a:latin typeface="Calibri"/>
              </a:rPr>
              <a:t>En un todos contra todos de 6 jugadores, dos estudiantes empatan en el primer lugar. Las bases anuncian: 1) encuentro directo, 2) Sonneborn-Berger, 3) número de victorias. Empataron su partida entre sí.</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11064240" cy="457200"/>
          </a:xfrm>
          <a:prstGeom prst="rect">
            <a:avLst/>
          </a:prstGeom>
          <a:noFill/>
        </p:spPr>
        <p:txBody>
          <a:bodyPr wrap="square">
            <a:spAutoFit/>
          </a:bodyPr>
          <a:lstStyle/>
          <a:p>
            <a:r>
              <a:rPr sz="1400" b="1">
                <a:solidFill>
                  <a:srgbClr val="F0B429"/>
                </a:solidFill>
                <a:latin typeface="Calibri"/>
              </a:rPr>
              <a:t>CASO 2 · DECISIÓN</a:t>
            </a:r>
          </a:p>
        </p:txBody>
      </p:sp>
      <p:sp>
        <p:nvSpPr>
          <p:cNvPr id="4" name="TextBox 3"/>
          <p:cNvSpPr txBox="1"/>
          <p:nvPr/>
        </p:nvSpPr>
        <p:spPr>
          <a:xfrm>
            <a:off x="548640" y="1051560"/>
            <a:ext cx="11064240" cy="822960"/>
          </a:xfrm>
          <a:prstGeom prst="rect">
            <a:avLst/>
          </a:prstGeom>
          <a:noFill/>
        </p:spPr>
        <p:txBody>
          <a:bodyPr wrap="square">
            <a:spAutoFit/>
          </a:bodyPr>
          <a:lstStyle/>
          <a:p>
            <a:r>
              <a:rPr sz="2600" b="1">
                <a:solidFill>
                  <a:srgbClr val="FFFFFF"/>
                </a:solidFill>
                <a:latin typeface="Cambria"/>
              </a:rPr>
              <a:t>Caso integrador 2: empate en el primer lugar</a:t>
            </a:r>
          </a:p>
        </p:txBody>
      </p:sp>
      <p:sp>
        <p:nvSpPr>
          <p:cNvPr id="5" name="TextBox 4"/>
          <p:cNvSpPr txBox="1"/>
          <p:nvPr/>
        </p:nvSpPr>
        <p:spPr>
          <a:xfrm>
            <a:off x="548640" y="2103120"/>
            <a:ext cx="11064240" cy="3931920"/>
          </a:xfrm>
          <a:prstGeom prst="rect">
            <a:avLst/>
          </a:prstGeom>
          <a:noFill/>
        </p:spPr>
        <p:txBody>
          <a:bodyPr wrap="square">
            <a:spAutoFit/>
          </a:bodyPr>
          <a:lstStyle/>
          <a:p>
            <a:r>
              <a:rPr sz="2000" b="0">
                <a:solidFill>
                  <a:srgbClr val="CADCFC"/>
                </a:solidFill>
                <a:latin typeface="Calibri"/>
              </a:rPr>
              <a:t>El encuentro directo no los separa. Se calcula el Sonneborn-Berger de cada uno (ver el ejemplo de la sesión 3) y, si siguen empatados, el número de victorias. Si todo se agota, sorteo, salvo que las bases digan otra cosa.</a:t>
            </a:r>
          </a:p>
        </p:txBody>
      </p:sp>
      <p:sp>
        <p:nvSpPr>
          <p:cNvPr id="6" name="TextBox 5"/>
          <p:cNvSpPr txBox="1"/>
          <p:nvPr/>
        </p:nvSpPr>
        <p:spPr>
          <a:xfrm>
            <a:off x="548640" y="6263640"/>
            <a:ext cx="11064240" cy="365760"/>
          </a:xfrm>
          <a:prstGeom prst="rect">
            <a:avLst/>
          </a:prstGeom>
          <a:noFill/>
        </p:spPr>
        <p:txBody>
          <a:bodyPr wrap="square">
            <a:spAutoFit/>
          </a:bodyPr>
          <a:lstStyle/>
          <a:p>
            <a:r>
              <a:rPr sz="1100" b="0">
                <a:solidFill>
                  <a:srgbClr val="9FB3C8"/>
                </a:solidFill>
                <a:latin typeface="Calibri"/>
              </a:rPr>
              <a:t>Fuente: Reglamento de desempates de la FIDE (Handbook C.07)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9144000" cy="457200"/>
          </a:xfrm>
          <a:prstGeom prst="rect">
            <a:avLst/>
          </a:prstGeom>
          <a:noFill/>
        </p:spPr>
        <p:txBody>
          <a:bodyPr wrap="square">
            <a:spAutoFit/>
          </a:bodyPr>
          <a:lstStyle/>
          <a:p>
            <a:r>
              <a:rPr sz="1400" b="1">
                <a:solidFill>
                  <a:srgbClr val="DE911D"/>
                </a:solidFill>
                <a:latin typeface="Calibri"/>
              </a:rPr>
              <a:t>CASO 3 · ¿QUÉ DECIDE LA PERSONA ÁRBITRA?</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Caso integrador 3: la logística que falló</a:t>
            </a:r>
          </a:p>
        </p:txBody>
      </p:sp>
      <p:sp>
        <p:nvSpPr>
          <p:cNvPr id="6" name="Rectangle 5"/>
          <p:cNvSpPr/>
          <p:nvPr/>
        </p:nvSpPr>
        <p:spPr>
          <a:xfrm>
            <a:off x="548640" y="1965960"/>
            <a:ext cx="11064240" cy="420624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40280"/>
            <a:ext cx="10332720" cy="3749039"/>
          </a:xfrm>
          <a:prstGeom prst="rect">
            <a:avLst/>
          </a:prstGeom>
          <a:noFill/>
        </p:spPr>
        <p:txBody>
          <a:bodyPr wrap="square">
            <a:spAutoFit/>
          </a:bodyPr>
          <a:lstStyle/>
          <a:p>
            <a:r>
              <a:rPr sz="2000" b="0">
                <a:solidFill>
                  <a:srgbClr val="334E68"/>
                </a:solidFill>
                <a:latin typeface="Calibri"/>
              </a:rPr>
              <a:t>Al empezar la ronda 1 faltan 4 relojes y 3 tableros tienen piezas incompletas. Hay 30 estudiantes inscritos.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11064240" cy="457200"/>
          </a:xfrm>
          <a:prstGeom prst="rect">
            <a:avLst/>
          </a:prstGeom>
          <a:noFill/>
        </p:spPr>
        <p:txBody>
          <a:bodyPr wrap="square">
            <a:spAutoFit/>
          </a:bodyPr>
          <a:lstStyle/>
          <a:p>
            <a:r>
              <a:rPr sz="1400" b="1">
                <a:solidFill>
                  <a:srgbClr val="F0B429"/>
                </a:solidFill>
                <a:latin typeface="Calibri"/>
              </a:rPr>
              <a:t>CASO 3 · DECISIÓN</a:t>
            </a:r>
          </a:p>
        </p:txBody>
      </p:sp>
      <p:sp>
        <p:nvSpPr>
          <p:cNvPr id="4" name="TextBox 3"/>
          <p:cNvSpPr txBox="1"/>
          <p:nvPr/>
        </p:nvSpPr>
        <p:spPr>
          <a:xfrm>
            <a:off x="548640" y="1051560"/>
            <a:ext cx="11064240" cy="822960"/>
          </a:xfrm>
          <a:prstGeom prst="rect">
            <a:avLst/>
          </a:prstGeom>
          <a:noFill/>
        </p:spPr>
        <p:txBody>
          <a:bodyPr wrap="square">
            <a:spAutoFit/>
          </a:bodyPr>
          <a:lstStyle/>
          <a:p>
            <a:r>
              <a:rPr sz="2600" b="1">
                <a:solidFill>
                  <a:srgbClr val="FFFFFF"/>
                </a:solidFill>
                <a:latin typeface="Cambria"/>
              </a:rPr>
              <a:t>Caso integrador 3: la logística que falló</a:t>
            </a:r>
          </a:p>
        </p:txBody>
      </p:sp>
      <p:sp>
        <p:nvSpPr>
          <p:cNvPr id="5" name="TextBox 4"/>
          <p:cNvSpPr txBox="1"/>
          <p:nvPr/>
        </p:nvSpPr>
        <p:spPr>
          <a:xfrm>
            <a:off x="548640" y="2103120"/>
            <a:ext cx="11064240" cy="3931920"/>
          </a:xfrm>
          <a:prstGeom prst="rect">
            <a:avLst/>
          </a:prstGeom>
          <a:noFill/>
        </p:spPr>
        <p:txBody>
          <a:bodyPr wrap="square">
            <a:spAutoFit/>
          </a:bodyPr>
          <a:lstStyle/>
          <a:p>
            <a:r>
              <a:rPr sz="1600" b="0">
                <a:solidFill>
                  <a:srgbClr val="CADCFC"/>
                </a:solidFill>
                <a:latin typeface="Calibri"/>
              </a:rPr>
              <a:t>Se reorganiza sin perder la puntualidad: se usan los repuestos, se completa con piezas de otros juegos revisando cada tablero, y las mesas sin reloj juegan con un control anunciado por el árbitro o se ubican cerca de la mesa de control con un adjunto. Se registra la incidencia y, para el día presencial, la lista de materiales incluye repuestos.</a:t>
            </a:r>
          </a:p>
        </p:txBody>
      </p:sp>
      <p:sp>
        <p:nvSpPr>
          <p:cNvPr id="6" name="TextBox 5"/>
          <p:cNvSpPr txBox="1"/>
          <p:nvPr/>
        </p:nvSpPr>
        <p:spPr>
          <a:xfrm>
            <a:off x="548640" y="6263640"/>
            <a:ext cx="11064240" cy="365760"/>
          </a:xfrm>
          <a:prstGeom prst="rect">
            <a:avLst/>
          </a:prstGeom>
          <a:noFill/>
        </p:spPr>
        <p:txBody>
          <a:bodyPr wrap="square">
            <a:spAutoFit/>
          </a:bodyPr>
          <a:lstStyle/>
          <a:p>
            <a:r>
              <a:rPr sz="1100" b="0">
                <a:solidFill>
                  <a:srgbClr val="9FB3C8"/>
                </a:solidFill>
                <a:latin typeface="Calibri"/>
              </a:rPr>
              <a:t>Fuente: Buenas prácticas de organización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PRÁCTICA — RESOLUCIÓN GRUPAL DE CASOS INTEGRADORES</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000" b="0">
                <a:solidFill>
                  <a:srgbClr val="FFFFFF"/>
                </a:solidFill>
                <a:latin typeface="Cambria"/>
              </a:rPr>
              <a:t>En grupos, se analiza un caso integrador que combina reglas de competición, desempates y logística, y se presenta la solución fundamentada.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Formación Ajedrez · Sesión 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9144000" cy="457200"/>
          </a:xfrm>
          <a:prstGeom prst="rect">
            <a:avLst/>
          </a:prstGeom>
          <a:noFill/>
        </p:spPr>
        <p:txBody>
          <a:bodyPr wrap="square">
            <a:spAutoFit/>
          </a:bodyPr>
          <a:lstStyle/>
          <a:p>
            <a:r>
              <a:rPr sz="1400" b="1">
                <a:solidFill>
                  <a:srgbClr val="DE911D"/>
                </a:solidFill>
                <a:latin typeface="Calibri"/>
              </a:rPr>
              <a:t>EJERCICIO 1 DE 3</a:t>
            </a:r>
          </a:p>
        </p:txBody>
      </p:sp>
      <p:sp>
        <p:nvSpPr>
          <p:cNvPr id="5" name="Rectangle 4"/>
          <p:cNvSpPr/>
          <p:nvPr/>
        </p:nvSpPr>
        <p:spPr>
          <a:xfrm>
            <a:off x="548640" y="1188720"/>
            <a:ext cx="11064240" cy="502920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32720" cy="4480560"/>
          </a:xfrm>
          <a:prstGeom prst="rect">
            <a:avLst/>
          </a:prstGeom>
          <a:noFill/>
        </p:spPr>
        <p:txBody>
          <a:bodyPr wrap="square">
            <a:spAutoFit/>
          </a:bodyPr>
          <a:lstStyle/>
          <a:p>
            <a:r>
              <a:rPr sz="2200" b="0">
                <a:solidFill>
                  <a:srgbClr val="0A1F33"/>
                </a:solidFill>
                <a:latin typeface="Calibri"/>
              </a:rPr>
              <a:t>Aplica los cuatro pasos del método al caso «suena un celular» de la sesión 2 y redacta el registro para el acta.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9144000" cy="457200"/>
          </a:xfrm>
          <a:prstGeom prst="rect">
            <a:avLst/>
          </a:prstGeom>
          <a:noFill/>
        </p:spPr>
        <p:txBody>
          <a:bodyPr wrap="square">
            <a:spAutoFit/>
          </a:bodyPr>
          <a:lstStyle/>
          <a:p>
            <a:r>
              <a:rPr sz="1400" b="1">
                <a:solidFill>
                  <a:srgbClr val="DE911D"/>
                </a:solidFill>
                <a:latin typeface="Calibri"/>
              </a:rPr>
              <a:t>EJERCICIO 2 DE 3</a:t>
            </a:r>
          </a:p>
        </p:txBody>
      </p:sp>
      <p:sp>
        <p:nvSpPr>
          <p:cNvPr id="5" name="Rectangle 4"/>
          <p:cNvSpPr/>
          <p:nvPr/>
        </p:nvSpPr>
        <p:spPr>
          <a:xfrm>
            <a:off x="548640" y="1188720"/>
            <a:ext cx="11064240" cy="502920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32720" cy="4480560"/>
          </a:xfrm>
          <a:prstGeom prst="rect">
            <a:avLst/>
          </a:prstGeom>
          <a:noFill/>
        </p:spPr>
        <p:txBody>
          <a:bodyPr wrap="square">
            <a:spAutoFit/>
          </a:bodyPr>
          <a:lstStyle/>
          <a:p>
            <a:r>
              <a:rPr sz="2200" b="0">
                <a:solidFill>
                  <a:srgbClr val="0A1F33"/>
                </a:solidFill>
                <a:latin typeface="Calibri"/>
              </a:rPr>
              <a:t>Escribe la lista de materiales para un torneo de 40 estudiantes (20 mesas).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9144000" cy="457200"/>
          </a:xfrm>
          <a:prstGeom prst="rect">
            <a:avLst/>
          </a:prstGeom>
          <a:noFill/>
        </p:spPr>
        <p:txBody>
          <a:bodyPr wrap="square">
            <a:spAutoFit/>
          </a:bodyPr>
          <a:lstStyle/>
          <a:p>
            <a:r>
              <a:rPr sz="1400" b="1">
                <a:solidFill>
                  <a:srgbClr val="DE911D"/>
                </a:solidFill>
                <a:latin typeface="Calibri"/>
              </a:rPr>
              <a:t>EJERCICIO 3 DE 3</a:t>
            </a:r>
          </a:p>
        </p:txBody>
      </p:sp>
      <p:sp>
        <p:nvSpPr>
          <p:cNvPr id="5" name="Rectangle 4"/>
          <p:cNvSpPr/>
          <p:nvPr/>
        </p:nvSpPr>
        <p:spPr>
          <a:xfrm>
            <a:off x="548640" y="1188720"/>
            <a:ext cx="11064240" cy="502920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32720" cy="4480560"/>
          </a:xfrm>
          <a:prstGeom prst="rect">
            <a:avLst/>
          </a:prstGeom>
          <a:noFill/>
        </p:spPr>
        <p:txBody>
          <a:bodyPr wrap="square">
            <a:spAutoFit/>
          </a:bodyPr>
          <a:lstStyle/>
          <a:p>
            <a:r>
              <a:rPr sz="2200" b="0">
                <a:solidFill>
                  <a:srgbClr val="0A1F33"/>
                </a:solidFill>
                <a:latin typeface="Calibri"/>
              </a:rPr>
              <a:t>Un familiar le señala a su hija una jugada desde el público. ¿Qué haces?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9144000" cy="457200"/>
          </a:xfrm>
          <a:prstGeom prst="rect">
            <a:avLst/>
          </a:prstGeom>
          <a:noFill/>
        </p:spPr>
        <p:txBody>
          <a:bodyPr wrap="square">
            <a:spAutoFit/>
          </a:bodyPr>
          <a:lstStyle/>
          <a:p>
            <a:r>
              <a:rPr sz="1400" b="1">
                <a:solidFill>
                  <a:srgbClr val="DE911D"/>
                </a:solidFill>
                <a:latin typeface="Calibri"/>
              </a:rPr>
              <a:t>QUIZ DE LA SESIÓN</a:t>
            </a:r>
          </a:p>
        </p:txBody>
      </p:sp>
      <p:sp>
        <p:nvSpPr>
          <p:cNvPr id="5" name="Rectangle 4"/>
          <p:cNvSpPr/>
          <p:nvPr/>
        </p:nvSpPr>
        <p:spPr>
          <a:xfrm>
            <a:off x="548640" y="1188720"/>
            <a:ext cx="11064240" cy="502920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371600"/>
            <a:ext cx="10332720" cy="4754880"/>
          </a:xfrm>
          <a:prstGeom prst="rect">
            <a:avLst/>
          </a:prstGeom>
          <a:noFill/>
        </p:spPr>
        <p:txBody>
          <a:bodyPr wrap="square">
            <a:spAutoFit/>
          </a:bodyPr>
          <a:lstStyle/>
          <a:p>
            <a:pPr>
              <a:spcAft>
                <a:spcPts val="600"/>
              </a:spcAft>
            </a:pPr>
            <a:r>
              <a:rPr sz="1600">
                <a:solidFill>
                  <a:srgbClr val="334E68"/>
                </a:solidFill>
                <a:latin typeface="Calibri"/>
              </a:rPr>
              <a:t>1. ¿Cuál de estos elementos NO forma parte de la logística previa a un torneo escolar?</a:t>
            </a:r>
          </a:p>
          <a:p>
            <a:pPr>
              <a:spcAft>
                <a:spcPts val="600"/>
              </a:spcAft>
            </a:pPr>
            <a:r>
              <a:rPr sz="1600">
                <a:solidFill>
                  <a:srgbClr val="334E68"/>
                </a:solidFill>
                <a:latin typeface="Calibri"/>
              </a:rPr>
              <a:t>2. Ante una situación arbitral no contemplada explícitamente en el reglamento, ¿qué debe primar?</a:t>
            </a:r>
          </a:p>
          <a:p>
            <a:pPr>
              <a:spcAft>
                <a:spcPts val="600"/>
              </a:spcAft>
            </a:pPr>
            <a:r>
              <a:rPr sz="1600">
                <a:solidFill>
                  <a:srgbClr val="334E68"/>
                </a:solidFill>
                <a:latin typeface="Calibri"/>
              </a:rPr>
              <a:t>3. ¿Cuáles son los cuatro pasos para resolver un caso arbitral?</a:t>
            </a:r>
          </a:p>
          <a:p>
            <a:pPr>
              <a:spcAft>
                <a:spcPts val="600"/>
              </a:spcAft>
            </a:pPr>
            <a:r>
              <a:rPr sz="1600">
                <a:solidFill>
                  <a:srgbClr val="334E68"/>
                </a:solidFill>
                <a:latin typeface="Calibri"/>
              </a:rPr>
              <a:t>4. ¿Qué se revisa antes de emparejar la ronda siguiente?</a:t>
            </a:r>
          </a:p>
          <a:p>
            <a:pPr>
              <a:spcAft>
                <a:spcPts val="600"/>
              </a:spcAft>
            </a:pPr>
            <a:r>
              <a:rPr sz="1600">
                <a:solidFill>
                  <a:srgbClr val="334E68"/>
                </a:solidFill>
                <a:latin typeface="Calibri"/>
              </a:rPr>
              <a:t>5. ¿Dónde se atienden las inquietudes del público durante una ronda?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11064240" cy="457200"/>
          </a:xfrm>
          <a:prstGeom prst="rect">
            <a:avLst/>
          </a:prstGeom>
          <a:noFill/>
        </p:spPr>
        <p:txBody>
          <a:bodyPr wrap="square">
            <a:spAutoFit/>
          </a:bodyPr>
          <a:lstStyle/>
          <a:p>
            <a:r>
              <a:rPr sz="1400" b="1">
                <a:solidFill>
                  <a:srgbClr val="F0B429"/>
                </a:solidFill>
                <a:latin typeface="Calibri"/>
              </a:rPr>
              <a:t>TAREA PARA LA PRÓXIMA SESIÓN</a:t>
            </a:r>
          </a:p>
        </p:txBody>
      </p:sp>
      <p:sp>
        <p:nvSpPr>
          <p:cNvPr id="4" name="TextBox 3"/>
          <p:cNvSpPr txBox="1"/>
          <p:nvPr/>
        </p:nvSpPr>
        <p:spPr>
          <a:xfrm>
            <a:off x="548640" y="1371600"/>
            <a:ext cx="11064240" cy="2926080"/>
          </a:xfrm>
          <a:prstGeom prst="rect">
            <a:avLst/>
          </a:prstGeom>
          <a:noFill/>
        </p:spPr>
        <p:txBody>
          <a:bodyPr wrap="square">
            <a:spAutoFit/>
          </a:bodyPr>
          <a:lstStyle/>
          <a:p>
            <a:r>
              <a:rPr sz="2400" b="0">
                <a:solidFill>
                  <a:srgbClr val="FFFFFF"/>
                </a:solidFill>
                <a:latin typeface="Cambria"/>
              </a:rPr>
              <a:t>Elaborar una propuesta logística breve (inscripción, espacios, materiales, personal de apoyo) para un torneo estudiantil de su región.</a:t>
            </a:r>
          </a:p>
        </p:txBody>
      </p:sp>
      <p:sp>
        <p:nvSpPr>
          <p:cNvPr id="5" name="TextBox 4"/>
          <p:cNvSpPr txBox="1"/>
          <p:nvPr/>
        </p:nvSpPr>
        <p:spPr>
          <a:xfrm>
            <a:off x="548640" y="4754880"/>
            <a:ext cx="11064240" cy="914400"/>
          </a:xfrm>
          <a:prstGeom prst="rect">
            <a:avLst/>
          </a:prstGeom>
          <a:noFill/>
        </p:spPr>
        <p:txBody>
          <a:bodyPr wrap="square">
            <a:spAutoFit/>
          </a:bodyPr>
          <a:lstStyle/>
          <a:p>
            <a:r>
              <a:rPr sz="1800" b="0">
                <a:solidFill>
                  <a:srgbClr val="CADCFC"/>
                </a:solidFill>
                <a:latin typeface="Calibri"/>
              </a:rPr>
              <a:t>¿Dudas? Este es el momento. Gracias por tu participación.</a:t>
            </a:r>
          </a:p>
        </p:txBody>
      </p:sp>
      <p:sp>
        <p:nvSpPr>
          <p:cNvPr id="6" name="TextBox 5"/>
          <p:cNvSpPr txBox="1"/>
          <p:nvPr/>
        </p:nvSpPr>
        <p:spPr>
          <a:xfrm>
            <a:off x="548640" y="6263640"/>
            <a:ext cx="11064240" cy="365760"/>
          </a:xfrm>
          <a:prstGeom prst="rect">
            <a:avLst/>
          </a:prstGeom>
          <a:noFill/>
        </p:spPr>
        <p:txBody>
          <a:bodyPr wrap="square">
            <a:spAutoFit/>
          </a:bodyPr>
          <a:lstStyle/>
          <a:p>
            <a:r>
              <a:rPr sz="1200" b="0">
                <a:solidFill>
                  <a:srgbClr val="9FB3C8"/>
                </a:solidFill>
                <a:latin typeface="Calibri"/>
              </a:rPr>
              <a:t>Formación Ajedrez · Sesión 6 · ajedrez-integral.com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