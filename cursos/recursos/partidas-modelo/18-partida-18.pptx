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4: Medio juego: el juego posicional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18
Puestos avanzados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J. Piket – I. Smirin, Interzonal de Biel 1993 · Defensa India de Rey, Variante Clásica</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Puestos avanzados</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Un puesto avanzado es una casilla dentro del territorio enemigo, normalmente en la quinta o sexta fila, donde resulta posible situar una pieza propia que difícilmente va a ser desalojada. Dos condiciones lo definen: debe ser alcanzable para alguna pieza (de lo contrario su existencia no tiene relevancia práctica), y el rival debe carecer de un peón capaz de expulsar a la pieza que lo ocupe; por eso la casilla que queda delante de un peón retrasado o débil suele convertirse en un puesto avanzado natural. El caballo es la pieza que más partido saca de estas casillas: firmemente asentado en la quinta fila supone ya una seria molestia, y en la sexta puede llegar a decidir la partida por si solo, porque domina muchas casillas del campo enemigo y resulta casi imposible de eliminar sin cambios desfavorables. Las torres también pueden ocupar puestos avanzados, sobre todo en columnas abiertas y una vez cambiadas las piezas menores que podrían atacarlas, aunque en general son más vulnerables que los caballos. Crear un puesto avanzado suele ser el objetivo de toda una serie de maniobras posicionales: primero hay que impedir que el rival lo defienda con piezas, y sólo después trasladar la propia pieza hasta esa casilla privilegiada.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18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J. Piket – I. Smirin (Interzonal de Biel 1993) 1-0</a:t>
            </a:r>
          </a:p>
        </p:txBody>
      </p:sp>
      <p:sp>
        <p:nvSpPr>
          <p:cNvPr id="3" name="TextBox 2"/>
          <p:cNvSpPr txBox="1"/>
          <p:nvPr/>
        </p:nvSpPr>
        <p:spPr>
          <a:xfrm>
            <a:off x="640080" y="1234440"/>
            <a:ext cx="10972800" cy="1983740"/>
          </a:xfrm>
          <a:prstGeom prst="rect">
            <a:avLst/>
          </a:prstGeom>
          <a:noFill/>
        </p:spPr>
        <p:txBody>
          <a:bodyPr wrap="square" anchor="t">
            <a:spAutoFit/>
          </a:bodyPr>
          <a:lstStyle/>
          <a:p>
            <a:pPr algn="l">
              <a:spcAft>
                <a:spcPts val="400"/>
              </a:spcAft>
            </a:pPr>
            <a:r>
              <a:rPr sz="1400" b="0" i="0">
                <a:solidFill>
                  <a:srgbClr val="1F2937"/>
                </a:solidFill>
                <a:latin typeface="Calibri"/>
              </a:rPr>
              <a:t>En esta Defensa India de Rey Clásica, la imprecisión negra 14...f5?! permite a Piket encerrar al caballo de a6 con 15.b4, condenándolo a una larga travesía para volver al juego. Tras fijar la debilidad en d6 con 16.c5, las blancas ejecutan un plan modélico: 18.Ab2! y 19.Cb1! reencaminan sus piezas para instalar finalmente un caballo inamovible en el puesto avanzado de d6. A partir de ahí la actividad blanca crece sin freno, y tras el sacrificio de dama 31.Dxd7! y el remate 36.Ce8!, las negras se quedan sin defensa posible.</a:t>
            </a:r>
          </a:p>
          <a:p>
            <a:pPr algn="l">
              <a:spcAft>
                <a:spcPts val="400"/>
              </a:spcAft>
            </a:pPr>
            <a:r>
              <a:rPr sz="1400" b="0" i="0">
                <a:solidFill>
                  <a:srgbClr val="1F2937"/>
                </a:solidFill>
                <a:latin typeface="Calibri"/>
              </a:rPr>
              <a:t>La apertura: Se trata de la Defensa India de Rey, Variante Clásica, en la que las blancas desarrollan sus piezas de forma natural (Cf3, Ae2, O-O) sin definir de inmediato la estructura central, dejando que las negras decidan cómo reaccionar con ...e5. Esa flexibilidad permite a las blancas adaptar su plan según la respuesta rival, y en esta partida se traduce en una expansión paciente en el flanco de dama.</a:t>
            </a:r>
          </a:p>
        </p:txBody>
      </p:sp>
      <p:sp>
        <p:nvSpPr>
          <p:cNvPr id="4" name="TextBox 3"/>
          <p:cNvSpPr txBox="1"/>
          <p:nvPr/>
        </p:nvSpPr>
        <p:spPr>
          <a:xfrm>
            <a:off x="640080" y="3355340"/>
            <a:ext cx="10972800" cy="2862579"/>
          </a:xfrm>
          <a:prstGeom prst="rect">
            <a:avLst/>
          </a:prstGeom>
          <a:noFill/>
        </p:spPr>
        <p:txBody>
          <a:bodyPr wrap="square">
            <a:spAutoFit/>
          </a:bodyPr>
          <a:lstStyle/>
          <a:p>
            <a:pPr>
              <a:spcAft>
                <a:spcPts val="600"/>
              </a:spcAft>
            </a:pPr>
            <a:r>
              <a:rPr sz="1600">
                <a:solidFill>
                  <a:srgbClr val="1F2937"/>
                </a:solidFill>
                <a:latin typeface="Calibri"/>
              </a:rPr>
              <a:t>•  Un puesto avanzado es una casilla en territorio enemigo, alcanzable para una pieza propia, que el rival ya no puede defender con un peón: normalmente aparece delante de un peón retrasado o débil.</a:t>
            </a:r>
          </a:p>
          <a:p>
            <a:pPr>
              <a:spcAft>
                <a:spcPts val="600"/>
              </a:spcAft>
            </a:pPr>
            <a:r>
              <a:rPr sz="1600">
                <a:solidFill>
                  <a:srgbClr val="1F2937"/>
                </a:solidFill>
                <a:latin typeface="Calibri"/>
              </a:rPr>
              <a:t>•  El caballo suele ser la pieza más peligrosa en un puesto avanzado firme: una vez instalado en la sexta fila puede decidir la partida por si solo.</a:t>
            </a:r>
          </a:p>
          <a:p>
            <a:pPr>
              <a:spcAft>
                <a:spcPts val="600"/>
              </a:spcAft>
            </a:pPr>
            <a:r>
              <a:rPr sz="1600">
                <a:solidFill>
                  <a:srgbClr val="1F2937"/>
                </a:solidFill>
                <a:latin typeface="Calibri"/>
              </a:rPr>
              <a:t>•  Antes de ocupar el puesto avanzado conviene restringir las posibilidades defensivas del rival, para asegurarse de que la pieza que llegue allí sea verdaderamente inamovible.</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18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J. Piket – I. Smirin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1…Cf6 2.c4 2…g6 3.Cc3 3…Ag7 4.e4 4…d6 5.Cf3 5…O-O 6.Ae2 6…e5 7.O-O 7…Ca6 8.Ae3 8…Cg4 9.Ag5 9…De8 10.dxe5 10…dxe5 11.h3 11…h6 12.Ad2 12…Cf6 13.Ae3 13…Cd7 14.a3 14…f5?! 15.b4 15…c6 16.c5 16…f4 17.Ac1 17…Rh7 18.Ab2! 18…Cc7 19.Cb1! 19…Ce6 20.Cbd2 20…Cd4 21.Cc4 21…Cxe2+ 22.Dxe2 22…b6 23.Cd6 23…De6?! 24.Tfd1! 24…bxc5 25.Tac1 25…cxb4 26.Txc6 26…bxa3 27.Axa3 27…Td8 28.Tdc1! 28…Dg8 29.Tc7 29…a5 30.Db5 30…Aa6 31.Dxd7! 31…Txd7 32.Txd7 32…Td8 33.Te7 33…Ae2 34.Cxe5 34…Da2 35.Tcc7 35…Tg8 36.Ce8!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18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4f4199fc2e71699bd579c582c0006e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Piket – I. Smirin · momento clave 1/6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alfil inicia el plan maestro blanco, presionando el peón e5 e impidiendo el reagrupamiento del caballo negro por f6?</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blanco recién retirado puede reactivarse por la diagonal larga.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18.Ab2!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18.Ab2! presiona e5 y libera al caballo de c3 para dirigirse hacia el puesto avanzado en d6.</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18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c2e2ed1a71b773088c79b378e94437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Piket – I. Smirin · momento clave 2/6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Ahora que las negras han jugado ...c6, ¿qué retirada de caballo reencamina esa pieza hacia el gran puesto avanzado de la partida?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en c3 puede retroceder a su casilla original para después reubicarse.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19.Cb1!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19.Cb1! reencamina al caballo hacia d2-c4-d6, el puesto avanzado decisivo de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18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a24b54d1aa22e12776f01cbb3f7324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Piket – I. Smirin · momento clave 3/6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salto de caballo culminan las blancas su plan, instalando una pieza inatacable en el corazón de la posición negra?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puede ocupar finalmente la casilla débil del centro, delante del peón retrasado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23.Cd6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23.Cd6 ocupa el puesto avanzado inatacable que las blancas llevaban varias jugadas preparando.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18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54862c20511e0b3f8652501cd82d83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Piket – I. Smirin · momento clave 4/6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torre activan las blancas sus piezas con ganancia de tiempo, aceptando dejar momentáneamente el peón e5?</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torre blanca puede ocupar la columna abierta atacando a la dama negra mal colocada.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24.Tfd1!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24.Tfd1! activa la torre con tiempo, sin preocuparse por la perdida temporal del peón e5.</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18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c2ba7c2a49a125afe3b2d4c220c241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Piket – I. Smirin · momento clave 5/6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sacrificio de dama comienzan las blancas la combinación final que decide la partida?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blanca puede capturar una pieza negra entregándose a cambio de una ganancia decisiva de actividad.</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31.Dxd7!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31.Dxd7! sacrifica la dama para que el resto de las piezas blancas rindan al máximo en la combinación final.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18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b6f8526cfdfe44c912617ebb1405a4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Piket – I. Smirin · momento clave 6/6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salto de caballo asestan las blancas el golpe final que decide la partida?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blanco puede saltar a una casilla desde la que ataca varias piezas o amenaza mate.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36.Ce8!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36.Ce8! remata la partida: las negras no pueden evitar perdidas decisivas de material.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18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Una pieza permanentemente fuera de juego, como el caballo negro de a6 en esta partida, puede por si sola condenar toda la estrategia de un bando.</a:t>
            </a:r>
          </a:p>
          <a:p>
            <a:pPr>
              <a:spcAft>
                <a:spcPts val="600"/>
              </a:spcAft>
            </a:pPr>
            <a:r>
              <a:rPr sz="1600">
                <a:solidFill>
                  <a:srgbClr val="1F2937"/>
                </a:solidFill>
                <a:latin typeface="Calibri"/>
              </a:rPr>
              <a:t>•  Al explotar una ventaja estratégica como un puesto avanzado, conviene al mismo tiempo mantener bajo control cualquier posibilidad de contrajuego del rival.</a:t>
            </a:r>
          </a:p>
          <a:p>
            <a:pPr>
              <a:spcAft>
                <a:spcPts val="600"/>
              </a:spcAft>
            </a:pPr>
            <a:r>
              <a:rPr sz="1600">
                <a:solidFill>
                  <a:srgbClr val="1F2937"/>
                </a:solidFill>
                <a:latin typeface="Calibri"/>
              </a:rPr>
              <a:t>•  La creación de un puesto avanzado en la sexta fila suele ser más eficaz cuando lo ocupa un caballo, pero una torre bien situada también puede resultar decisiva.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18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18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