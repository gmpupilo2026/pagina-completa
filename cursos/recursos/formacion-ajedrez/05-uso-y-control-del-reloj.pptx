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FORMACIÓN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2 · Modalidades, normativa y sistemas de torneo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mbria"/>
              </a:rPr>
              <a:t>Uso, configuración y control del reloj de ajedrez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Controles de tiempo, incrementos y resolución de incidencias con el reloj en competencia.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OBJETIVOS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1F33"/>
                </a:solidFill>
                <a:latin typeface="Cambria"/>
              </a:rPr>
              <a:t>Uso, configuración y control del reloj de ajedrez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4E68"/>
                </a:solidFill>
                <a:latin typeface="Calibri"/>
              </a:rPr>
              <a:t>•  Aplicar las reglas del art. 6 sobre el uso del reloj durante la partida.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4E68"/>
                </a:solidFill>
                <a:latin typeface="Calibri"/>
              </a:rPr>
              <a:t>•  Distinguir controles sin incremento, con incremento (Fischer), con demora y por períodos.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4E68"/>
                </a:solidFill>
                <a:latin typeface="Calibri"/>
              </a:rPr>
              <a:t>•  Configurar el reloj para partidas clásicas, rápidas y relámpago.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4E68"/>
                </a:solidFill>
                <a:latin typeface="Calibri"/>
              </a:rPr>
              <a:t>•  Resolver incidencias de tiempo: caída de bandera, incomparecencia y reloj defectuoso.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CRONOGRAMA DE LA SESIÓN · 5 HORAS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43000"/>
          <a:ext cx="11064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188720"/>
                <a:gridCol w="813816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Tiempo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Duración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Actividad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0:00 – 0:15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15 min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Repaso y revisión de la tarea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0:15 – 0:55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40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El reloj en las Leyes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0:55 – 1:35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40 min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Sistemas de control de tiempo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E911D"/>
                          </a:solidFill>
                        </a:rPr>
                        <a:t>1:35 – 1:50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E911D"/>
                          </a:solidFill>
                        </a:rPr>
                        <a:t>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E911D"/>
                          </a:solidFill>
                        </a:rPr>
                        <a:t>Receso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1:50 – 2:35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45 min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Configuración según la modalidad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2:35 – 3:05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30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Incidencias de tiempo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E911D"/>
                          </a:solidFill>
                        </a:rPr>
                        <a:t>3:05 – 3:20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E911D"/>
                          </a:solidFill>
                        </a:rPr>
                        <a:t>15 min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E911D"/>
                          </a:solidFill>
                        </a:rPr>
                        <a:t>Receso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3:20 – 4:05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45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Práctica: configurar el reloj por escenario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4:05 – 4:40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35 min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Quiz de la sesión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4:40 – 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20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Cierre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CONTENIDO PARA VER EN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uso del reloj durante la partida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11064240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A1F33"/>
                </a:solidFill>
                <a:latin typeface="Calibri"/>
              </a:rPr>
              <a:t>A la hora de inicio se pone en marcha el reloj de las blancas, esté o no el jugador en la mesa. El árbitro decide de qué lado del tablero va el reloj. Cada jugador mueve y después presiona el reloj, con la misma mano con la que movió.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No se puede dejar el dedo sobre el botón ni presionar con fuerza, levantar o volcar el reloj.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Solo quien tiene su reloj en marcha puede acomodar sus piezas.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Un jugador puede pausar el reloj para llamar al árbitro; la partida se reanuda cuando el árbitro lo decide.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La jugada queda hecha al soltar la pieza y completada al presionar el reloj.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Fuente: Leyes del Ajedrez 2023 (Handbook E.I.01), art. 6.2, 6.5, 6.6 y 6.11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CONTENIDO PARA VER EN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Sistemas de control de tiempo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11064240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A1F33"/>
                </a:solidFill>
                <a:latin typeface="Calibri"/>
              </a:rPr>
              <a:t>El reloj puede funcionar de varias maneras, y quien arbitra debe saber configurarlas y explicarlas.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34E68"/>
                </a:solidFill>
                <a:latin typeface="Calibri"/>
              </a:rPr>
              <a:t>•  Sin incremento («a finish»): un tiempo fijo para toda la partida.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4E68"/>
                </a:solidFill>
                <a:latin typeface="Calibri"/>
              </a:rPr>
              <a:t>•  Incremento o tiempo Fischer: se suma un tiempo fijo después de cada jugada, desde la primera.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4E68"/>
                </a:solidFill>
                <a:latin typeface="Calibri"/>
              </a:rPr>
              <a:t>•  Demora (delay): cada jugada trae un tiempo fijo; el tiempo principal empieza a descontarse cuando ese tiempo se agota.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4E68"/>
                </a:solidFill>
                <a:latin typeface="Calibri"/>
              </a:rPr>
              <a:t>•  Por períodos: por ejemplo, 40 jugadas en 90 minutos y luego 30 minutos más; el tiempo nuevo se suma al completar la jugada 40.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4E68"/>
                </a:solidFill>
                <a:latin typeface="Calibri"/>
              </a:rPr>
              <a:t>•  Con menos de 5 minutos y sin incremento de al menos 30 segundos, el jugador puede dejar de anotar.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Fuente: Leyes del Ajedrez 2023 (Handbook E.I.01), art. 6.3 y 8.4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CONTENIDO PARA VER EN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Configurar el reloj según la modalidad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11064240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A1F33"/>
                </a:solidFill>
                <a:latin typeface="Calibri"/>
              </a:rPr>
              <a:t>Antes de la ronda se configuran y revisan todos los relojes con el ritmo que anuncia el reglamento del torneo. Un reloj mal configurado es la causa de muchas incidencias que después no tienen buena solución.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Revisa el tiempo base, el incremento y, si lo hay, el período siguiente.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Comprueba que los dos lados muestren el mismo tiempo antes de empezar.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Deja relojes de repuesto configurados.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Si a mitad de partida se descubre un reloj mal configurado o con un defecto evidente, el árbitro lo corrige o lo reemplaza y fija los tiempos con su criterio.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Fuente: Leyes del Ajedrez 2023 (Handbook E.I.01), art. 6.10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CONTENIDO PARA VER EN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Caída de bandera e incidencias de tiempo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11064240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A1F33"/>
                </a:solidFill>
                <a:latin typeface="Calibri"/>
              </a:rPr>
              <a:t>Cuando a un jugador se le agota el tiempo, pierde la partida, salvo que el rival no pueda dar mate por ninguna serie de jugadas legales: en ese caso son tablas. La prueba es «cualquier serie de jugadas legales», aunque sea con la peor defensa.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34E68"/>
                </a:solidFill>
                <a:latin typeface="Calibri"/>
              </a:rPr>
              <a:t>•  Al caer una bandera, se comprueba si el jugador cumplió el número de jugadas del control.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4E68"/>
                </a:solidFill>
                <a:latin typeface="Calibri"/>
              </a:rPr>
              <a:t>•  En ritmo clásico con árbitro presente, el árbitro declara la caída de bandera de oficio; en relámpago sin supervisión, la reclama el jugador.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4E68"/>
                </a:solidFill>
                <a:latin typeface="Calibri"/>
              </a:rPr>
              <a:t>•  Si el reglamento no fija tiempo de incomparecencia, es cero: quien llega tarde pierde, salvo decisión del árbitro.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4E68"/>
                </a:solidFill>
                <a:latin typeface="Calibri"/>
              </a:rPr>
              <a:t>•  En apuro de tiempo, el árbitro observa especialmente esas partidas y puede nombrar asistentes.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Fuente: Leyes del Ajedrez 2023 (Handbook E.I.01), art. 6.4, 6.7, 6.8, 6.9, 12.3 y 12.4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CASO 1 · ¿QUÉ DECIDE LA PERSONA ÁRBITRA?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Las blancas no llegaron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062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4E68"/>
                </a:solidFill>
                <a:latin typeface="Calibri"/>
              </a:rPr>
              <a:t>Es la hora de inicio y el jugador de blancas no está en la mesa. El reglamento fija 15 minutos de incomparecencia.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0B429"/>
                </a:solidFill>
                <a:latin typeface="Calibri"/>
              </a:rPr>
              <a:t>CASO 1 · 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mbria"/>
              </a:rPr>
              <a:t>Las blancas no llegaron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064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ADCFC"/>
                </a:solidFill>
                <a:latin typeface="Calibri"/>
              </a:rPr>
              <a:t>Se pone en marcha el reloj de las blancas igual. Si llega antes de los 15 minutos, juega con el tiempo que le quede; si no, pierde por incomparecencia.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3C8"/>
                </a:solidFill>
                <a:latin typeface="Calibri"/>
              </a:rPr>
              <a:t>Fuente: Leyes del Ajedrez 2023 (Handbook E.I.01), art. 6.6 y 6.7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CASO 2 · ¿QUÉ DECIDE LA PERSONA ÁRBITRA?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Presionar antes de mover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062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4E68"/>
                </a:solidFill>
                <a:latin typeface="Calibri"/>
              </a:rPr>
              <a:t>En apuro de tiempo, un jugador presiona el reloj antes de soltar la pieza.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0B429"/>
                </a:solidFill>
                <a:latin typeface="Calibri"/>
              </a:rPr>
              <a:t>CASO 2 · 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mbria"/>
              </a:rPr>
              <a:t>Presionar antes de mover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064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ADCFC"/>
                </a:solidFill>
                <a:latin typeface="Calibri"/>
              </a:rPr>
              <a:t>Es un manejo indebido del reloj: el árbitro interviene y aplica una sanción del art. 12.9, de menor a mayor.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3C8"/>
                </a:solidFill>
                <a:latin typeface="Calibri"/>
              </a:rPr>
              <a:t>Fuente: Leyes del Ajedrez 2023 (Handbook E.I.01), art. 6.2.1, 6.2.4 y 12.9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CASO 3 · ¿QUÉ DECIDE LA PERSONA ÁRBITRA?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Bandera con rey y caballo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062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4E68"/>
                </a:solidFill>
                <a:latin typeface="Calibri"/>
              </a:rPr>
              <a:t>Cae la bandera de las blancas. Las negras solo tienen rey y caballo, y las blancas tienen rey y peón.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0B429"/>
                </a:solidFill>
                <a:latin typeface="Calibri"/>
              </a:rPr>
              <a:t>CASO 3 · 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mbria"/>
              </a:rPr>
              <a:t>Bandera con rey y caballo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064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ADCFC"/>
                </a:solidFill>
                <a:latin typeface="Calibri"/>
              </a:rPr>
              <a:t>Pierden las blancas: con ese material existe al menos una serie de jugadas legales que termina en mate. Por ejemplo, rey blanco en h1 con su peón en h2, rey negro en f1 y caballo negro en f2: el peón le quita al rey su última casilla. Solo serían tablas si el rival no pudiera dar mate de ninguna manera, como con rey y caballo contra rey solo.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3C8"/>
                </a:solidFill>
                <a:latin typeface="Calibri"/>
              </a:rPr>
              <a:t>Fuente: Leyes del Ajedrez 2023 (Handbook E.I.01), art. 6.9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CASO 4 · ¿QUÉ DECIDE LA PERSONA ÁRBITRA?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Reloj con defecto evidente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062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4E68"/>
                </a:solidFill>
                <a:latin typeface="Calibri"/>
              </a:rPr>
              <a:t>A mitad de partida, la pantalla de un reloj deja de funcionar.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0B429"/>
                </a:solidFill>
                <a:latin typeface="Calibri"/>
              </a:rPr>
              <a:t>CASO 4 · 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mbria"/>
              </a:rPr>
              <a:t>Reloj con defecto evidente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064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ADCFC"/>
                </a:solidFill>
                <a:latin typeface="Calibri"/>
              </a:rPr>
              <a:t>El árbitro lo reemplaza y fija los tiempos del reloj nuevo con su mejor criterio, apoyándose en las planillas y en lo que recuerden los jugadores.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3C8"/>
                </a:solidFill>
                <a:latin typeface="Calibri"/>
              </a:rPr>
              <a:t>Fuente: Leyes del Ajedrez 2023 (Handbook E.I.01), art. 6.10.1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PRÁCTICA — CONFIGURACIÓN DE UN RELOJ SEGÚN ESCENARIO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mbria"/>
              </a:rPr>
              <a:t>Con un simulador de reloj digital en línea, cada participante configura el control de tiempo correspondiente a tres escenarios: partida clásica, rápida y relámpago.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Formación Ajedrez · Sesión 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EJERCICIO 1 DE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0A1F33"/>
                </a:solidFill>
                <a:latin typeface="Calibri"/>
              </a:rPr>
              <a:t>Configura el reloj para una partida clásica de 90 minutos con 30 segundos de incremento desde la jugada 1. ¿Deben anotar los jugadores toda la partida?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EJERCICIO 2 DE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0A1F33"/>
                </a:solidFill>
                <a:latin typeface="Calibri"/>
              </a:rPr>
              <a:t>Configura el reloj para rápidas a 15 minutos más 10 segundos. ¿Qué ritmo es según la fórmula?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EJERCICIO 3 DE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0A1F33"/>
                </a:solidFill>
                <a:latin typeface="Calibri"/>
              </a:rPr>
              <a:t>Configura el reloj para relámpago a 3 minutos más 2 segundos. ¿Qué ritmo es?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EJERCICIO 4 DE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0A1F33"/>
                </a:solidFill>
                <a:latin typeface="Calibri"/>
              </a:rPr>
              <a:t>Cae la bandera de un jugador. Su rival solo tiene el rey. ¿Resultado?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EJERCICIO 5 DE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0A1F33"/>
                </a:solidFill>
                <a:latin typeface="Calibri"/>
              </a:rPr>
              <a:t>El reglamento no dice nada sobre la tolerancia. Un jugador llega 3 minutos tarde. ¿Qué pasa?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QUIZ DE LA SESIÓN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34E68"/>
                </a:solidFill>
                <a:latin typeface="Calibri"/>
              </a:rPr>
              <a:t>1. ¿Qué es el incremento o «tiempo Fischer» en el reloj de ajedrez?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4E68"/>
                </a:solidFill>
                <a:latin typeface="Calibri"/>
              </a:rPr>
              <a:t>2. Si a un jugador se le agota el tiempo, ¿qué debe verificar primero la persona árbitra?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4E68"/>
                </a:solidFill>
                <a:latin typeface="Calibri"/>
              </a:rPr>
              <a:t>3. ¿Qué reloj se pone en marcha al empezar la ronda?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4E68"/>
                </a:solidFill>
                <a:latin typeface="Calibri"/>
              </a:rPr>
              <a:t>4. ¿Con qué mano se presiona el reloj?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4E68"/>
                </a:solidFill>
                <a:latin typeface="Calibri"/>
              </a:rPr>
              <a:t>5. En el modo de demora, ¿cuándo empieza a descontarse el tiempo principal?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4E68"/>
                </a:solidFill>
                <a:latin typeface="Calibri"/>
              </a:rPr>
              <a:t>6. Si el reglamento no fija tiempo de incomparecencia, ¿cuál es?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4E68"/>
                </a:solidFill>
                <a:latin typeface="Calibri"/>
              </a:rPr>
              <a:t>7. ¿Puede un jugador acomodar sus propias piezas mientras el reloj del rival está en marcha?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4E68"/>
                </a:solidFill>
                <a:latin typeface="Calibri"/>
              </a:rPr>
              <a:t>8. Con menos de 5 minutos y sin incremento de al menos 30 segundos, ¿está obligado el jugador a seguir anotando?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4E68"/>
                </a:solidFill>
                <a:latin typeface="Calibri"/>
              </a:rPr>
              <a:t>9. En ritmo clásico con árbitro presente, ¿quién declara la caída de una bandera?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4E68"/>
                </a:solidFill>
                <a:latin typeface="Calibri"/>
              </a:rPr>
              <a:t>10. Si a mitad de partida se descubre que un reloj estaba mal configurado o tiene un defecto evidente, ¿qué hace el árbitro?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4E68"/>
                </a:solidFill>
                <a:latin typeface="Calibri"/>
              </a:rPr>
              <a:t>11. ¿Cuándo queda hecha una jugada y cuándo queda completada?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0B429"/>
                </a:solidFill>
                <a:latin typeface="Calibri"/>
              </a:rPr>
              <a:t>TAREA 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FFFFFF"/>
                </a:solidFill>
                <a:latin typeface="Cambria"/>
              </a:rPr>
              <a:t>Completar una ficha con la configuración correcta del reloj (tiempo base e incremento) para tres modalidades, según la normativa JDE.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¿Dudas? Este es el momento. Gracias por tu participación.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FB3C8"/>
                </a:solidFill>
                <a:latin typeface="Calibri"/>
              </a:rPr>
              <a:t>Formación Ajedrez · Sesión 5 · ajedrez-integral.com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