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9692640" y="-1463040"/>
            <a:ext cx="4572000" cy="457200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645920" y="4937760"/>
            <a:ext cx="3840480" cy="3840480"/>
          </a:xfrm>
          <a:prstGeom prst="ellipse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0080" y="594360"/>
            <a:ext cx="1005840" cy="100584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59436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0A1F33"/>
                </a:solidFill>
                <a:latin typeface="Calibri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685800"/>
            <a:ext cx="9509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0B429"/>
                </a:solidFill>
                <a:latin typeface="Calibri"/>
              </a:rPr>
              <a:t>AJEDREZ INTEGRAL  ·  ÁRBITRO NACIONAL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097280"/>
            <a:ext cx="9509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9FB3C8"/>
                </a:solidFill>
                <a:latin typeface="Calibri"/>
              </a:rPr>
              <a:t>Bloque 3 · Irregularidades: jugadas ilegales y posiciones incorrectas (art. 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65176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617720"/>
            <a:ext cx="96012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CADCFC"/>
                </a:solidFill>
                <a:latin typeface="Calibri"/>
              </a:rPr>
              <a:t>El artículo 7.5 y la escala de sanciones que distingue la primera jugada ilegal de la segunda.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093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27D98"/>
                </a:solidFill>
                <a:latin typeface="Calibri"/>
              </a:rPr>
              <a:t>ajedrez-integral.com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Una jugada ilegal queda completada en el mismo momento que cualquier otra (al soltar la pieza), pero el artículo 7.5.1 obliga a deshacerla apenas se detecta: se restablece la posición de antes de esa jugada y el jugador debe hacer una jugada legal, con la misma pieza si tenía alguna jugada legal disponible.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La sanción cambia con la reincidencia (art. 7.5.5): la primera jugada ilegal del jugador en la partida agrega tiempo al reloj del rival (el reglamento del torneo fija cuánto, típicamente dos minutos en partidas clásicas y un minuto en rápidas desde 2023); la segunda jugada ilegal del MISMO jugador en la MISMA partida es pérdida directa, salvo que el rival no pueda dar mate por ninguna secuencia legal, en cuyo caso son tablas — el mismo criterio del artículo 6.9.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"Detectada" es la palabra clave: si nadie la nota y se siguen jugando varias jugadas más, el artículo 7.5.1 en principio ya no permite deshacerla (la partida sigue desde la posición actual), salvo que ambos jugadores estén de acuerdo o el árbitro decida lo contrario por las circunstancias — es una de las pocas zonas donde el criterio de sala pesa más que una regla fija, y por eso conviene decidirlo pronto, no cuando ya se jugaron diez jugadas más.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502920"/>
            <a:ext cx="502920" cy="50292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0A1F33"/>
                </a:solidFill>
                <a:latin typeface="Calibri"/>
              </a:rPr>
              <a:t>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530352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E911D"/>
                </a:solidFill>
                <a:latin typeface="Calibri"/>
              </a:rPr>
              <a:t>CONCEPTO CLAVE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51560"/>
            <a:ext cx="110642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A1F33"/>
                </a:solidFill>
                <a:latin typeface="Cambria"/>
              </a:rPr>
              <a:t>Jugada ilegal: cuándo queda completada y cómo se sanciona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1965960"/>
            <a:ext cx="11064240" cy="429768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331720"/>
            <a:ext cx="10241280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334E68"/>
                </a:solidFill>
                <a:latin typeface="Calibri"/>
              </a:rPr>
              <a:t>Distinto es el artículo 7.4: cuando se descubre que la posición inicial estaba mal puesta o los colores invertidos DESPUÉS de que avanzó la partida — ahí, salvo reglamento distinto del torneo, la partida sigue como está si ya se completaron varias jugadas, en vez de reiniciarse desde cero.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1280160" y="-1463040"/>
            <a:ext cx="4114800" cy="4114800"/>
          </a:xfrm>
          <a:prstGeom prst="ellipse">
            <a:avLst/>
          </a:prstGeom>
          <a:solidFill>
            <a:srgbClr val="0A1F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175504" y="822960"/>
            <a:ext cx="1828800" cy="1828800"/>
          </a:xfrm>
          <a:prstGeom prst="ellipse">
            <a:avLst/>
          </a:prstGeom>
          <a:solidFill>
            <a:srgbClr val="DE91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75504" y="822960"/>
            <a:ext cx="18288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>
                <a:solidFill>
                  <a:srgbClr val="0A1F33"/>
                </a:solidFill>
                <a:latin typeface="Calibri"/>
              </a:rPr>
              <a:t>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88036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0B429"/>
                </a:solidFill>
                <a:latin typeface="Calibri"/>
              </a:rPr>
              <a:t>PARA PRACTICAR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38328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FFFFFF"/>
                </a:solidFill>
                <a:latin typeface="Cambria"/>
              </a:rPr>
              <a:t>Con el registro de una partida ficticia de 40 jugadas, identificar en qué jugada se coló un enroque ilegal (el rey había estado en jaque dos jugadas antes) y redactar la decisión completa: qué se deshace, qué sanción corresponde y cómo se justifica ante el jugador que reclama que "ya se jugaron muchas jugadas después".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FB3C8"/>
                </a:solidFill>
                <a:latin typeface="Calibri"/>
              </a:rPr>
              <a:t>Árbitro Nacional · Lección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