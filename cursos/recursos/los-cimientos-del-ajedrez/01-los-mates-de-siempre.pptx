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692640" y="-1463040"/>
            <a:ext cx="4572000" cy="457200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645920" y="4937760"/>
            <a:ext cx="3840480" cy="3840480"/>
          </a:xfrm>
          <a:prstGeom prst="ellipse">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640080" y="594360"/>
            <a:ext cx="1005840" cy="100584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594360"/>
            <a:ext cx="1005840" cy="1005840"/>
          </a:xfrm>
          <a:prstGeom prst="rect">
            <a:avLst/>
          </a:prstGeom>
          <a:noFill/>
        </p:spPr>
        <p:txBody>
          <a:bodyPr wrap="square">
            <a:spAutoFit/>
          </a:bodyPr>
          <a:lstStyle/>
          <a:p>
            <a:pPr algn="ctr"/>
            <a:r>
              <a:rPr sz="3200" b="1">
                <a:solidFill>
                  <a:srgbClr val="0A1F33"/>
                </a:solidFill>
                <a:latin typeface="Calibri"/>
              </a:rPr>
              <a:t>1</a:t>
            </a:r>
          </a:p>
        </p:txBody>
      </p:sp>
      <p:sp>
        <p:nvSpPr>
          <p:cNvPr id="7" name="TextBox 6"/>
          <p:cNvSpPr txBox="1"/>
          <p:nvPr/>
        </p:nvSpPr>
        <p:spPr>
          <a:xfrm>
            <a:off x="1920240" y="685800"/>
            <a:ext cx="9509760" cy="457200"/>
          </a:xfrm>
          <a:prstGeom prst="rect">
            <a:avLst/>
          </a:prstGeom>
          <a:noFill/>
        </p:spPr>
        <p:txBody>
          <a:bodyPr wrap="square">
            <a:spAutoFit/>
          </a:bodyPr>
          <a:lstStyle/>
          <a:p>
            <a:r>
              <a:rPr sz="1300" b="1">
                <a:solidFill>
                  <a:srgbClr val="F0B429"/>
                </a:solidFill>
                <a:latin typeface="Calibri"/>
              </a:rPr>
              <a:t>AJEDREZ INTEGRAL  ·  LOS CIMIENTOS DEL AJEDREZ</a:t>
            </a:r>
          </a:p>
        </p:txBody>
      </p:sp>
      <p:sp>
        <p:nvSpPr>
          <p:cNvPr id="8" name="TextBox 7"/>
          <p:cNvSpPr txBox="1"/>
          <p:nvPr/>
        </p:nvSpPr>
        <p:spPr>
          <a:xfrm>
            <a:off x="1920240" y="1097280"/>
            <a:ext cx="9509760" cy="365760"/>
          </a:xfrm>
          <a:prstGeom prst="rect">
            <a:avLst/>
          </a:prstGeom>
          <a:noFill/>
        </p:spPr>
        <p:txBody>
          <a:bodyPr wrap="square">
            <a:spAutoFit/>
          </a:bodyPr>
          <a:lstStyle/>
          <a:p>
            <a:r>
              <a:rPr sz="1300" b="0">
                <a:solidFill>
                  <a:srgbClr val="9FB3C8"/>
                </a:solidFill>
                <a:latin typeface="Calibri"/>
              </a:rPr>
              <a:t>Bloque 1 · Las primeras herramientas</a:t>
            </a:r>
          </a:p>
        </p:txBody>
      </p:sp>
      <p:sp>
        <p:nvSpPr>
          <p:cNvPr id="9" name="TextBox 8"/>
          <p:cNvSpPr txBox="1"/>
          <p:nvPr/>
        </p:nvSpPr>
        <p:spPr>
          <a:xfrm>
            <a:off x="640080" y="2651760"/>
            <a:ext cx="10881360" cy="2011680"/>
          </a:xfrm>
          <a:prstGeom prst="rect">
            <a:avLst/>
          </a:prstGeom>
          <a:noFill/>
        </p:spPr>
        <p:txBody>
          <a:bodyPr wrap="square">
            <a:spAutoFit/>
          </a:bodyPr>
          <a:lstStyle/>
          <a:p>
            <a:r>
              <a:rPr sz="4000" b="1">
                <a:solidFill>
                  <a:srgbClr val="FFFFFF"/>
                </a:solidFill>
                <a:latin typeface="Cambria"/>
              </a:rPr>
              <a:t>Los mates de siempre</a:t>
            </a:r>
          </a:p>
        </p:txBody>
      </p:sp>
      <p:sp>
        <p:nvSpPr>
          <p:cNvPr id="10" name="TextBox 9"/>
          <p:cNvSpPr txBox="1"/>
          <p:nvPr/>
        </p:nvSpPr>
        <p:spPr>
          <a:xfrm>
            <a:off x="640080" y="4617720"/>
            <a:ext cx="9601200" cy="914400"/>
          </a:xfrm>
          <a:prstGeom prst="rect">
            <a:avLst/>
          </a:prstGeom>
          <a:noFill/>
        </p:spPr>
        <p:txBody>
          <a:bodyPr wrap="square">
            <a:spAutoFit/>
          </a:bodyPr>
          <a:lstStyle/>
          <a:p>
            <a:r>
              <a:rPr sz="1800" b="0">
                <a:solidFill>
                  <a:srgbClr val="CADCFC"/>
                </a:solidFill>
                <a:latin typeface="Calibri"/>
              </a:rPr>
              <a:t>Los mates básicos se repiten en miles de partidas: el del pasillo, la dama apoyada junto al rey y la escalera de torres. Reconocerlos al vuelo es el primer paso.</a:t>
            </a:r>
          </a:p>
        </p:txBody>
      </p:sp>
      <p:sp>
        <p:nvSpPr>
          <p:cNvPr id="11" name="TextBox 10"/>
          <p:cNvSpPr txBox="1"/>
          <p:nvPr/>
        </p:nvSpPr>
        <p:spPr>
          <a:xfrm>
            <a:off x="640080" y="6309360"/>
            <a:ext cx="5486400" cy="365760"/>
          </a:xfrm>
          <a:prstGeom prst="rect">
            <a:avLst/>
          </a:prstGeom>
          <a:noFill/>
        </p:spPr>
        <p:txBody>
          <a:bodyPr wrap="square">
            <a:spAutoFit/>
          </a:bodyPr>
          <a:lstStyle/>
          <a:p>
            <a:r>
              <a:rPr sz="1100" b="0">
                <a:solidFill>
                  <a:srgbClr val="627D98"/>
                </a:solidFill>
                <a:latin typeface="Calibri"/>
              </a:rPr>
              <a:t>ajedrez-integral.com</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Los mates de siempre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Casi todos los mates que vas a dar o recibir en tu vida son variaciones de unos pocos dibujos. El más común es el del pasillo: el rey enrocado detrás de sus tres peones, sin casillas de escape, y una torre o la dama que entra en la última fila. Otro es la dama apoyada: la dama se pone pegada al rey rival, protegida por otra pieza, y el rey no puede ni capturarla ni escapar. El tercero es la escalera: dos piezas pesadas que se turnan para empujar al rey fila por fila hasta el borde.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Los mates de siempre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La señal más clara es un rey con pocas casillas libres. Antes de buscar una jugada, cuenta cuántas casillas tiene el rey rival y quién las tapa: muchas veces son sus propios peones o sus propias piezas. Si la última fila está sin defensa y los peones del enroque no se han movido, piensa en el pasillo. Si tu dama puede llegar al lado del rey con apoyo, piensa en la dama apoyada. Y si el rey está en el borde y tienes dos piezas pesadas, la escalera suele estar a dos o tres jugadas.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548640" y="502920"/>
            <a:ext cx="502920" cy="50292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502920" cy="502920"/>
          </a:xfrm>
          <a:prstGeom prst="rect">
            <a:avLst/>
          </a:prstGeom>
          <a:noFill/>
        </p:spPr>
        <p:txBody>
          <a:bodyPr wrap="square">
            <a:spAutoFit/>
          </a:bodyPr>
          <a:lstStyle/>
          <a:p>
            <a:pPr algn="ctr"/>
            <a:r>
              <a:rPr sz="2000" b="0">
                <a:solidFill>
                  <a:srgbClr val="0A1F33"/>
                </a:solidFill>
                <a:latin typeface="Calibri"/>
              </a:rPr>
              <a:t>♟</a:t>
            </a:r>
          </a:p>
        </p:txBody>
      </p:sp>
      <p:sp>
        <p:nvSpPr>
          <p:cNvPr id="4" name="TextBox 3"/>
          <p:cNvSpPr txBox="1"/>
          <p:nvPr/>
        </p:nvSpPr>
        <p:spPr>
          <a:xfrm>
            <a:off x="1234440" y="530352"/>
            <a:ext cx="7315200" cy="457200"/>
          </a:xfrm>
          <a:prstGeom prst="rect">
            <a:avLst/>
          </a:prstGeom>
          <a:noFill/>
        </p:spPr>
        <p:txBody>
          <a:bodyPr wrap="square">
            <a:spAutoFit/>
          </a:bodyPr>
          <a:lstStyle/>
          <a:p>
            <a:r>
              <a:rPr sz="1400" b="1">
                <a:solidFill>
                  <a:srgbClr val="DE911D"/>
                </a:solidFill>
                <a:latin typeface="Calibri"/>
              </a:rPr>
              <a:t>CONCEPTO CLAVE</a:t>
            </a:r>
          </a:p>
        </p:txBody>
      </p:sp>
      <p:sp>
        <p:nvSpPr>
          <p:cNvPr id="5" name="TextBox 4"/>
          <p:cNvSpPr txBox="1"/>
          <p:nvPr/>
        </p:nvSpPr>
        <p:spPr>
          <a:xfrm>
            <a:off x="548640" y="1051560"/>
            <a:ext cx="11064240" cy="822960"/>
          </a:xfrm>
          <a:prstGeom prst="rect">
            <a:avLst/>
          </a:prstGeom>
          <a:noFill/>
        </p:spPr>
        <p:txBody>
          <a:bodyPr wrap="square">
            <a:spAutoFit/>
          </a:bodyPr>
          <a:lstStyle/>
          <a:p>
            <a:r>
              <a:rPr sz="2600" b="1">
                <a:solidFill>
                  <a:srgbClr val="0A1F33"/>
                </a:solidFill>
                <a:latin typeface="Cambria"/>
              </a:rPr>
              <a:t>Los mates de siempre</a:t>
            </a:r>
          </a:p>
        </p:txBody>
      </p:sp>
      <p:sp>
        <p:nvSpPr>
          <p:cNvPr id="6" name="Rectangle 5"/>
          <p:cNvSpPr/>
          <p:nvPr/>
        </p:nvSpPr>
        <p:spPr>
          <a:xfrm>
            <a:off x="548640" y="1965960"/>
            <a:ext cx="11064240" cy="4297680"/>
          </a:xfrm>
          <a:prstGeom prst="rect">
            <a:avLst/>
          </a:prstGeom>
          <a:solidFill>
            <a:srgbClr val="F0F4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05840" y="2331720"/>
            <a:ext cx="10241280" cy="3566160"/>
          </a:xfrm>
          <a:prstGeom prst="rect">
            <a:avLst/>
          </a:prstGeom>
          <a:noFill/>
        </p:spPr>
        <p:txBody>
          <a:bodyPr wrap="square">
            <a:spAutoFit/>
          </a:bodyPr>
          <a:lstStyle/>
          <a:p>
            <a:r>
              <a:rPr sz="1600" b="0">
                <a:solidFill>
                  <a:srgbClr val="334E68"/>
                </a:solidFill>
                <a:latin typeface="Calibri"/>
              </a:rPr>
              <a:t>El error típico no es no ver el mate del rival, sino olvidarse del propio. Muchos jugadores dejan su rey enrocado sin ninguna salida durante toda la partida y lo pagan con una torre que entra en la primera fila. Un movimiento de peón a tiempo, como abrir una casilla al lado del rey, quita el problema por completo. Al revés, cuando el rival no lo ha hecho, revisa en cada jugada si alguna de tus piezas puede llegar a su última fila.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2A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280160" y="-1463040"/>
            <a:ext cx="4114800" cy="4114800"/>
          </a:xfrm>
          <a:prstGeom prst="ellipse">
            <a:avLst/>
          </a:prstGeom>
          <a:solidFill>
            <a:srgbClr val="0A1F3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5175504" y="822960"/>
            <a:ext cx="1828800" cy="1828800"/>
          </a:xfrm>
          <a:prstGeom prst="ellipse">
            <a:avLst/>
          </a:prstGeom>
          <a:solidFill>
            <a:srgbClr val="DE911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75504" y="822960"/>
            <a:ext cx="1828800" cy="1828800"/>
          </a:xfrm>
          <a:prstGeom prst="rect">
            <a:avLst/>
          </a:prstGeom>
          <a:noFill/>
        </p:spPr>
        <p:txBody>
          <a:bodyPr wrap="square">
            <a:spAutoFit/>
          </a:bodyPr>
          <a:lstStyle/>
          <a:p>
            <a:pPr algn="ctr"/>
            <a:r>
              <a:rPr sz="4400" b="1">
                <a:solidFill>
                  <a:srgbClr val="0A1F33"/>
                </a:solidFill>
                <a:latin typeface="Calibri"/>
              </a:rPr>
              <a:t>✔</a:t>
            </a:r>
          </a:p>
        </p:txBody>
      </p:sp>
      <p:sp>
        <p:nvSpPr>
          <p:cNvPr id="6" name="TextBox 5"/>
          <p:cNvSpPr txBox="1"/>
          <p:nvPr/>
        </p:nvSpPr>
        <p:spPr>
          <a:xfrm>
            <a:off x="548640" y="2880360"/>
            <a:ext cx="11064240" cy="457200"/>
          </a:xfrm>
          <a:prstGeom prst="rect">
            <a:avLst/>
          </a:prstGeom>
          <a:noFill/>
        </p:spPr>
        <p:txBody>
          <a:bodyPr wrap="square">
            <a:spAutoFit/>
          </a:bodyPr>
          <a:lstStyle/>
          <a:p>
            <a:pPr algn="ctr"/>
            <a:r>
              <a:rPr sz="1400" b="1">
                <a:solidFill>
                  <a:srgbClr val="F0B429"/>
                </a:solidFill>
                <a:latin typeface="Calibri"/>
              </a:rPr>
              <a:t>PARA PRACTICAR</a:t>
            </a:r>
          </a:p>
        </p:txBody>
      </p:sp>
      <p:sp>
        <p:nvSpPr>
          <p:cNvPr id="7" name="TextBox 6"/>
          <p:cNvSpPr txBox="1"/>
          <p:nvPr/>
        </p:nvSpPr>
        <p:spPr>
          <a:xfrm>
            <a:off x="1280160" y="3383280"/>
            <a:ext cx="9601200" cy="2377440"/>
          </a:xfrm>
          <a:prstGeom prst="rect">
            <a:avLst/>
          </a:prstGeom>
          <a:noFill/>
        </p:spPr>
        <p:txBody>
          <a:bodyPr wrap="square">
            <a:spAutoFit/>
          </a:bodyPr>
          <a:lstStyle/>
          <a:p>
            <a:pPr algn="ctr"/>
            <a:r>
              <a:rPr sz="2200" b="0">
                <a:solidFill>
                  <a:srgbClr val="FFFFFF"/>
                </a:solidFill>
                <a:latin typeface="Cambria"/>
              </a:rPr>
              <a:t>Juega diez partidas rápidas y, antes de cada jugada, cuenta las casillas libres del rey rival. Anota cuántas veces tuvo cero o una: ahí estaba el mate esperando.</a:t>
            </a:r>
          </a:p>
        </p:txBody>
      </p:sp>
      <p:sp>
        <p:nvSpPr>
          <p:cNvPr id="8" name="TextBox 7"/>
          <p:cNvSpPr txBox="1"/>
          <p:nvPr/>
        </p:nvSpPr>
        <p:spPr>
          <a:xfrm>
            <a:off x="548640" y="6263640"/>
            <a:ext cx="11064240" cy="365760"/>
          </a:xfrm>
          <a:prstGeom prst="rect">
            <a:avLst/>
          </a:prstGeom>
          <a:noFill/>
        </p:spPr>
        <p:txBody>
          <a:bodyPr wrap="square">
            <a:spAutoFit/>
          </a:bodyPr>
          <a:lstStyle/>
          <a:p>
            <a:pPr algn="ctr"/>
            <a:r>
              <a:rPr sz="1200" b="0">
                <a:solidFill>
                  <a:srgbClr val="9FB3C8"/>
                </a:solidFill>
                <a:latin typeface="Calibri"/>
              </a:rPr>
              <a:t>Los cimientos del ajedrez · Lección 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