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F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9692640" y="-1463040"/>
            <a:ext cx="4572000" cy="4572000"/>
          </a:xfrm>
          <a:prstGeom prst="ellipse">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645920" y="4937760"/>
            <a:ext cx="3840480" cy="3840480"/>
          </a:xfrm>
          <a:prstGeom prst="ellipse">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640080" y="594360"/>
            <a:ext cx="1005840" cy="100584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594360"/>
            <a:ext cx="1005840" cy="1005840"/>
          </a:xfrm>
          <a:prstGeom prst="rect">
            <a:avLst/>
          </a:prstGeom>
          <a:noFill/>
        </p:spPr>
        <p:txBody>
          <a:bodyPr wrap="square">
            <a:spAutoFit/>
          </a:bodyPr>
          <a:lstStyle/>
          <a:p>
            <a:pPr algn="ctr"/>
            <a:r>
              <a:rPr sz="3200" b="1">
                <a:solidFill>
                  <a:srgbClr val="0A1F33"/>
                </a:solidFill>
                <a:latin typeface="Calibri"/>
              </a:rPr>
              <a:t>16</a:t>
            </a:r>
          </a:p>
        </p:txBody>
      </p:sp>
      <p:sp>
        <p:nvSpPr>
          <p:cNvPr id="7" name="TextBox 6"/>
          <p:cNvSpPr txBox="1"/>
          <p:nvPr/>
        </p:nvSpPr>
        <p:spPr>
          <a:xfrm>
            <a:off x="1920240" y="685800"/>
            <a:ext cx="9509760" cy="457200"/>
          </a:xfrm>
          <a:prstGeom prst="rect">
            <a:avLst/>
          </a:prstGeom>
          <a:noFill/>
        </p:spPr>
        <p:txBody>
          <a:bodyPr wrap="square">
            <a:spAutoFit/>
          </a:bodyPr>
          <a:lstStyle/>
          <a:p>
            <a:r>
              <a:rPr sz="1300" b="1">
                <a:solidFill>
                  <a:srgbClr val="F0B429"/>
                </a:solidFill>
                <a:latin typeface="Calibri"/>
              </a:rPr>
              <a:t>AJEDREZ INTEGRAL  ·  LOS CIMIENTOS DEL AJEDREZ</a:t>
            </a:r>
          </a:p>
        </p:txBody>
      </p:sp>
      <p:sp>
        <p:nvSpPr>
          <p:cNvPr id="8" name="TextBox 7"/>
          <p:cNvSpPr txBox="1"/>
          <p:nvPr/>
        </p:nvSpPr>
        <p:spPr>
          <a:xfrm>
            <a:off x="1920240" y="1097280"/>
            <a:ext cx="9509760" cy="365760"/>
          </a:xfrm>
          <a:prstGeom prst="rect">
            <a:avLst/>
          </a:prstGeom>
          <a:noFill/>
        </p:spPr>
        <p:txBody>
          <a:bodyPr wrap="square">
            <a:spAutoFit/>
          </a:bodyPr>
          <a:lstStyle/>
          <a:p>
            <a:r>
              <a:rPr sz="1300" b="0">
                <a:solidFill>
                  <a:srgbClr val="9FB3C8"/>
                </a:solidFill>
                <a:latin typeface="Calibri"/>
              </a:rPr>
              <a:t>Bloque 1 · Las primeras herramientas</a:t>
            </a:r>
          </a:p>
        </p:txBody>
      </p:sp>
      <p:sp>
        <p:nvSpPr>
          <p:cNvPr id="9" name="TextBox 8"/>
          <p:cNvSpPr txBox="1"/>
          <p:nvPr/>
        </p:nvSpPr>
        <p:spPr>
          <a:xfrm>
            <a:off x="640080" y="2651760"/>
            <a:ext cx="10881360" cy="2011680"/>
          </a:xfrm>
          <a:prstGeom prst="rect">
            <a:avLst/>
          </a:prstGeom>
          <a:noFill/>
        </p:spPr>
        <p:txBody>
          <a:bodyPr wrap="square">
            <a:spAutoFit/>
          </a:bodyPr>
          <a:lstStyle/>
          <a:p>
            <a:r>
              <a:rPr sz="4000" b="1">
                <a:solidFill>
                  <a:srgbClr val="FFFFFF"/>
                </a:solidFill>
                <a:latin typeface="Cambria"/>
              </a:rPr>
              <a:t>Dama contra peón</a:t>
            </a:r>
          </a:p>
        </p:txBody>
      </p:sp>
      <p:sp>
        <p:nvSpPr>
          <p:cNvPr id="10" name="TextBox 9"/>
          <p:cNvSpPr txBox="1"/>
          <p:nvPr/>
        </p:nvSpPr>
        <p:spPr>
          <a:xfrm>
            <a:off x="640080" y="4617720"/>
            <a:ext cx="9601200" cy="914400"/>
          </a:xfrm>
          <a:prstGeom prst="rect">
            <a:avLst/>
          </a:prstGeom>
          <a:noFill/>
        </p:spPr>
        <p:txBody>
          <a:bodyPr wrap="square">
            <a:spAutoFit/>
          </a:bodyPr>
          <a:lstStyle/>
          <a:p>
            <a:r>
              <a:rPr sz="1800" b="0">
                <a:solidFill>
                  <a:srgbClr val="CADCFC"/>
                </a:solidFill>
                <a:latin typeface="Calibri"/>
              </a:rPr>
              <a:t>La dama le gana a un peón en séptima con un método de jaques y clavadas. La excepción son los peones de alfil y de torre.</a:t>
            </a:r>
          </a:p>
        </p:txBody>
      </p:sp>
      <p:sp>
        <p:nvSpPr>
          <p:cNvPr id="11" name="TextBox 10"/>
          <p:cNvSpPr txBox="1"/>
          <p:nvPr/>
        </p:nvSpPr>
        <p:spPr>
          <a:xfrm>
            <a:off x="640080" y="6309360"/>
            <a:ext cx="5486400" cy="365760"/>
          </a:xfrm>
          <a:prstGeom prst="rect">
            <a:avLst/>
          </a:prstGeom>
          <a:noFill/>
        </p:spPr>
        <p:txBody>
          <a:bodyPr wrap="square">
            <a:spAutoFit/>
          </a:bodyPr>
          <a:lstStyle/>
          <a:p>
            <a:r>
              <a:rPr sz="1100" b="0">
                <a:solidFill>
                  <a:srgbClr val="627D98"/>
                </a:solidFill>
                <a:latin typeface="Calibri"/>
              </a:rPr>
              <a:t>ajedrez-integral.com</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548640" y="502920"/>
            <a:ext cx="502920" cy="50292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502920" cy="502920"/>
          </a:xfrm>
          <a:prstGeom prst="rect">
            <a:avLst/>
          </a:prstGeom>
          <a:noFill/>
        </p:spPr>
        <p:txBody>
          <a:bodyPr wrap="square">
            <a:spAutoFit/>
          </a:bodyPr>
          <a:lstStyle/>
          <a:p>
            <a:pPr algn="ctr"/>
            <a:r>
              <a:rPr sz="2000" b="0">
                <a:solidFill>
                  <a:srgbClr val="0A1F33"/>
                </a:solidFill>
                <a:latin typeface="Calibri"/>
              </a:rPr>
              <a:t>♟</a:t>
            </a:r>
          </a:p>
        </p:txBody>
      </p:sp>
      <p:sp>
        <p:nvSpPr>
          <p:cNvPr id="4" name="TextBox 3"/>
          <p:cNvSpPr txBox="1"/>
          <p:nvPr/>
        </p:nvSpPr>
        <p:spPr>
          <a:xfrm>
            <a:off x="1234440" y="530352"/>
            <a:ext cx="7315200" cy="457200"/>
          </a:xfrm>
          <a:prstGeom prst="rect">
            <a:avLst/>
          </a:prstGeom>
          <a:noFill/>
        </p:spPr>
        <p:txBody>
          <a:bodyPr wrap="square">
            <a:spAutoFit/>
          </a:bodyPr>
          <a:lstStyle/>
          <a:p>
            <a:r>
              <a:rPr sz="1400" b="1">
                <a:solidFill>
                  <a:srgbClr val="DE911D"/>
                </a:solidFill>
                <a:latin typeface="Calibri"/>
              </a:rPr>
              <a:t>CONCEPTO CLAVE</a:t>
            </a:r>
          </a:p>
        </p:txBody>
      </p:sp>
      <p:sp>
        <p:nvSpPr>
          <p:cNvPr id="5" name="TextBox 4"/>
          <p:cNvSpPr txBox="1"/>
          <p:nvPr/>
        </p:nvSpPr>
        <p:spPr>
          <a:xfrm>
            <a:off x="548640" y="1051560"/>
            <a:ext cx="11064240" cy="822960"/>
          </a:xfrm>
          <a:prstGeom prst="rect">
            <a:avLst/>
          </a:prstGeom>
          <a:noFill/>
        </p:spPr>
        <p:txBody>
          <a:bodyPr wrap="square">
            <a:spAutoFit/>
          </a:bodyPr>
          <a:lstStyle/>
          <a:p>
            <a:r>
              <a:rPr sz="2600" b="1">
                <a:solidFill>
                  <a:srgbClr val="0A1F33"/>
                </a:solidFill>
                <a:latin typeface="Cambria"/>
              </a:rPr>
              <a:t>Dama contra peón</a:t>
            </a:r>
          </a:p>
        </p:txBody>
      </p:sp>
      <p:sp>
        <p:nvSpPr>
          <p:cNvPr id="6" name="Rectangle 5"/>
          <p:cNvSpPr/>
          <p:nvPr/>
        </p:nvSpPr>
        <p:spPr>
          <a:xfrm>
            <a:off x="548640" y="1965960"/>
            <a:ext cx="11064240" cy="4297680"/>
          </a:xfrm>
          <a:prstGeom prst="rect">
            <a:avLst/>
          </a:prstGeom>
          <a:solidFill>
            <a:srgbClr val="F0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331720"/>
            <a:ext cx="10241280" cy="3566160"/>
          </a:xfrm>
          <a:prstGeom prst="rect">
            <a:avLst/>
          </a:prstGeom>
          <a:noFill/>
        </p:spPr>
        <p:txBody>
          <a:bodyPr wrap="square">
            <a:spAutoFit/>
          </a:bodyPr>
          <a:lstStyle/>
          <a:p>
            <a:r>
              <a:rPr sz="1600" b="0">
                <a:solidFill>
                  <a:srgbClr val="334E68"/>
                </a:solidFill>
                <a:latin typeface="Calibri"/>
              </a:rPr>
              <a:t>Cuando un bando corona y el otro tiene un peón a punto de coronar, defendido por su rey, la dama suele ganar, pero hace falta método. La idea es obligar al rey rival a ponerse delante de su propio peón, en la casilla de coronación. Mientras el rey está ahí tapando el peón, el bando de la dama gana un tiempo para acercar su rey. Repitiendo el proceso, el rey llega y entre la dama y el rey ganan el peón o dan mate.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548640" y="502920"/>
            <a:ext cx="502920" cy="50292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502920" cy="502920"/>
          </a:xfrm>
          <a:prstGeom prst="rect">
            <a:avLst/>
          </a:prstGeom>
          <a:noFill/>
        </p:spPr>
        <p:txBody>
          <a:bodyPr wrap="square">
            <a:spAutoFit/>
          </a:bodyPr>
          <a:lstStyle/>
          <a:p>
            <a:pPr algn="ctr"/>
            <a:r>
              <a:rPr sz="2000" b="0">
                <a:solidFill>
                  <a:srgbClr val="0A1F33"/>
                </a:solidFill>
                <a:latin typeface="Calibri"/>
              </a:rPr>
              <a:t>♟</a:t>
            </a:r>
          </a:p>
        </p:txBody>
      </p:sp>
      <p:sp>
        <p:nvSpPr>
          <p:cNvPr id="4" name="TextBox 3"/>
          <p:cNvSpPr txBox="1"/>
          <p:nvPr/>
        </p:nvSpPr>
        <p:spPr>
          <a:xfrm>
            <a:off x="1234440" y="530352"/>
            <a:ext cx="7315200" cy="457200"/>
          </a:xfrm>
          <a:prstGeom prst="rect">
            <a:avLst/>
          </a:prstGeom>
          <a:noFill/>
        </p:spPr>
        <p:txBody>
          <a:bodyPr wrap="square">
            <a:spAutoFit/>
          </a:bodyPr>
          <a:lstStyle/>
          <a:p>
            <a:r>
              <a:rPr sz="1400" b="1">
                <a:solidFill>
                  <a:srgbClr val="DE911D"/>
                </a:solidFill>
                <a:latin typeface="Calibri"/>
              </a:rPr>
              <a:t>CONCEPTO CLAVE</a:t>
            </a:r>
          </a:p>
        </p:txBody>
      </p:sp>
      <p:sp>
        <p:nvSpPr>
          <p:cNvPr id="5" name="TextBox 4"/>
          <p:cNvSpPr txBox="1"/>
          <p:nvPr/>
        </p:nvSpPr>
        <p:spPr>
          <a:xfrm>
            <a:off x="548640" y="1051560"/>
            <a:ext cx="11064240" cy="822960"/>
          </a:xfrm>
          <a:prstGeom prst="rect">
            <a:avLst/>
          </a:prstGeom>
          <a:noFill/>
        </p:spPr>
        <p:txBody>
          <a:bodyPr wrap="square">
            <a:spAutoFit/>
          </a:bodyPr>
          <a:lstStyle/>
          <a:p>
            <a:r>
              <a:rPr sz="2600" b="1">
                <a:solidFill>
                  <a:srgbClr val="0A1F33"/>
                </a:solidFill>
                <a:latin typeface="Cambria"/>
              </a:rPr>
              <a:t>Dama contra peón</a:t>
            </a:r>
          </a:p>
        </p:txBody>
      </p:sp>
      <p:sp>
        <p:nvSpPr>
          <p:cNvPr id="6" name="Rectangle 5"/>
          <p:cNvSpPr/>
          <p:nvPr/>
        </p:nvSpPr>
        <p:spPr>
          <a:xfrm>
            <a:off x="548640" y="1965960"/>
            <a:ext cx="11064240" cy="4297680"/>
          </a:xfrm>
          <a:prstGeom prst="rect">
            <a:avLst/>
          </a:prstGeom>
          <a:solidFill>
            <a:srgbClr val="F0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331720"/>
            <a:ext cx="10241280" cy="3566160"/>
          </a:xfrm>
          <a:prstGeom prst="rect">
            <a:avLst/>
          </a:prstGeom>
          <a:noFill/>
        </p:spPr>
        <p:txBody>
          <a:bodyPr wrap="square">
            <a:spAutoFit/>
          </a:bodyPr>
          <a:lstStyle/>
          <a:p>
            <a:r>
              <a:rPr sz="1600" b="0">
                <a:solidFill>
                  <a:srgbClr val="334E68"/>
                </a:solidFill>
                <a:latin typeface="Calibri"/>
              </a:rPr>
              <a:t>Para lograrlo se usan jaques y clavadas que acercan la dama al peón, una jugada a la vez, siempre impidiendo que corone. Contra un peón central o de caballo esto funciona siempre. Contra un peón de alfil o de torre hay un problema: el rey defensor no necesita ponerse delante del peón, porque si la dama lo acorrala queda ahogado. En esos casos, en general es tablas, salvo que el rey atacante ya esté cerca.</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548640" y="502920"/>
            <a:ext cx="502920" cy="50292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502920" cy="502920"/>
          </a:xfrm>
          <a:prstGeom prst="rect">
            <a:avLst/>
          </a:prstGeom>
          <a:noFill/>
        </p:spPr>
        <p:txBody>
          <a:bodyPr wrap="square">
            <a:spAutoFit/>
          </a:bodyPr>
          <a:lstStyle/>
          <a:p>
            <a:pPr algn="ctr"/>
            <a:r>
              <a:rPr sz="2000" b="0">
                <a:solidFill>
                  <a:srgbClr val="0A1F33"/>
                </a:solidFill>
                <a:latin typeface="Calibri"/>
              </a:rPr>
              <a:t>♟</a:t>
            </a:r>
          </a:p>
        </p:txBody>
      </p:sp>
      <p:sp>
        <p:nvSpPr>
          <p:cNvPr id="4" name="TextBox 3"/>
          <p:cNvSpPr txBox="1"/>
          <p:nvPr/>
        </p:nvSpPr>
        <p:spPr>
          <a:xfrm>
            <a:off x="1234440" y="530352"/>
            <a:ext cx="7315200" cy="457200"/>
          </a:xfrm>
          <a:prstGeom prst="rect">
            <a:avLst/>
          </a:prstGeom>
          <a:noFill/>
        </p:spPr>
        <p:txBody>
          <a:bodyPr wrap="square">
            <a:spAutoFit/>
          </a:bodyPr>
          <a:lstStyle/>
          <a:p>
            <a:r>
              <a:rPr sz="1400" b="1">
                <a:solidFill>
                  <a:srgbClr val="DE911D"/>
                </a:solidFill>
                <a:latin typeface="Calibri"/>
              </a:rPr>
              <a:t>CONCEPTO CLAVE</a:t>
            </a:r>
          </a:p>
        </p:txBody>
      </p:sp>
      <p:sp>
        <p:nvSpPr>
          <p:cNvPr id="5" name="TextBox 4"/>
          <p:cNvSpPr txBox="1"/>
          <p:nvPr/>
        </p:nvSpPr>
        <p:spPr>
          <a:xfrm>
            <a:off x="548640" y="1051560"/>
            <a:ext cx="11064240" cy="822960"/>
          </a:xfrm>
          <a:prstGeom prst="rect">
            <a:avLst/>
          </a:prstGeom>
          <a:noFill/>
        </p:spPr>
        <p:txBody>
          <a:bodyPr wrap="square">
            <a:spAutoFit/>
          </a:bodyPr>
          <a:lstStyle/>
          <a:p>
            <a:r>
              <a:rPr sz="2600" b="1">
                <a:solidFill>
                  <a:srgbClr val="0A1F33"/>
                </a:solidFill>
                <a:latin typeface="Cambria"/>
              </a:rPr>
              <a:t>Dama contra peón</a:t>
            </a:r>
          </a:p>
        </p:txBody>
      </p:sp>
      <p:sp>
        <p:nvSpPr>
          <p:cNvPr id="6" name="Rectangle 5"/>
          <p:cNvSpPr/>
          <p:nvPr/>
        </p:nvSpPr>
        <p:spPr>
          <a:xfrm>
            <a:off x="548640" y="1965960"/>
            <a:ext cx="11064240" cy="4297680"/>
          </a:xfrm>
          <a:prstGeom prst="rect">
            <a:avLst/>
          </a:prstGeom>
          <a:solidFill>
            <a:srgbClr val="F0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331720"/>
            <a:ext cx="10241280" cy="3566160"/>
          </a:xfrm>
          <a:prstGeom prst="rect">
            <a:avLst/>
          </a:prstGeom>
          <a:noFill/>
        </p:spPr>
        <p:txBody>
          <a:bodyPr wrap="square">
            <a:spAutoFit/>
          </a:bodyPr>
          <a:lstStyle/>
          <a:p>
            <a:r>
              <a:rPr sz="1600" b="0">
                <a:solidFill>
                  <a:srgbClr val="334E68"/>
                </a:solidFill>
                <a:latin typeface="Calibri"/>
              </a:rPr>
              <a:t>El error típico es dar jaques desde lejos sin plan: el rey defensor se acerca al peón y la dama nunca gana el tiempo que necesita. Cada jaque tiene que acercar la dama, no solo molestar. Otro error es olvidar el ahogado: con un peón de torre o de alfil, el rey defensor busca justamente quedarse sin jugadas. Antes de cada jugada de dama, comprueba que el rival tiene alguna jugada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280160" y="-1463040"/>
            <a:ext cx="4114800" cy="4114800"/>
          </a:xfrm>
          <a:prstGeom prst="ellipse">
            <a:avLst/>
          </a:prstGeom>
          <a:solidFill>
            <a:srgbClr val="0A1F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5175504" y="822960"/>
            <a:ext cx="1828800" cy="182880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175504" y="822960"/>
            <a:ext cx="1828800" cy="1828800"/>
          </a:xfrm>
          <a:prstGeom prst="rect">
            <a:avLst/>
          </a:prstGeom>
          <a:noFill/>
        </p:spPr>
        <p:txBody>
          <a:bodyPr wrap="square">
            <a:spAutoFit/>
          </a:bodyPr>
          <a:lstStyle/>
          <a:p>
            <a:pPr algn="ctr"/>
            <a:r>
              <a:rPr sz="4400" b="1">
                <a:solidFill>
                  <a:srgbClr val="0A1F33"/>
                </a:solidFill>
                <a:latin typeface="Calibri"/>
              </a:rPr>
              <a:t>✔</a:t>
            </a:r>
          </a:p>
        </p:txBody>
      </p:sp>
      <p:sp>
        <p:nvSpPr>
          <p:cNvPr id="6" name="TextBox 5"/>
          <p:cNvSpPr txBox="1"/>
          <p:nvPr/>
        </p:nvSpPr>
        <p:spPr>
          <a:xfrm>
            <a:off x="548640" y="2880360"/>
            <a:ext cx="11064240" cy="457200"/>
          </a:xfrm>
          <a:prstGeom prst="rect">
            <a:avLst/>
          </a:prstGeom>
          <a:noFill/>
        </p:spPr>
        <p:txBody>
          <a:bodyPr wrap="square">
            <a:spAutoFit/>
          </a:bodyPr>
          <a:lstStyle/>
          <a:p>
            <a:pPr algn="ctr"/>
            <a:r>
              <a:rPr sz="1400" b="1">
                <a:solidFill>
                  <a:srgbClr val="F0B429"/>
                </a:solidFill>
                <a:latin typeface="Calibri"/>
              </a:rPr>
              <a:t>PARA PRACTICAR</a:t>
            </a:r>
          </a:p>
        </p:txBody>
      </p:sp>
      <p:sp>
        <p:nvSpPr>
          <p:cNvPr id="7" name="TextBox 6"/>
          <p:cNvSpPr txBox="1"/>
          <p:nvPr/>
        </p:nvSpPr>
        <p:spPr>
          <a:xfrm>
            <a:off x="1280160" y="3383280"/>
            <a:ext cx="9601200" cy="2377440"/>
          </a:xfrm>
          <a:prstGeom prst="rect">
            <a:avLst/>
          </a:prstGeom>
          <a:noFill/>
        </p:spPr>
        <p:txBody>
          <a:bodyPr wrap="square">
            <a:spAutoFit/>
          </a:bodyPr>
          <a:lstStyle/>
          <a:p>
            <a:pPr algn="ctr"/>
            <a:r>
              <a:rPr sz="2200" b="0">
                <a:solidFill>
                  <a:srgbClr val="FFFFFF"/>
                </a:solidFill>
                <a:latin typeface="Cambria"/>
              </a:rPr>
              <a:t>Pon dama y rey contra rey y peón en séptima, con el rey rival al lado del peón, y practica el método con un peón central hasta ganarlo sin dudar. Después prueba con un peón de alfil y mira dónde aparece el ahogado.</a:t>
            </a:r>
          </a:p>
        </p:txBody>
      </p:sp>
      <p:sp>
        <p:nvSpPr>
          <p:cNvPr id="8" name="TextBox 7"/>
          <p:cNvSpPr txBox="1"/>
          <p:nvPr/>
        </p:nvSpPr>
        <p:spPr>
          <a:xfrm>
            <a:off x="548640" y="6263640"/>
            <a:ext cx="11064240" cy="365760"/>
          </a:xfrm>
          <a:prstGeom prst="rect">
            <a:avLst/>
          </a:prstGeom>
          <a:noFill/>
        </p:spPr>
        <p:txBody>
          <a:bodyPr wrap="square">
            <a:spAutoFit/>
          </a:bodyPr>
          <a:lstStyle/>
          <a:p>
            <a:pPr algn="ctr"/>
            <a:r>
              <a:rPr sz="1200" b="0">
                <a:solidFill>
                  <a:srgbClr val="9FB3C8"/>
                </a:solidFill>
                <a:latin typeface="Calibri"/>
              </a:rPr>
              <a:t>Los cimientos del ajedrez · Lección 16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