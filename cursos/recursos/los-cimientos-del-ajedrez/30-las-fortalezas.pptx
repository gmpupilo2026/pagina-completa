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692640" y="-1463040"/>
            <a:ext cx="4572000" cy="4572000"/>
          </a:xfrm>
          <a:prstGeom prst="ellipse">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645920" y="4937760"/>
            <a:ext cx="3840480" cy="3840480"/>
          </a:xfrm>
          <a:prstGeom prst="ellipse">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594360"/>
            <a:ext cx="1005840" cy="100584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594360"/>
            <a:ext cx="1005840" cy="1005840"/>
          </a:xfrm>
          <a:prstGeom prst="rect">
            <a:avLst/>
          </a:prstGeom>
          <a:noFill/>
        </p:spPr>
        <p:txBody>
          <a:bodyPr wrap="square">
            <a:spAutoFit/>
          </a:bodyPr>
          <a:lstStyle/>
          <a:p>
            <a:pPr algn="ctr"/>
            <a:r>
              <a:rPr sz="3200" b="1">
                <a:solidFill>
                  <a:srgbClr val="0A1F33"/>
                </a:solidFill>
                <a:latin typeface="Calibri"/>
              </a:rPr>
              <a:t>30</a:t>
            </a:r>
          </a:p>
        </p:txBody>
      </p:sp>
      <p:sp>
        <p:nvSpPr>
          <p:cNvPr id="7" name="TextBox 6"/>
          <p:cNvSpPr txBox="1"/>
          <p:nvPr/>
        </p:nvSpPr>
        <p:spPr>
          <a:xfrm>
            <a:off x="1920240" y="685800"/>
            <a:ext cx="9509760" cy="457200"/>
          </a:xfrm>
          <a:prstGeom prst="rect">
            <a:avLst/>
          </a:prstGeom>
          <a:noFill/>
        </p:spPr>
        <p:txBody>
          <a:bodyPr wrap="square">
            <a:spAutoFit/>
          </a:bodyPr>
          <a:lstStyle/>
          <a:p>
            <a:r>
              <a:rPr sz="1300" b="1">
                <a:solidFill>
                  <a:srgbClr val="F0B429"/>
                </a:solidFill>
                <a:latin typeface="Calibri"/>
              </a:rPr>
              <a:t>AJEDREZ INTEGRAL  ·  LOS CIMIENTOS DEL AJEDREZ</a:t>
            </a:r>
          </a:p>
        </p:txBody>
      </p:sp>
      <p:sp>
        <p:nvSpPr>
          <p:cNvPr id="8" name="TextBox 7"/>
          <p:cNvSpPr txBox="1"/>
          <p:nvPr/>
        </p:nvSpPr>
        <p:spPr>
          <a:xfrm>
            <a:off x="1920240" y="1097280"/>
            <a:ext cx="9509760" cy="365760"/>
          </a:xfrm>
          <a:prstGeom prst="rect">
            <a:avLst/>
          </a:prstGeom>
          <a:noFill/>
        </p:spPr>
        <p:txBody>
          <a:bodyPr wrap="square">
            <a:spAutoFit/>
          </a:bodyPr>
          <a:lstStyle/>
          <a:p>
            <a:r>
              <a:rPr sz="1300" b="0">
                <a:solidFill>
                  <a:srgbClr val="9FB3C8"/>
                </a:solidFill>
                <a:latin typeface="Calibri"/>
              </a:rPr>
              <a:t>Bloque 2 · Del patrón al plan</a:t>
            </a:r>
          </a:p>
        </p:txBody>
      </p:sp>
      <p:sp>
        <p:nvSpPr>
          <p:cNvPr id="9" name="TextBox 8"/>
          <p:cNvSpPr txBox="1"/>
          <p:nvPr/>
        </p:nvSpPr>
        <p:spPr>
          <a:xfrm>
            <a:off x="640080" y="2651760"/>
            <a:ext cx="10881360" cy="2011680"/>
          </a:xfrm>
          <a:prstGeom prst="rect">
            <a:avLst/>
          </a:prstGeom>
          <a:noFill/>
        </p:spPr>
        <p:txBody>
          <a:bodyPr wrap="square">
            <a:spAutoFit/>
          </a:bodyPr>
          <a:lstStyle/>
          <a:p>
            <a:r>
              <a:rPr sz="4000" b="1">
                <a:solidFill>
                  <a:srgbClr val="FFFFFF"/>
                </a:solidFill>
                <a:latin typeface="Cambria"/>
              </a:rPr>
              <a:t>Las fortalezas</a:t>
            </a:r>
          </a:p>
        </p:txBody>
      </p:sp>
      <p:sp>
        <p:nvSpPr>
          <p:cNvPr id="10" name="TextBox 9"/>
          <p:cNvSpPr txBox="1"/>
          <p:nvPr/>
        </p:nvSpPr>
        <p:spPr>
          <a:xfrm>
            <a:off x="640080" y="4617720"/>
            <a:ext cx="9601200" cy="914400"/>
          </a:xfrm>
          <a:prstGeom prst="rect">
            <a:avLst/>
          </a:prstGeom>
          <a:noFill/>
        </p:spPr>
        <p:txBody>
          <a:bodyPr wrap="square">
            <a:spAutoFit/>
          </a:bodyPr>
          <a:lstStyle/>
          <a:p>
            <a:r>
              <a:rPr sz="1800" b="0">
                <a:solidFill>
                  <a:srgbClr val="CADCFC"/>
                </a:solidFill>
                <a:latin typeface="Calibri"/>
              </a:rPr>
              <a:t>A veces el bando con menos material arma una posición que el otro no puede romper. Aprende a reconocer una fortaleza para salvar finales y para no regalar los ganados.</a:t>
            </a:r>
          </a:p>
        </p:txBody>
      </p:sp>
      <p:sp>
        <p:nvSpPr>
          <p:cNvPr id="11" name="TextBox 10"/>
          <p:cNvSpPr txBox="1"/>
          <p:nvPr/>
        </p:nvSpPr>
        <p:spPr>
          <a:xfrm>
            <a:off x="640080" y="6309360"/>
            <a:ext cx="5486400" cy="365760"/>
          </a:xfrm>
          <a:prstGeom prst="rect">
            <a:avLst/>
          </a:prstGeom>
          <a:noFill/>
        </p:spPr>
        <p:txBody>
          <a:bodyPr wrap="square">
            <a:spAutoFit/>
          </a:bodyPr>
          <a:lstStyle/>
          <a:p>
            <a:r>
              <a:rPr sz="1100" b="0">
                <a:solidFill>
                  <a:srgbClr val="627D98"/>
                </a:solidFill>
                <a:latin typeface="Calibri"/>
              </a:rPr>
              <a:t>ajedrez-integral.com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7315200" cy="457200"/>
          </a:xfrm>
          <a:prstGeom prst="rect">
            <a:avLst/>
          </a:prstGeom>
          <a:noFill/>
        </p:spPr>
        <p:txBody>
          <a:bodyPr wrap="square">
            <a:spAutoFit/>
          </a:bodyPr>
          <a:lstStyle/>
          <a:p>
            <a:r>
              <a:rPr sz="1400" b="1">
                <a:solidFill>
                  <a:srgbClr val="DE911D"/>
                </a:solidFill>
                <a:latin typeface="Calibri"/>
              </a:rPr>
              <a:t>CONCEPTO CLAVE</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Las fortalezas</a:t>
            </a:r>
          </a:p>
        </p:txBody>
      </p:sp>
      <p:sp>
        <p:nvSpPr>
          <p:cNvPr id="6" name="Rectangle 5"/>
          <p:cNvSpPr/>
          <p:nvPr/>
        </p:nvSpPr>
        <p:spPr>
          <a:xfrm>
            <a:off x="548640" y="1965960"/>
            <a:ext cx="11064240" cy="429768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331720"/>
            <a:ext cx="10241280" cy="3566160"/>
          </a:xfrm>
          <a:prstGeom prst="rect">
            <a:avLst/>
          </a:prstGeom>
          <a:noFill/>
        </p:spPr>
        <p:txBody>
          <a:bodyPr wrap="square">
            <a:spAutoFit/>
          </a:bodyPr>
          <a:lstStyle/>
          <a:p>
            <a:r>
              <a:rPr sz="1600" b="0">
                <a:solidFill>
                  <a:srgbClr val="334E68"/>
                </a:solidFill>
                <a:latin typeface="Calibri"/>
              </a:rPr>
              <a:t>Una fortaleza es una posición en la que el bando con menos material no deja entrar al rival, por más que este tenga piezas de sobra. El ejemplo más conocido es el del alfil y el peón de torre: si el alfil no controla la casilla de coronación y el rey defensor llega a esa esquina, es tablas, aunque haya un alfil y un peón de ventaja. Lo mismo pasa con cadenas de peones bloqueadas que el rey rival no puede cruzar, o con alfiles de distinto color en que tu alfil frena a los peones pasados.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7315200" cy="457200"/>
          </a:xfrm>
          <a:prstGeom prst="rect">
            <a:avLst/>
          </a:prstGeom>
          <a:noFill/>
        </p:spPr>
        <p:txBody>
          <a:bodyPr wrap="square">
            <a:spAutoFit/>
          </a:bodyPr>
          <a:lstStyle/>
          <a:p>
            <a:r>
              <a:rPr sz="1400" b="1">
                <a:solidFill>
                  <a:srgbClr val="DE911D"/>
                </a:solidFill>
                <a:latin typeface="Calibri"/>
              </a:rPr>
              <a:t>CONCEPTO CLAVE</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Las fortalezas</a:t>
            </a:r>
          </a:p>
        </p:txBody>
      </p:sp>
      <p:sp>
        <p:nvSpPr>
          <p:cNvPr id="6" name="Rectangle 5"/>
          <p:cNvSpPr/>
          <p:nvPr/>
        </p:nvSpPr>
        <p:spPr>
          <a:xfrm>
            <a:off x="548640" y="1965960"/>
            <a:ext cx="11064240" cy="429768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331720"/>
            <a:ext cx="10241280" cy="3566160"/>
          </a:xfrm>
          <a:prstGeom prst="rect">
            <a:avLst/>
          </a:prstGeom>
          <a:noFill/>
        </p:spPr>
        <p:txBody>
          <a:bodyPr wrap="square">
            <a:spAutoFit/>
          </a:bodyPr>
          <a:lstStyle/>
          <a:p>
            <a:r>
              <a:rPr sz="1600" b="0">
                <a:solidFill>
                  <a:srgbClr val="334E68"/>
                </a:solidFill>
                <a:latin typeface="Calibri"/>
              </a:rPr>
              <a:t>Las señales de una fortaleza: el rey del bando fuerte no tiene por dónde entrar, sus peones están bloqueados o no pueden avanzar sin perderse, y las casillas de entrada están cubiertas por tus peones o por tu pieza. Pregúntate qué haría el rival si tuviera diez jugadas seguidas: si ni así rompe, es fortaleza. Cuando estás peor, esa es la pregunta que te salva: no se trata de resistir jugada a jugada, sino de buscar una posición donde ya no te puedan hacer nada.</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7315200" cy="457200"/>
          </a:xfrm>
          <a:prstGeom prst="rect">
            <a:avLst/>
          </a:prstGeom>
          <a:noFill/>
        </p:spPr>
        <p:txBody>
          <a:bodyPr wrap="square">
            <a:spAutoFit/>
          </a:bodyPr>
          <a:lstStyle/>
          <a:p>
            <a:r>
              <a:rPr sz="1400" b="1">
                <a:solidFill>
                  <a:srgbClr val="DE911D"/>
                </a:solidFill>
                <a:latin typeface="Calibri"/>
              </a:rPr>
              <a:t>CONCEPTO CLAVE</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Las fortalezas</a:t>
            </a:r>
          </a:p>
        </p:txBody>
      </p:sp>
      <p:sp>
        <p:nvSpPr>
          <p:cNvPr id="6" name="Rectangle 5"/>
          <p:cNvSpPr/>
          <p:nvPr/>
        </p:nvSpPr>
        <p:spPr>
          <a:xfrm>
            <a:off x="548640" y="1965960"/>
            <a:ext cx="11064240" cy="429768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331720"/>
            <a:ext cx="10241280" cy="3566160"/>
          </a:xfrm>
          <a:prstGeom prst="rect">
            <a:avLst/>
          </a:prstGeom>
          <a:noFill/>
        </p:spPr>
        <p:txBody>
          <a:bodyPr wrap="square">
            <a:spAutoFit/>
          </a:bodyPr>
          <a:lstStyle/>
          <a:p>
            <a:r>
              <a:rPr sz="1600" b="0">
                <a:solidFill>
                  <a:srgbClr val="334E68"/>
                </a:solidFill>
                <a:latin typeface="Calibri"/>
              </a:rPr>
              <a:t>Como defensor, a veces conviene devolver material para llegar a la fortaleza: cambiar la pieza que te queda por los peones correctos, o llevar el rey a la esquina buena antes que nada. El error típico del defensor es mover un peón que no hacía falta y abrir una entrada. Y el del atacante es cambiar piezas hacia un final que parece ganado y no lo es: antes de simplificar, comprueba que el rey rival no puede encerrarse en su rincón.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280160" y="-1463040"/>
            <a:ext cx="4114800" cy="4114800"/>
          </a:xfrm>
          <a:prstGeom prst="ellipse">
            <a:avLst/>
          </a:prstGeom>
          <a:solidFill>
            <a:srgbClr val="0A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175504" y="822960"/>
            <a:ext cx="1828800" cy="182880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175504" y="822960"/>
            <a:ext cx="1828800" cy="1828800"/>
          </a:xfrm>
          <a:prstGeom prst="rect">
            <a:avLst/>
          </a:prstGeom>
          <a:noFill/>
        </p:spPr>
        <p:txBody>
          <a:bodyPr wrap="square">
            <a:spAutoFit/>
          </a:bodyPr>
          <a:lstStyle/>
          <a:p>
            <a:pPr algn="ctr"/>
            <a:r>
              <a:rPr sz="4400" b="1">
                <a:solidFill>
                  <a:srgbClr val="0A1F33"/>
                </a:solidFill>
                <a:latin typeface="Calibri"/>
              </a:rPr>
              <a:t>✔</a:t>
            </a:r>
          </a:p>
        </p:txBody>
      </p:sp>
      <p:sp>
        <p:nvSpPr>
          <p:cNvPr id="6" name="TextBox 5"/>
          <p:cNvSpPr txBox="1"/>
          <p:nvPr/>
        </p:nvSpPr>
        <p:spPr>
          <a:xfrm>
            <a:off x="548640" y="2880360"/>
            <a:ext cx="11064240" cy="457200"/>
          </a:xfrm>
          <a:prstGeom prst="rect">
            <a:avLst/>
          </a:prstGeom>
          <a:noFill/>
        </p:spPr>
        <p:txBody>
          <a:bodyPr wrap="square">
            <a:spAutoFit/>
          </a:bodyPr>
          <a:lstStyle/>
          <a:p>
            <a:pPr algn="ctr"/>
            <a:r>
              <a:rPr sz="1400" b="1">
                <a:solidFill>
                  <a:srgbClr val="F0B429"/>
                </a:solidFill>
                <a:latin typeface="Calibri"/>
              </a:rPr>
              <a:t>PARA PRACTICAR</a:t>
            </a:r>
          </a:p>
        </p:txBody>
      </p:sp>
      <p:sp>
        <p:nvSpPr>
          <p:cNvPr id="7" name="TextBox 6"/>
          <p:cNvSpPr txBox="1"/>
          <p:nvPr/>
        </p:nvSpPr>
        <p:spPr>
          <a:xfrm>
            <a:off x="1280160" y="3383280"/>
            <a:ext cx="9601200" cy="2377440"/>
          </a:xfrm>
          <a:prstGeom prst="rect">
            <a:avLst/>
          </a:prstGeom>
          <a:noFill/>
        </p:spPr>
        <p:txBody>
          <a:bodyPr wrap="square">
            <a:spAutoFit/>
          </a:bodyPr>
          <a:lstStyle/>
          <a:p>
            <a:pPr algn="ctr"/>
            <a:r>
              <a:rPr sz="2200" b="0">
                <a:solidFill>
                  <a:srgbClr val="FFFFFF"/>
                </a:solidFill>
                <a:latin typeface="Cambria"/>
              </a:rPr>
              <a:t>Arma en el tablero rey, alfil y peón de torre contra rey, con el alfil del color que no controla la casilla de coronación. Prueba con un compañero desde varias posiciones si el rey defensor llega a la esquina.</a:t>
            </a:r>
          </a:p>
        </p:txBody>
      </p:sp>
      <p:sp>
        <p:nvSpPr>
          <p:cNvPr id="8" name="TextBox 7"/>
          <p:cNvSpPr txBox="1"/>
          <p:nvPr/>
        </p:nvSpPr>
        <p:spPr>
          <a:xfrm>
            <a:off x="548640" y="6263640"/>
            <a:ext cx="11064240" cy="365760"/>
          </a:xfrm>
          <a:prstGeom prst="rect">
            <a:avLst/>
          </a:prstGeom>
          <a:noFill/>
        </p:spPr>
        <p:txBody>
          <a:bodyPr wrap="square">
            <a:spAutoFit/>
          </a:bodyPr>
          <a:lstStyle/>
          <a:p>
            <a:pPr algn="ctr"/>
            <a:r>
              <a:rPr sz="1200" b="0">
                <a:solidFill>
                  <a:srgbClr val="9FB3C8"/>
                </a:solidFill>
                <a:latin typeface="Calibri"/>
              </a:rPr>
              <a:t>Los cimientos del ajedrez · Lección 30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