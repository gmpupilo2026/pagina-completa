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9692640" y="-1463040"/>
            <a:ext cx="4572000" cy="457200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645920" y="4937760"/>
            <a:ext cx="3840480" cy="3840480"/>
          </a:xfrm>
          <a:prstGeom prst="ellipse">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40080" y="594360"/>
            <a:ext cx="1005840" cy="100584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94360"/>
            <a:ext cx="1005840" cy="1005840"/>
          </a:xfrm>
          <a:prstGeom prst="rect">
            <a:avLst/>
          </a:prstGeom>
          <a:noFill/>
        </p:spPr>
        <p:txBody>
          <a:bodyPr wrap="square">
            <a:spAutoFit/>
          </a:bodyPr>
          <a:lstStyle/>
          <a:p>
            <a:pPr algn="ctr"/>
            <a:r>
              <a:rPr sz="3200" b="1">
                <a:solidFill>
                  <a:srgbClr val="0A1F33"/>
                </a:solidFill>
                <a:latin typeface="Calibri"/>
              </a:rPr>
              <a:t>28</a:t>
            </a:r>
          </a:p>
        </p:txBody>
      </p:sp>
      <p:sp>
        <p:nvSpPr>
          <p:cNvPr id="7" name="TextBox 6"/>
          <p:cNvSpPr txBox="1"/>
          <p:nvPr/>
        </p:nvSpPr>
        <p:spPr>
          <a:xfrm>
            <a:off x="1920240" y="685800"/>
            <a:ext cx="9509760" cy="457200"/>
          </a:xfrm>
          <a:prstGeom prst="rect">
            <a:avLst/>
          </a:prstGeom>
          <a:noFill/>
        </p:spPr>
        <p:txBody>
          <a:bodyPr wrap="square">
            <a:spAutoFit/>
          </a:bodyPr>
          <a:lstStyle/>
          <a:p>
            <a:r>
              <a:rPr sz="1300" b="1">
                <a:solidFill>
                  <a:srgbClr val="F0B429"/>
                </a:solidFill>
                <a:latin typeface="Calibri"/>
              </a:rPr>
              <a:t>AJEDREZ INTEGRAL  ·  GANAR CON POCO</a:t>
            </a:r>
          </a:p>
        </p:txBody>
      </p:sp>
      <p:sp>
        <p:nvSpPr>
          <p:cNvPr id="8" name="TextBox 7"/>
          <p:cNvSpPr txBox="1"/>
          <p:nvPr/>
        </p:nvSpPr>
        <p:spPr>
          <a:xfrm>
            <a:off x="1920240" y="1097280"/>
            <a:ext cx="9509760" cy="365760"/>
          </a:xfrm>
          <a:prstGeom prst="rect">
            <a:avLst/>
          </a:prstGeom>
          <a:noFill/>
        </p:spPr>
        <p:txBody>
          <a:bodyPr wrap="square">
            <a:spAutoFit/>
          </a:bodyPr>
          <a:lstStyle/>
          <a:p>
            <a:r>
              <a:rPr sz="1300" b="0">
                <a:solidFill>
                  <a:srgbClr val="9FB3C8"/>
                </a:solidFill>
                <a:latin typeface="Calibri"/>
              </a:rPr>
              <a:t>Bloque 7 · Las partidas del libro</a:t>
            </a:r>
          </a:p>
        </p:txBody>
      </p:sp>
      <p:sp>
        <p:nvSpPr>
          <p:cNvPr id="9" name="TextBox 8"/>
          <p:cNvSpPr txBox="1"/>
          <p:nvPr/>
        </p:nvSpPr>
        <p:spPr>
          <a:xfrm>
            <a:off x="640080" y="2651760"/>
            <a:ext cx="10881360" cy="2011680"/>
          </a:xfrm>
          <a:prstGeom prst="rect">
            <a:avLst/>
          </a:prstGeom>
          <a:noFill/>
        </p:spPr>
        <p:txBody>
          <a:bodyPr wrap="square">
            <a:spAutoFit/>
          </a:bodyPr>
          <a:lstStyle/>
          <a:p>
            <a:r>
              <a:rPr sz="4000" b="1">
                <a:solidFill>
                  <a:srgbClr val="FFFFFF"/>
                </a:solidFill>
                <a:latin typeface="Cambria"/>
              </a:rPr>
              <a:t>Matulović – Botvinnik: las casillas que deja un peón</a:t>
            </a:r>
          </a:p>
        </p:txBody>
      </p:sp>
      <p:sp>
        <p:nvSpPr>
          <p:cNvPr id="10" name="TextBox 9"/>
          <p:cNvSpPr txBox="1"/>
          <p:nvPr/>
        </p:nvSpPr>
        <p:spPr>
          <a:xfrm>
            <a:off x="640080" y="4617720"/>
            <a:ext cx="9601200" cy="914400"/>
          </a:xfrm>
          <a:prstGeom prst="rect">
            <a:avLst/>
          </a:prstGeom>
          <a:noFill/>
        </p:spPr>
        <p:txBody>
          <a:bodyPr wrap="square">
            <a:spAutoFit/>
          </a:bodyPr>
          <a:lstStyle/>
          <a:p>
            <a:r>
              <a:rPr sz="1800" b="0">
                <a:solidFill>
                  <a:srgbClr val="CADCFC"/>
                </a:solidFill>
                <a:latin typeface="Calibri"/>
              </a:rPr>
              <a:t>Milan Matulović contra Mijaíl Botvinnik, Belgrado, 1969. Una red de casillas débiles.</a:t>
            </a:r>
          </a:p>
        </p:txBody>
      </p:sp>
      <p:sp>
        <p:nvSpPr>
          <p:cNvPr id="11" name="TextBox 10"/>
          <p:cNvSpPr txBox="1"/>
          <p:nvPr/>
        </p:nvSpPr>
        <p:spPr>
          <a:xfrm>
            <a:off x="640080" y="6309360"/>
            <a:ext cx="5486400" cy="365760"/>
          </a:xfrm>
          <a:prstGeom prst="rect">
            <a:avLst/>
          </a:prstGeom>
          <a:noFill/>
        </p:spPr>
        <p:txBody>
          <a:bodyPr wrap="square">
            <a:spAutoFit/>
          </a:bodyPr>
          <a:lstStyle/>
          <a:p>
            <a:r>
              <a:rPr sz="1100" b="0">
                <a:solidFill>
                  <a:srgbClr val="627D98"/>
                </a:solidFill>
                <a:latin typeface="Calibri"/>
              </a:rPr>
              <a:t>ajedrez-integral.com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Matulović – Botvinnik: las casillas que deja un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Un avance de peón de la apertura, hecho para cuidar una sola casilla, deja débiles varias casillas del mismo color. Botvinnik las ocupa una por una con sus piezas, cambia la pieza blanca más activa cuando puede y lleva la partida a un final donde su caballo y su rey entran por las casillas que ningún peón blanco puede cuidar.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548640" y="502920"/>
            <a:ext cx="502920" cy="50292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02920"/>
            <a:ext cx="502920" cy="502920"/>
          </a:xfrm>
          <a:prstGeom prst="rect">
            <a:avLst/>
          </a:prstGeom>
          <a:noFill/>
        </p:spPr>
        <p:txBody>
          <a:bodyPr wrap="square">
            <a:spAutoFit/>
          </a:bodyPr>
          <a:lstStyle/>
          <a:p>
            <a:pPr algn="ctr"/>
            <a:r>
              <a:rPr sz="2000" b="0">
                <a:solidFill>
                  <a:srgbClr val="0A1F33"/>
                </a:solidFill>
                <a:latin typeface="Calibri"/>
              </a:rPr>
              <a:t>♟</a:t>
            </a:r>
          </a:p>
        </p:txBody>
      </p:sp>
      <p:sp>
        <p:nvSpPr>
          <p:cNvPr id="4" name="TextBox 3"/>
          <p:cNvSpPr txBox="1"/>
          <p:nvPr/>
        </p:nvSpPr>
        <p:spPr>
          <a:xfrm>
            <a:off x="1234440" y="530352"/>
            <a:ext cx="7315200" cy="457200"/>
          </a:xfrm>
          <a:prstGeom prst="rect">
            <a:avLst/>
          </a:prstGeom>
          <a:noFill/>
        </p:spPr>
        <p:txBody>
          <a:bodyPr wrap="square">
            <a:spAutoFit/>
          </a:bodyPr>
          <a:lstStyle/>
          <a:p>
            <a:r>
              <a:rPr sz="1400" b="1">
                <a:solidFill>
                  <a:srgbClr val="DE911D"/>
                </a:solidFill>
                <a:latin typeface="Calibri"/>
              </a:rPr>
              <a:t>CONCEPTO CLAVE</a:t>
            </a:r>
          </a:p>
        </p:txBody>
      </p:sp>
      <p:sp>
        <p:nvSpPr>
          <p:cNvPr id="5" name="TextBox 4"/>
          <p:cNvSpPr txBox="1"/>
          <p:nvPr/>
        </p:nvSpPr>
        <p:spPr>
          <a:xfrm>
            <a:off x="548640" y="1051560"/>
            <a:ext cx="11064240" cy="822960"/>
          </a:xfrm>
          <a:prstGeom prst="rect">
            <a:avLst/>
          </a:prstGeom>
          <a:noFill/>
        </p:spPr>
        <p:txBody>
          <a:bodyPr wrap="square">
            <a:spAutoFit/>
          </a:bodyPr>
          <a:lstStyle/>
          <a:p>
            <a:r>
              <a:rPr sz="2600" b="1">
                <a:solidFill>
                  <a:srgbClr val="0A1F33"/>
                </a:solidFill>
                <a:latin typeface="Cambria"/>
              </a:rPr>
              <a:t>Matulović – Botvinnik: las casillas que deja un peón</a:t>
            </a:r>
          </a:p>
        </p:txBody>
      </p:sp>
      <p:sp>
        <p:nvSpPr>
          <p:cNvPr id="6" name="Rectangle 5"/>
          <p:cNvSpPr/>
          <p:nvPr/>
        </p:nvSpPr>
        <p:spPr>
          <a:xfrm>
            <a:off x="548640" y="1965960"/>
            <a:ext cx="11064240" cy="4297680"/>
          </a:xfrm>
          <a:prstGeom prst="rect">
            <a:avLst/>
          </a:prstGeom>
          <a:solidFill>
            <a:srgbClr val="F0F4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005840" y="2331720"/>
            <a:ext cx="10241280" cy="3566160"/>
          </a:xfrm>
          <a:prstGeom prst="rect">
            <a:avLst/>
          </a:prstGeom>
          <a:noFill/>
        </p:spPr>
        <p:txBody>
          <a:bodyPr wrap="square">
            <a:spAutoFit/>
          </a:bodyPr>
          <a:lstStyle/>
          <a:p>
            <a:r>
              <a:rPr sz="1600" b="0">
                <a:solidFill>
                  <a:srgbClr val="334E68"/>
                </a:solidFill>
                <a:latin typeface="Calibri"/>
              </a:rPr>
              <a:t>Recórrela jugada a jugada en el tablero (Defensa Pirc; ganan las negras). En los momentos clave el visor te pide que encuentres la jugada antes de verla: todas están comprobadas con Stockfish, y en cada una la jugada de la partida es la mejor por al menos medio peón. Lo que hay que llevarse: Cada avance de peón deja casillas que ya no podrá defender: hay que saber cuáles. Un caballo apoyado por un peón, en una casilla que ningún peón rival puede atacar, vale más que una torre pasiva. Cambiar la pieza más activa del rival suele ser un buen negocio.</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A4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80160" y="-1463040"/>
            <a:ext cx="4114800" cy="4114800"/>
          </a:xfrm>
          <a:prstGeom prst="ellipse">
            <a:avLst/>
          </a:prstGeom>
          <a:solidFill>
            <a:srgbClr val="0A1F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5175504" y="822960"/>
            <a:ext cx="1828800" cy="1828800"/>
          </a:xfrm>
          <a:prstGeom prst="ellipse">
            <a:avLst/>
          </a:prstGeom>
          <a:solidFill>
            <a:srgbClr val="DE911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175504" y="822960"/>
            <a:ext cx="1828800" cy="1828800"/>
          </a:xfrm>
          <a:prstGeom prst="rect">
            <a:avLst/>
          </a:prstGeom>
          <a:noFill/>
        </p:spPr>
        <p:txBody>
          <a:bodyPr wrap="square">
            <a:spAutoFit/>
          </a:bodyPr>
          <a:lstStyle/>
          <a:p>
            <a:pPr algn="ctr"/>
            <a:r>
              <a:rPr sz="4400" b="1">
                <a:solidFill>
                  <a:srgbClr val="0A1F33"/>
                </a:solidFill>
                <a:latin typeface="Calibri"/>
              </a:rPr>
              <a:t>✔</a:t>
            </a:r>
          </a:p>
        </p:txBody>
      </p:sp>
      <p:sp>
        <p:nvSpPr>
          <p:cNvPr id="6" name="TextBox 5"/>
          <p:cNvSpPr txBox="1"/>
          <p:nvPr/>
        </p:nvSpPr>
        <p:spPr>
          <a:xfrm>
            <a:off x="548640" y="2880360"/>
            <a:ext cx="11064240" cy="457200"/>
          </a:xfrm>
          <a:prstGeom prst="rect">
            <a:avLst/>
          </a:prstGeom>
          <a:noFill/>
        </p:spPr>
        <p:txBody>
          <a:bodyPr wrap="square">
            <a:spAutoFit/>
          </a:bodyPr>
          <a:lstStyle/>
          <a:p>
            <a:pPr algn="ctr"/>
            <a:r>
              <a:rPr sz="1400" b="1">
                <a:solidFill>
                  <a:srgbClr val="F0B429"/>
                </a:solidFill>
                <a:latin typeface="Calibri"/>
              </a:rPr>
              <a:t>PARA PRACTICAR</a:t>
            </a:r>
          </a:p>
        </p:txBody>
      </p:sp>
      <p:sp>
        <p:nvSpPr>
          <p:cNvPr id="7" name="TextBox 6"/>
          <p:cNvSpPr txBox="1"/>
          <p:nvPr/>
        </p:nvSpPr>
        <p:spPr>
          <a:xfrm>
            <a:off x="1280160" y="3383280"/>
            <a:ext cx="9601200" cy="2377440"/>
          </a:xfrm>
          <a:prstGeom prst="rect">
            <a:avLst/>
          </a:prstGeom>
          <a:noFill/>
        </p:spPr>
        <p:txBody>
          <a:bodyPr wrap="square">
            <a:spAutoFit/>
          </a:bodyPr>
          <a:lstStyle/>
          <a:p>
            <a:pPr algn="ctr"/>
            <a:r>
              <a:rPr sz="2200" b="0">
                <a:solidFill>
                  <a:srgbClr val="FFFFFF"/>
                </a:solidFill>
                <a:latin typeface="Cambria"/>
              </a:rPr>
              <a:t>Antes de avanzar un peón, di qué casillas deja de cuidar. Busca en la posición del rival una casilla que ningún peón suyo pueda atacar, y lleva ahí un caballo.</a:t>
            </a:r>
          </a:p>
        </p:txBody>
      </p:sp>
      <p:sp>
        <p:nvSpPr>
          <p:cNvPr id="8" name="TextBox 7"/>
          <p:cNvSpPr txBox="1"/>
          <p:nvPr/>
        </p:nvSpPr>
        <p:spPr>
          <a:xfrm>
            <a:off x="548640" y="6263640"/>
            <a:ext cx="11064240" cy="365760"/>
          </a:xfrm>
          <a:prstGeom prst="rect">
            <a:avLst/>
          </a:prstGeom>
          <a:noFill/>
        </p:spPr>
        <p:txBody>
          <a:bodyPr wrap="square">
            <a:spAutoFit/>
          </a:bodyPr>
          <a:lstStyle/>
          <a:p>
            <a:pPr algn="ctr"/>
            <a:r>
              <a:rPr sz="1200" b="0">
                <a:solidFill>
                  <a:srgbClr val="9FB3C8"/>
                </a:solidFill>
                <a:latin typeface="Calibri"/>
              </a:rPr>
              <a:t>Ganar con poco · Lección 28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