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92640" y="-1463040"/>
            <a:ext cx="4572000" cy="457200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937760"/>
            <a:ext cx="3840480" cy="384048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594360"/>
            <a:ext cx="1005840" cy="100584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94360"/>
            <a:ext cx="1005840" cy="1005840"/>
          </a:xfrm>
          <a:prstGeom prst="rect">
            <a:avLst/>
          </a:prstGeom>
          <a:noFill/>
        </p:spPr>
        <p:txBody>
          <a:bodyPr wrap="square">
            <a:spAutoFit/>
          </a:bodyPr>
          <a:lstStyle/>
          <a:p>
            <a:pPr algn="ctr"/>
            <a:r>
              <a:rPr sz="3200" b="1">
                <a:solidFill>
                  <a:srgbClr val="0A1F33"/>
                </a:solidFill>
                <a:latin typeface="Calibri"/>
              </a:rPr>
              <a:t>8</a:t>
            </a:r>
          </a:p>
        </p:txBody>
      </p:sp>
      <p:sp>
        <p:nvSpPr>
          <p:cNvPr id="7" name="TextBox 6"/>
          <p:cNvSpPr txBox="1"/>
          <p:nvPr/>
        </p:nvSpPr>
        <p:spPr>
          <a:xfrm>
            <a:off x="1920240" y="685800"/>
            <a:ext cx="9509760" cy="457200"/>
          </a:xfrm>
          <a:prstGeom prst="rect">
            <a:avLst/>
          </a:prstGeom>
          <a:noFill/>
        </p:spPr>
        <p:txBody>
          <a:bodyPr wrap="square">
            <a:spAutoFit/>
          </a:bodyPr>
          <a:lstStyle/>
          <a:p>
            <a:r>
              <a:rPr sz="1300" b="1">
                <a:solidFill>
                  <a:srgbClr val="F0B429"/>
                </a:solidFill>
                <a:latin typeface="Calibri"/>
              </a:rPr>
              <a:t>AJEDREZ INTEGRAL  ·  ¿CAMBIO O NO CAMBIO?</a:t>
            </a:r>
          </a:p>
        </p:txBody>
      </p:sp>
      <p:sp>
        <p:nvSpPr>
          <p:cNvPr id="8" name="TextBox 7"/>
          <p:cNvSpPr txBox="1"/>
          <p:nvPr/>
        </p:nvSpPr>
        <p:spPr>
          <a:xfrm>
            <a:off x="1920240" y="1097280"/>
            <a:ext cx="9509760" cy="365760"/>
          </a:xfrm>
          <a:prstGeom prst="rect">
            <a:avLst/>
          </a:prstGeom>
          <a:noFill/>
        </p:spPr>
        <p:txBody>
          <a:bodyPr wrap="square">
            <a:spAutoFit/>
          </a:bodyPr>
          <a:lstStyle/>
          <a:p>
            <a:r>
              <a:rPr sz="1300" b="0">
                <a:solidFill>
                  <a:srgbClr val="9FB3C8"/>
                </a:solidFill>
                <a:latin typeface="Calibri"/>
              </a:rPr>
              <a:t>Bloque 2 · Alfiles y caballos</a:t>
            </a:r>
          </a:p>
        </p:txBody>
      </p:sp>
      <p:sp>
        <p:nvSpPr>
          <p:cNvPr id="9" name="TextBox 8"/>
          <p:cNvSpPr txBox="1"/>
          <p:nvPr/>
        </p:nvSpPr>
        <p:spPr>
          <a:xfrm>
            <a:off x="640080" y="2651760"/>
            <a:ext cx="10881360" cy="2011680"/>
          </a:xfrm>
          <a:prstGeom prst="rect">
            <a:avLst/>
          </a:prstGeom>
          <a:noFill/>
        </p:spPr>
        <p:txBody>
          <a:bodyPr wrap="square">
            <a:spAutoFit/>
          </a:bodyPr>
          <a:lstStyle/>
          <a:p>
            <a:r>
              <a:rPr sz="4000" b="1">
                <a:solidFill>
                  <a:srgbClr val="FFFFFF"/>
                </a:solidFill>
                <a:latin typeface="Cambria"/>
              </a:rPr>
              <a:t>Alfiles de distinto color</a:t>
            </a:r>
          </a:p>
        </p:txBody>
      </p:sp>
      <p:sp>
        <p:nvSpPr>
          <p:cNvPr id="10" name="TextBox 9"/>
          <p:cNvSpPr txBox="1"/>
          <p:nvPr/>
        </p:nvSpPr>
        <p:spPr>
          <a:xfrm>
            <a:off x="640080" y="4617720"/>
            <a:ext cx="9601200" cy="914400"/>
          </a:xfrm>
          <a:prstGeom prst="rect">
            <a:avLst/>
          </a:prstGeom>
          <a:noFill/>
        </p:spPr>
        <p:txBody>
          <a:bodyPr wrap="square">
            <a:spAutoFit/>
          </a:bodyPr>
          <a:lstStyle/>
          <a:p>
            <a:r>
              <a:rPr sz="1800" b="0">
                <a:solidFill>
                  <a:srgbClr val="CADCFC"/>
                </a:solidFill>
                <a:latin typeface="Calibri"/>
              </a:rPr>
              <a:t>En el final, son la gran esperanza del que se defiende. En el medio juego, la gran arma del que ataca.</a:t>
            </a:r>
          </a:p>
        </p:txBody>
      </p:sp>
      <p:sp>
        <p:nvSpPr>
          <p:cNvPr id="11" name="TextBox 10"/>
          <p:cNvSpPr txBox="1"/>
          <p:nvPr/>
        </p:nvSpPr>
        <p:spPr>
          <a:xfrm>
            <a:off x="640080" y="6309360"/>
            <a:ext cx="5486400" cy="365760"/>
          </a:xfrm>
          <a:prstGeom prst="rect">
            <a:avLst/>
          </a:prstGeom>
          <a:noFill/>
        </p:spPr>
        <p:txBody>
          <a:bodyPr wrap="square">
            <a:spAutoFit/>
          </a:bodyPr>
          <a:lstStyle/>
          <a:p>
            <a:r>
              <a:rPr sz="1100" b="0">
                <a:solidFill>
                  <a:srgbClr val="627D98"/>
                </a:solidFill>
                <a:latin typeface="Calibri"/>
              </a:rPr>
              <a:t>ajedrez-integral.com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Alfiles de distinto color</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Cuando a cada bando le queda un alfil y corren por casillas de distinto color, pasa algo curioso: ninguno de los dos alfiles puede disputarle casillas al otro. En el final, eso favorece al que se defiende, porque puede bloquear los peones rivales en casillas de su color y el alfil contrario no tiene cómo echarlo. Muchos finales con uno y hasta dos peones de menos son tablas por esa razón.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Alfiles de distinto color</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En el medio juego, la misma propiedad funciona al revés: el que ataca con su alfil sobre casillas que el alfil rival no puede cubrir tiene, en la práctica, una pieza de más en el ataque. Por eso el defensor con alfiles de distinto color quiere cambiar damas y torres, y el atacante quiere conservarlas.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Alfiles de distinto color</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Antes de un cambio que deje alfiles de distinto color, pregúntate en cuál de las dos situaciones vas a quedar. Si estás ganando un final, ese cambio puede regalar las tablas. Si estás defendiendo, puede ser tu salvación.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1463040"/>
            <a:ext cx="4114800" cy="4114800"/>
          </a:xfrm>
          <a:prstGeom prst="ellipse">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175504" y="822960"/>
            <a:ext cx="1828800" cy="182880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75504" y="822960"/>
            <a:ext cx="1828800" cy="1828800"/>
          </a:xfrm>
          <a:prstGeom prst="rect">
            <a:avLst/>
          </a:prstGeom>
          <a:noFill/>
        </p:spPr>
        <p:txBody>
          <a:bodyPr wrap="square">
            <a:spAutoFit/>
          </a:bodyPr>
          <a:lstStyle/>
          <a:p>
            <a:pPr algn="ctr"/>
            <a:r>
              <a:rPr sz="4400" b="1">
                <a:solidFill>
                  <a:srgbClr val="0A1F33"/>
                </a:solidFill>
                <a:latin typeface="Calibri"/>
              </a:rPr>
              <a:t>✔</a:t>
            </a:r>
          </a:p>
        </p:txBody>
      </p:sp>
      <p:sp>
        <p:nvSpPr>
          <p:cNvPr id="6" name="TextBox 5"/>
          <p:cNvSpPr txBox="1"/>
          <p:nvPr/>
        </p:nvSpPr>
        <p:spPr>
          <a:xfrm>
            <a:off x="548640" y="2880360"/>
            <a:ext cx="11064240" cy="457200"/>
          </a:xfrm>
          <a:prstGeom prst="rect">
            <a:avLst/>
          </a:prstGeom>
          <a:noFill/>
        </p:spPr>
        <p:txBody>
          <a:bodyPr wrap="square">
            <a:spAutoFit/>
          </a:bodyPr>
          <a:lstStyle/>
          <a:p>
            <a:pPr algn="ctr"/>
            <a:r>
              <a:rPr sz="1400" b="1">
                <a:solidFill>
                  <a:srgbClr val="F0B429"/>
                </a:solidFill>
                <a:latin typeface="Calibri"/>
              </a:rPr>
              <a:t>PARA PRACTICAR</a:t>
            </a:r>
          </a:p>
        </p:txBody>
      </p:sp>
      <p:sp>
        <p:nvSpPr>
          <p:cNvPr id="7" name="TextBox 6"/>
          <p:cNvSpPr txBox="1"/>
          <p:nvPr/>
        </p:nvSpPr>
        <p:spPr>
          <a:xfrm>
            <a:off x="1280160" y="3383280"/>
            <a:ext cx="9601200" cy="2377440"/>
          </a:xfrm>
          <a:prstGeom prst="rect">
            <a:avLst/>
          </a:prstGeom>
          <a:noFill/>
        </p:spPr>
        <p:txBody>
          <a:bodyPr wrap="square">
            <a:spAutoFit/>
          </a:bodyPr>
          <a:lstStyle/>
          <a:p>
            <a:pPr algn="ctr"/>
            <a:r>
              <a:rPr sz="2200" b="0">
                <a:solidFill>
                  <a:srgbClr val="FFFFFF"/>
                </a:solidFill>
                <a:latin typeface="Cambria"/>
              </a:rPr>
              <a:t>Juega desde un final de alfiles de distinto color con un peón de más, una vez de cada lado. Anota qué casillas usó el bando que se defendía para bloquear.</a:t>
            </a:r>
          </a:p>
        </p:txBody>
      </p:sp>
      <p:sp>
        <p:nvSpPr>
          <p:cNvPr id="8" name="TextBox 7"/>
          <p:cNvSpPr txBox="1"/>
          <p:nvPr/>
        </p:nvSpPr>
        <p:spPr>
          <a:xfrm>
            <a:off x="548640" y="6263640"/>
            <a:ext cx="11064240" cy="365760"/>
          </a:xfrm>
          <a:prstGeom prst="rect">
            <a:avLst/>
          </a:prstGeom>
          <a:noFill/>
        </p:spPr>
        <p:txBody>
          <a:bodyPr wrap="square">
            <a:spAutoFit/>
          </a:bodyPr>
          <a:lstStyle/>
          <a:p>
            <a:pPr algn="ctr"/>
            <a:r>
              <a:rPr sz="1200" b="0">
                <a:solidFill>
                  <a:srgbClr val="9FB3C8"/>
                </a:solidFill>
                <a:latin typeface="Calibri"/>
              </a:rPr>
              <a:t>¿Cambio o no cambio? · Lección 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