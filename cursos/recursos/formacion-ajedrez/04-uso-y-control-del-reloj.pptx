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notesMaster" Target="notesMasters/notesMaster1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Dejar que el grupo decida antes de pasar a la siguiente diapositiva.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Dejar que el grupo decida antes de pasar a la siguiente diapositiva.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Dejar que el grupo decida antes de pasar a la siguiente diapositiva.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Dejar que el grupo decida antes de pasar a la siguiente diapositiva.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Repasar en plenaria; cada respuesta con su artículo.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 minuto por pregunta, y después las respuestas.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 minuto por pregunta, y después las respuestas.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28655" y="6419088"/>
            <a:ext cx="1097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40"/>
              </a:spcAft>
            </a:pPr>
            <a:r>
              <a:rPr sz="1200" b="0">
                <a:solidFill>
                  <a:srgbClr val="9FB3C8"/>
                </a:solidFill>
                <a:latin typeface="Calibri"/>
              </a:rPr>
              <a:t>1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109728" cy="2377440"/>
          </a:xfrm>
          <a:prstGeom prst="rect">
            <a:avLst/>
          </a:prstGeom>
          <a:solidFill>
            <a:srgbClr val="F4C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097280"/>
            <a:ext cx="100584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</a:pPr>
            <a:r>
              <a:rPr sz="2000" b="1">
                <a:solidFill>
                  <a:srgbClr val="F4C430"/>
                </a:solidFill>
                <a:latin typeface="Calibri"/>
              </a:rPr>
              <a:t>SESIÓN 4  ·  FORMACIÓN AJEDREZ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920240"/>
            <a:ext cx="1033272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98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Uso, configuración y control del reloj de ajedrez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886200"/>
            <a:ext cx="1033272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ADCFC"/>
                </a:solidFill>
                <a:latin typeface="Calibri"/>
              </a:rPr>
              <a:t>Controles de tiempo, incrementos y resolución de incidencias con el reloj en competencia.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5760720"/>
            <a:ext cx="103327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20"/>
              </a:spcAft>
            </a:pPr>
            <a:r>
              <a:rPr sz="1600" b="0">
                <a:solidFill>
                  <a:srgbClr val="9FB3C8"/>
                </a:solidFill>
                <a:latin typeface="Calibri"/>
              </a:rPr>
              <a:t>Programa de Formación para Personas Árbitras y Asesoras  ·  Juegos Deportivos Estudiantiles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172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53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Objetivos de la sesión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0"/>
          </a:xfrm>
          <a:prstGeom prst="rect">
            <a:avLst/>
          </a:prstGeom>
          <a:solidFill>
            <a:srgbClr val="4E6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11277295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945"/>
              </a:spcAft>
            </a:pPr>
            <a:r>
              <a:rPr sz="2100" b="0">
                <a:solidFill>
                  <a:srgbClr val="FFFFFF"/>
                </a:solidFill>
                <a:latin typeface="Calibri"/>
              </a:rPr>
              <a:t>Al terminar esta sesión, cada participante podrá: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1097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40"/>
              </a:spcAft>
            </a:pPr>
            <a:r>
              <a:rPr sz="1200" b="0">
                <a:solidFill>
                  <a:srgbClr val="627D98"/>
                </a:solidFill>
                <a:latin typeface="Calibri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83080"/>
            <a:ext cx="11277295" cy="438912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10637215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350"/>
              </a:spcAft>
            </a:pPr>
            <a:r>
              <a:rPr sz="3000" b="0">
                <a:solidFill>
                  <a:srgbClr val="102A43"/>
                </a:solidFill>
                <a:latin typeface="Calibri"/>
              </a:rPr>
              <a:t>•  Aplicar las reglas del art. 6 sobre el uso del reloj durante la partida.</a:t>
            </a:r>
          </a:p>
          <a:p>
            <a:pPr>
              <a:spcAft>
                <a:spcPts val="1350"/>
              </a:spcAft>
            </a:pPr>
            <a:r>
              <a:rPr sz="3000" b="0">
                <a:solidFill>
                  <a:srgbClr val="102A43"/>
                </a:solidFill>
                <a:latin typeface="Calibri"/>
              </a:rPr>
              <a:t>•  Distinguir controles sin incremento, con incremento (Fischer), con demora y por períodos.</a:t>
            </a:r>
          </a:p>
          <a:p>
            <a:pPr>
              <a:spcAft>
                <a:spcPts val="1350"/>
              </a:spcAft>
            </a:pPr>
            <a:r>
              <a:rPr sz="3000" b="0">
                <a:solidFill>
                  <a:srgbClr val="102A43"/>
                </a:solidFill>
                <a:latin typeface="Calibri"/>
              </a:rPr>
              <a:t>•  Configurar el reloj para partidas clásicas, rápidas y relámpago.</a:t>
            </a:r>
          </a:p>
          <a:p>
            <a:pPr>
              <a:spcAft>
                <a:spcPts val="1350"/>
              </a:spcAft>
            </a:pPr>
            <a:r>
              <a:rPr sz="3000" b="0">
                <a:solidFill>
                  <a:srgbClr val="102A43"/>
                </a:solidFill>
                <a:latin typeface="Calibri"/>
              </a:rPr>
              <a:t>•  Resolver incidencias de tiempo: caída de bandera, incomparecencia y reloj defectuoso.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172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53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Cronograma de la sesión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0"/>
          </a:xfrm>
          <a:prstGeom prst="rect">
            <a:avLst/>
          </a:prstGeom>
          <a:solidFill>
            <a:srgbClr val="4E6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11277295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945"/>
              </a:spcAft>
            </a:pPr>
            <a:r>
              <a:rPr sz="2100" b="0">
                <a:solidFill>
                  <a:srgbClr val="FFFFFF"/>
                </a:solidFill>
                <a:latin typeface="Calibri"/>
              </a:rPr>
              <a:t>Sesión 4 · 4 horas (240 minutos)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1097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40"/>
              </a:spcAft>
            </a:pPr>
            <a:r>
              <a:rPr sz="1200" b="0">
                <a:solidFill>
                  <a:srgbClr val="627D98"/>
                </a:solidFill>
                <a:latin typeface="Calibri"/>
              </a:rPr>
              <a:t>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783080"/>
          <a:ext cx="1072865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463040"/>
                <a:gridCol w="7162495"/>
              </a:tblGrid>
              <a:tr h="41563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Horario</a:t>
                      </a:r>
                    </a:p>
                  </a:txBody>
                  <a:tcPr>
                    <a:solidFill>
                      <a:srgbClr val="3172A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Duración</a:t>
                      </a:r>
                    </a:p>
                  </a:txBody>
                  <a:tcPr>
                    <a:solidFill>
                      <a:srgbClr val="3172A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Bloque</a:t>
                      </a:r>
                    </a:p>
                  </a:txBody>
                  <a:tcPr>
                    <a:solidFill>
                      <a:srgbClr val="3172AC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02A43"/>
                          </a:solidFill>
                          <a:latin typeface="Calibri"/>
                        </a:rPr>
                        <a:t>0:00 – 0:10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02A43"/>
                          </a:solidFill>
                          <a:latin typeface="Calibri"/>
                        </a:rPr>
                        <a:t>10 min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02A43"/>
                          </a:solidFill>
                          <a:latin typeface="Calibri"/>
                        </a:rPr>
                        <a:t>Repaso y revisión de la tarea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02A43"/>
                          </a:solidFill>
                          <a:latin typeface="Calibri"/>
                        </a:rPr>
                        <a:t>0:10 – 0:45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02A43"/>
                          </a:solidFill>
                          <a:latin typeface="Calibri"/>
                        </a:rPr>
                        <a:t>35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02A43"/>
                          </a:solidFill>
                          <a:latin typeface="Calibri"/>
                        </a:rPr>
                        <a:t>El reloj en las Leyes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02A43"/>
                          </a:solidFill>
                          <a:latin typeface="Calibri"/>
                        </a:rPr>
                        <a:t>0:45 – 1:20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02A43"/>
                          </a:solidFill>
                          <a:latin typeface="Calibri"/>
                        </a:rPr>
                        <a:t>35 min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02A43"/>
                          </a:solidFill>
                          <a:latin typeface="Calibri"/>
                        </a:rPr>
                        <a:t>Sistemas de control de tiempo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02A43"/>
                          </a:solidFill>
                          <a:latin typeface="Calibri"/>
                        </a:rPr>
                        <a:t>1:20 – 1:30</a:t>
                      </a:r>
                    </a:p>
                  </a:txBody>
                  <a:tcPr>
                    <a:solidFill>
                      <a:srgbClr val="FDF3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02A43"/>
                          </a:solidFill>
                          <a:latin typeface="Calibri"/>
                        </a:rPr>
                        <a:t>10 min</a:t>
                      </a:r>
                    </a:p>
                  </a:txBody>
                  <a:tcPr>
                    <a:solidFill>
                      <a:srgbClr val="FDF3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02A43"/>
                          </a:solidFill>
                          <a:latin typeface="Calibri"/>
                        </a:rPr>
                        <a:t>Receso</a:t>
                      </a:r>
                    </a:p>
                  </a:txBody>
                  <a:tcPr>
                    <a:solidFill>
                      <a:srgbClr val="FDF3D7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02A43"/>
                          </a:solidFill>
                          <a:latin typeface="Calibri"/>
                        </a:rPr>
                        <a:t>1:30 – 2:05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02A43"/>
                          </a:solidFill>
                          <a:latin typeface="Calibri"/>
                        </a:rPr>
                        <a:t>35 min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02A43"/>
                          </a:solidFill>
                          <a:latin typeface="Calibri"/>
                        </a:rPr>
                        <a:t>Configuración según la modalidad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02A43"/>
                          </a:solidFill>
                          <a:latin typeface="Calibri"/>
                        </a:rPr>
                        <a:t>2:05 – 2:30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02A43"/>
                          </a:solidFill>
                          <a:latin typeface="Calibri"/>
                        </a:rPr>
                        <a:t>25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02A43"/>
                          </a:solidFill>
                          <a:latin typeface="Calibri"/>
                        </a:rPr>
                        <a:t>Incidencias de tiempo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02A43"/>
                          </a:solidFill>
                          <a:latin typeface="Calibri"/>
                        </a:rPr>
                        <a:t>2:30 – 2:40</a:t>
                      </a:r>
                    </a:p>
                  </a:txBody>
                  <a:tcPr>
                    <a:solidFill>
                      <a:srgbClr val="FDF3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02A43"/>
                          </a:solidFill>
                          <a:latin typeface="Calibri"/>
                        </a:rPr>
                        <a:t>10 min</a:t>
                      </a:r>
                    </a:p>
                  </a:txBody>
                  <a:tcPr>
                    <a:solidFill>
                      <a:srgbClr val="FDF3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02A43"/>
                          </a:solidFill>
                          <a:latin typeface="Calibri"/>
                        </a:rPr>
                        <a:t>Receso</a:t>
                      </a:r>
                    </a:p>
                  </a:txBody>
                  <a:tcPr>
                    <a:solidFill>
                      <a:srgbClr val="FDF3D7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02A43"/>
                          </a:solidFill>
                          <a:latin typeface="Calibri"/>
                        </a:rPr>
                        <a:t>2:40 – 3:15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02A43"/>
                          </a:solidFill>
                          <a:latin typeface="Calibri"/>
                        </a:rPr>
                        <a:t>35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02A43"/>
                          </a:solidFill>
                          <a:latin typeface="Calibri"/>
                        </a:rPr>
                        <a:t>Práctica: configurar el reloj por escenario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02A43"/>
                          </a:solidFill>
                          <a:latin typeface="Calibri"/>
                        </a:rPr>
                        <a:t>3:15 – 3:45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02A43"/>
                          </a:solidFill>
                          <a:latin typeface="Calibri"/>
                        </a:rPr>
                        <a:t>30 min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02A43"/>
                          </a:solidFill>
                          <a:latin typeface="Calibri"/>
                        </a:rPr>
                        <a:t>Quiz de la sesión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1564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02A43"/>
                          </a:solidFill>
                          <a:latin typeface="Calibri"/>
                        </a:rPr>
                        <a:t>3:45 – 4:00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02A43"/>
                          </a:solidFill>
                          <a:latin typeface="Calibri"/>
                        </a:rPr>
                        <a:t>15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02A43"/>
                          </a:solidFill>
                          <a:latin typeface="Calibri"/>
                        </a:rPr>
                        <a:t>Cierre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172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53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El uso del reloj durante la partida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19088"/>
            <a:ext cx="10180015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40"/>
              </a:spcAft>
            </a:pPr>
            <a:r>
              <a:rPr sz="1200" b="0">
                <a:solidFill>
                  <a:srgbClr val="627D98"/>
                </a:solidFill>
                <a:latin typeface="Calibri"/>
              </a:rPr>
              <a:t>Fuente: Leyes del Ajedrez 2023 (Handbook E.I.01), art. 6.2, 6.5, 6.6 y 6.11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19088"/>
            <a:ext cx="1097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40"/>
              </a:spcAft>
            </a:pPr>
            <a:r>
              <a:rPr sz="1200" b="0">
                <a:solidFill>
                  <a:srgbClr val="627D98"/>
                </a:solidFill>
                <a:latin typeface="Calibri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1277295" cy="489204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17319"/>
            <a:ext cx="10637215" cy="4617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125"/>
              </a:spcAft>
            </a:pPr>
            <a:r>
              <a:rPr sz="2500" b="0">
                <a:solidFill>
                  <a:srgbClr val="3172AC"/>
                </a:solidFill>
                <a:latin typeface="Calibri"/>
              </a:rPr>
              <a:t>A la hora de inicio se pone en marcha el reloj de las blancas, esté o no el jugador en la mesa. El árbitro decide de qué lado del tablero va el reloj. Cada jugador mueve y después presiona el reloj, con la misma mano con la que movió.</a:t>
            </a:r>
          </a:p>
          <a:p>
            <a:pPr>
              <a:spcAft>
                <a:spcPts val="1125"/>
              </a:spcAft>
            </a:pPr>
            <a:r>
              <a:rPr sz="2500" b="0">
                <a:solidFill>
                  <a:srgbClr val="102A43"/>
                </a:solidFill>
                <a:latin typeface="Calibri"/>
              </a:rPr>
              <a:t>•  No se puede dejar el dedo sobre el botón ni presionar con fuerza, levantar o volcar el reloj.</a:t>
            </a:r>
          </a:p>
          <a:p>
            <a:pPr>
              <a:spcAft>
                <a:spcPts val="1125"/>
              </a:spcAft>
            </a:pPr>
            <a:r>
              <a:rPr sz="2500" b="0">
                <a:solidFill>
                  <a:srgbClr val="102A43"/>
                </a:solidFill>
                <a:latin typeface="Calibri"/>
              </a:rPr>
              <a:t>•  Solo quien tiene su reloj en marcha puede acomodar sus piezas.</a:t>
            </a:r>
          </a:p>
          <a:p>
            <a:pPr>
              <a:spcAft>
                <a:spcPts val="1125"/>
              </a:spcAft>
            </a:pPr>
            <a:r>
              <a:rPr sz="2500" b="0">
                <a:solidFill>
                  <a:srgbClr val="102A43"/>
                </a:solidFill>
                <a:latin typeface="Calibri"/>
              </a:rPr>
              <a:t>•  Un jugador puede pausar el reloj para llamar al árbitro; la partida se reanuda cuando el árbitro lo decide.</a:t>
            </a:r>
          </a:p>
          <a:p>
            <a:pPr>
              <a:spcAft>
                <a:spcPts val="1125"/>
              </a:spcAft>
            </a:pPr>
            <a:r>
              <a:rPr sz="2500" b="0">
                <a:solidFill>
                  <a:srgbClr val="102A43"/>
                </a:solidFill>
                <a:latin typeface="Calibri"/>
              </a:rPr>
              <a:t>•  La jugada queda hecha al soltar la pieza y completada al presionar el reloj.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172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53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Sistemas de control de tiempo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19088"/>
            <a:ext cx="10180015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40"/>
              </a:spcAft>
            </a:pPr>
            <a:r>
              <a:rPr sz="1200" b="0">
                <a:solidFill>
                  <a:srgbClr val="627D98"/>
                </a:solidFill>
                <a:latin typeface="Calibri"/>
              </a:rPr>
              <a:t>Fuente: Leyes del Ajedrez 2023 (Handbook E.I.01), art. 6.3 y 8.4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19088"/>
            <a:ext cx="1097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40"/>
              </a:spcAft>
            </a:pPr>
            <a:r>
              <a:rPr sz="1200" b="0">
                <a:solidFill>
                  <a:srgbClr val="627D98"/>
                </a:solidFill>
                <a:latin typeface="Calibri"/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1277295" cy="489204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17319"/>
            <a:ext cx="10637215" cy="4617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3172AC"/>
                </a:solidFill>
                <a:latin typeface="Calibri"/>
              </a:rPr>
              <a:t>El reloj puede funcionar de varias maneras, y quien arbitra debe saber configurarlas y explicarlas.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102A43"/>
                </a:solidFill>
                <a:latin typeface="Calibri"/>
              </a:rPr>
              <a:t>•  Sin incremento («a finish»): un tiempo fijo para toda la partida.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102A43"/>
                </a:solidFill>
                <a:latin typeface="Calibri"/>
              </a:rPr>
              <a:t>•  Incremento o tiempo Fischer: se suma un tiempo fijo después de cada jugada, desde la primera.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102A43"/>
                </a:solidFill>
                <a:latin typeface="Calibri"/>
              </a:rPr>
              <a:t>•  Demora (delay): cada jugada trae un tiempo fijo; el tiempo principal empieza a descontarse cuando ese tiempo se agota.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102A43"/>
                </a:solidFill>
                <a:latin typeface="Calibri"/>
              </a:rPr>
              <a:t>•  Por períodos: por ejemplo, 40 jugadas en 90 minutos y luego 30 minutos más; el tiempo nuevo se suma al completar la jugada 40.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102A43"/>
                </a:solidFill>
                <a:latin typeface="Calibri"/>
              </a:rPr>
              <a:t>•  Con menos de 5 minutos y sin incremento de al menos 30 segundos, el jugador puede dejar de anotar.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28655" y="6419088"/>
            <a:ext cx="1097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40"/>
              </a:spcAft>
            </a:pPr>
            <a:r>
              <a:rPr sz="1200" b="0">
                <a:solidFill>
                  <a:srgbClr val="9FB3C8"/>
                </a:solidFill>
                <a:latin typeface="Calibri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1127729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3240"/>
              </a:spcAft>
            </a:pPr>
            <a:r>
              <a:rPr sz="7200" b="1">
                <a:solidFill>
                  <a:srgbClr val="FFFFFF"/>
                </a:solidFill>
                <a:latin typeface="Calibri"/>
              </a:rPr>
              <a:t>Receso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56616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1260"/>
              </a:spcAft>
            </a:pPr>
            <a:r>
              <a:rPr sz="2800" b="0">
                <a:solidFill>
                  <a:srgbClr val="CADCFC"/>
                </a:solidFill>
                <a:latin typeface="Calibri"/>
              </a:rPr>
              <a:t>10 minutos</a:t>
            </a:r>
          </a:p>
          <a:p>
            <a:pPr algn="ctr">
              <a:spcAft>
                <a:spcPts val="1260"/>
              </a:spcAft>
            </a:pPr>
            <a:r>
              <a:rPr sz="2800" b="0">
                <a:solidFill>
                  <a:srgbClr val="CADCFC"/>
                </a:solidFill>
                <a:latin typeface="Calibri"/>
              </a:rPr>
              <a:t>Pausa los relojes: seguimos en breve.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172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53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Configurar el reloj según la modalidad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19088"/>
            <a:ext cx="10180015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40"/>
              </a:spcAft>
            </a:pPr>
            <a:r>
              <a:rPr sz="1200" b="0">
                <a:solidFill>
                  <a:srgbClr val="627D98"/>
                </a:solidFill>
                <a:latin typeface="Calibri"/>
              </a:rPr>
              <a:t>Fuente: Leyes del Ajedrez 2023 (Handbook E.I.01), art. 6.10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19088"/>
            <a:ext cx="1097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40"/>
              </a:spcAft>
            </a:pPr>
            <a:r>
              <a:rPr sz="1200" b="0">
                <a:solidFill>
                  <a:srgbClr val="627D98"/>
                </a:solidFill>
                <a:latin typeface="Calibri"/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1277295" cy="489204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17319"/>
            <a:ext cx="10637215" cy="4617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3172AC"/>
                </a:solidFill>
                <a:latin typeface="Calibri"/>
              </a:rPr>
              <a:t>Antes de la ronda se configuran y revisan todos los relojes con el ritmo que anuncia el reglamento del torneo. Un reloj mal configurado es la causa de muchas incidencias que después no tienen buena solución.</a:t>
            </a:r>
          </a:p>
          <a:p>
            <a:pPr>
              <a:spcAft>
                <a:spcPts val="1170"/>
              </a:spcAft>
            </a:pPr>
            <a:r>
              <a:rPr sz="2600" b="0">
                <a:solidFill>
                  <a:srgbClr val="102A43"/>
                </a:solidFill>
                <a:latin typeface="Calibri"/>
              </a:rPr>
              <a:t>•  Revisa el tiempo base, el incremento y, si lo hay, el período siguiente.</a:t>
            </a:r>
          </a:p>
          <a:p>
            <a:pPr>
              <a:spcAft>
                <a:spcPts val="1170"/>
              </a:spcAft>
            </a:pPr>
            <a:r>
              <a:rPr sz="2600" b="0">
                <a:solidFill>
                  <a:srgbClr val="102A43"/>
                </a:solidFill>
                <a:latin typeface="Calibri"/>
              </a:rPr>
              <a:t>•  Comprueba que los dos lados muestren el mismo tiempo antes de empezar.</a:t>
            </a:r>
          </a:p>
          <a:p>
            <a:pPr>
              <a:spcAft>
                <a:spcPts val="1170"/>
              </a:spcAft>
            </a:pPr>
            <a:r>
              <a:rPr sz="2600" b="0">
                <a:solidFill>
                  <a:srgbClr val="102A43"/>
                </a:solidFill>
                <a:latin typeface="Calibri"/>
              </a:rPr>
              <a:t>•  Deja relojes de repuesto configurados.</a:t>
            </a:r>
          </a:p>
          <a:p>
            <a:pPr>
              <a:spcAft>
                <a:spcPts val="1170"/>
              </a:spcAft>
            </a:pPr>
            <a:r>
              <a:rPr sz="2600" b="0">
                <a:solidFill>
                  <a:srgbClr val="102A43"/>
                </a:solidFill>
                <a:latin typeface="Calibri"/>
              </a:rPr>
              <a:t>•  Si a mitad de partida se descubre un reloj mal configurado o con un defecto evidente, el árbitro lo corrige o lo reemplaza y fija los tiempos con su criterio.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172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53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Caída de bandera e incidencias de tiempo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19088"/>
            <a:ext cx="10180015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40"/>
              </a:spcAft>
            </a:pPr>
            <a:r>
              <a:rPr sz="1200" b="0">
                <a:solidFill>
                  <a:srgbClr val="627D98"/>
                </a:solidFill>
                <a:latin typeface="Calibri"/>
              </a:rPr>
              <a:t>Fuente: Leyes del Ajedrez 2023 (Handbook E.I.01), art. 6.4, 6.7, 6.8, 6.9, 12.3 y 12.4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19088"/>
            <a:ext cx="1097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40"/>
              </a:spcAft>
            </a:pPr>
            <a:r>
              <a:rPr sz="1200" b="0">
                <a:solidFill>
                  <a:srgbClr val="627D98"/>
                </a:solidFill>
                <a:latin typeface="Calibri"/>
              </a:rP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1277295" cy="489204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17319"/>
            <a:ext cx="10637215" cy="4617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35"/>
              </a:spcAft>
            </a:pPr>
            <a:r>
              <a:rPr sz="2300" b="0">
                <a:solidFill>
                  <a:srgbClr val="3172AC"/>
                </a:solidFill>
                <a:latin typeface="Calibri"/>
              </a:rPr>
              <a:t>Cuando a un jugador se le agota el tiempo, pierde la partida, salvo que el rival no pueda dar mate por ninguna serie de jugadas legales: en ese caso son tablas. La prueba es «cualquier serie de jugadas legales», aunque sea con la peor defensa.</a:t>
            </a:r>
          </a:p>
          <a:p>
            <a:pPr>
              <a:spcAft>
                <a:spcPts val="1035"/>
              </a:spcAft>
            </a:pPr>
            <a:r>
              <a:rPr sz="2300" b="0">
                <a:solidFill>
                  <a:srgbClr val="102A43"/>
                </a:solidFill>
                <a:latin typeface="Calibri"/>
              </a:rPr>
              <a:t>•  Al caer una bandera, se comprueba si el jugador cumplió el número de jugadas del control.</a:t>
            </a:r>
          </a:p>
          <a:p>
            <a:pPr>
              <a:spcAft>
                <a:spcPts val="1035"/>
              </a:spcAft>
            </a:pPr>
            <a:r>
              <a:rPr sz="2300" b="0">
                <a:solidFill>
                  <a:srgbClr val="102A43"/>
                </a:solidFill>
                <a:latin typeface="Calibri"/>
              </a:rPr>
              <a:t>•  En ritmo clásico con árbitro presente, el árbitro declara la caída de bandera de oficio; en relámpago sin supervisión, la reclama el jugador.</a:t>
            </a:r>
          </a:p>
          <a:p>
            <a:pPr>
              <a:spcAft>
                <a:spcPts val="1035"/>
              </a:spcAft>
            </a:pPr>
            <a:r>
              <a:rPr sz="2300" b="0">
                <a:solidFill>
                  <a:srgbClr val="102A43"/>
                </a:solidFill>
                <a:latin typeface="Calibri"/>
              </a:rPr>
              <a:t>•  Si el reglamento no fija tiempo de incomparecencia, es cero: quien llega tarde pierde, salvo decisión del árbitro.</a:t>
            </a:r>
          </a:p>
          <a:p>
            <a:pPr>
              <a:spcAft>
                <a:spcPts val="1035"/>
              </a:spcAft>
            </a:pPr>
            <a:r>
              <a:rPr sz="2300" b="0">
                <a:solidFill>
                  <a:srgbClr val="102A43"/>
                </a:solidFill>
                <a:latin typeface="Calibri"/>
              </a:rPr>
              <a:t>•  En apuro de tiempo, el árbitro observa especialmente esas partidas y puede nombrar asistentes.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172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53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Caso 1 · ¿Qué decide la persona árbitra?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0"/>
          </a:xfrm>
          <a:prstGeom prst="rect">
            <a:avLst/>
          </a:prstGeom>
          <a:solidFill>
            <a:srgbClr val="4E6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11277295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945"/>
              </a:spcAft>
            </a:pPr>
            <a:r>
              <a:rPr sz="2100" b="0">
                <a:solidFill>
                  <a:srgbClr val="FFFFFF"/>
                </a:solidFill>
                <a:latin typeface="Calibri"/>
              </a:rPr>
              <a:t>Las blancas no llegaron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1097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40"/>
              </a:spcAft>
            </a:pPr>
            <a:r>
              <a:rPr sz="1200" b="0">
                <a:solidFill>
                  <a:srgbClr val="627D98"/>
                </a:solidFill>
                <a:latin typeface="Calibri"/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83080"/>
            <a:ext cx="11277295" cy="438912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10545775" cy="3931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0">
                <a:solidFill>
                  <a:srgbClr val="102A43"/>
                </a:solidFill>
                <a:latin typeface="Calibri"/>
              </a:rPr>
              <a:t>Es la hora de inicio y el jugador de blancas no está en la mesa. El reglamento fija 15 minutos de incomparecencia.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172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53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Caso 1 · Decisión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0"/>
          </a:xfrm>
          <a:prstGeom prst="rect">
            <a:avLst/>
          </a:prstGeom>
          <a:solidFill>
            <a:srgbClr val="4E6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11277295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945"/>
              </a:spcAft>
            </a:pPr>
            <a:r>
              <a:rPr sz="2100" b="0">
                <a:solidFill>
                  <a:srgbClr val="FFFFFF"/>
                </a:solidFill>
                <a:latin typeface="Calibri"/>
              </a:rPr>
              <a:t>Las blancas no llegaron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10180015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40"/>
              </a:spcAft>
            </a:pPr>
            <a:r>
              <a:rPr sz="1200" b="0">
                <a:solidFill>
                  <a:srgbClr val="627D98"/>
                </a:solidFill>
                <a:latin typeface="Calibri"/>
              </a:rPr>
              <a:t>Fuente: Leyes del Ajedrez 2023 (Handbook E.I.01), art. 6.6 y 6.7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19088"/>
            <a:ext cx="1097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40"/>
              </a:spcAft>
            </a:pPr>
            <a:r>
              <a:rPr sz="1200" b="0">
                <a:solidFill>
                  <a:srgbClr val="627D98"/>
                </a:solidFill>
                <a:latin typeface="Calibri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83080"/>
            <a:ext cx="11277295" cy="4389120"/>
          </a:xfrm>
          <a:prstGeom prst="rect">
            <a:avLst/>
          </a:prstGeom>
          <a:solidFill>
            <a:srgbClr val="EEF7EE"/>
          </a:solidFill>
          <a:ln w="1905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10545775" cy="3931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spcAft>
                <a:spcPts val="1350"/>
              </a:spcAft>
            </a:pPr>
            <a:r>
              <a:rPr sz="3000" b="0">
                <a:solidFill>
                  <a:srgbClr val="102A43"/>
                </a:solidFill>
                <a:latin typeface="Calibri"/>
              </a:rPr>
              <a:t>Se pone en marcha el reloj de las blancas igual. Si llega antes de los 15 minutos, juega con el tiempo que le quede; si no, pierde por incomparecencia.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172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53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Caso 2 · ¿Qué decide la persona árbitra?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0"/>
          </a:xfrm>
          <a:prstGeom prst="rect">
            <a:avLst/>
          </a:prstGeom>
          <a:solidFill>
            <a:srgbClr val="4E6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11277295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945"/>
              </a:spcAft>
            </a:pPr>
            <a:r>
              <a:rPr sz="2100" b="0">
                <a:solidFill>
                  <a:srgbClr val="FFFFFF"/>
                </a:solidFill>
                <a:latin typeface="Calibri"/>
              </a:rPr>
              <a:t>Presionar antes de mover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1097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40"/>
              </a:spcAft>
            </a:pPr>
            <a:r>
              <a:rPr sz="1200" b="0">
                <a:solidFill>
                  <a:srgbClr val="627D98"/>
                </a:solidFill>
                <a:latin typeface="Calibri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83080"/>
            <a:ext cx="11277295" cy="438912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10545775" cy="3931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0">
                <a:solidFill>
                  <a:srgbClr val="102A43"/>
                </a:solidFill>
                <a:latin typeface="Calibri"/>
              </a:rPr>
              <a:t>En apuro de tiempo, un jugador presiona el reloj antes de soltar la pieza.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172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53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Caso 2 · Decisión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0"/>
          </a:xfrm>
          <a:prstGeom prst="rect">
            <a:avLst/>
          </a:prstGeom>
          <a:solidFill>
            <a:srgbClr val="4E6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11277295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945"/>
              </a:spcAft>
            </a:pPr>
            <a:r>
              <a:rPr sz="2100" b="0">
                <a:solidFill>
                  <a:srgbClr val="FFFFFF"/>
                </a:solidFill>
                <a:latin typeface="Calibri"/>
              </a:rPr>
              <a:t>Presionar antes de mover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10180015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40"/>
              </a:spcAft>
            </a:pPr>
            <a:r>
              <a:rPr sz="1200" b="0">
                <a:solidFill>
                  <a:srgbClr val="627D98"/>
                </a:solidFill>
                <a:latin typeface="Calibri"/>
              </a:rPr>
              <a:t>Fuente: Leyes del Ajedrez 2023 (Handbook E.I.01), art. 6.2.1, 6.2.4 y 12.9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19088"/>
            <a:ext cx="1097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40"/>
              </a:spcAft>
            </a:pPr>
            <a:r>
              <a:rPr sz="1200" b="0">
                <a:solidFill>
                  <a:srgbClr val="627D98"/>
                </a:solidFill>
                <a:latin typeface="Calibri"/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83080"/>
            <a:ext cx="11277295" cy="4389120"/>
          </a:xfrm>
          <a:prstGeom prst="rect">
            <a:avLst/>
          </a:prstGeom>
          <a:solidFill>
            <a:srgbClr val="EEF7EE"/>
          </a:solidFill>
          <a:ln w="1905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10545775" cy="3931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spcAft>
                <a:spcPts val="1350"/>
              </a:spcAft>
            </a:pPr>
            <a:r>
              <a:rPr sz="3000" b="0">
                <a:solidFill>
                  <a:srgbClr val="102A43"/>
                </a:solidFill>
                <a:latin typeface="Calibri"/>
              </a:rPr>
              <a:t>Es un manejo indebido del reloj: el árbitro interviene y aplica una sanción del art. 12.9, de menor a mayor.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172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53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Caso 3 · ¿Qué decide la persona árbitra?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0"/>
          </a:xfrm>
          <a:prstGeom prst="rect">
            <a:avLst/>
          </a:prstGeom>
          <a:solidFill>
            <a:srgbClr val="4E6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11277295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945"/>
              </a:spcAft>
            </a:pPr>
            <a:r>
              <a:rPr sz="2100" b="0">
                <a:solidFill>
                  <a:srgbClr val="FFFFFF"/>
                </a:solidFill>
                <a:latin typeface="Calibri"/>
              </a:rPr>
              <a:t>Bandera con rey y caballo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1097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40"/>
              </a:spcAft>
            </a:pPr>
            <a:r>
              <a:rPr sz="1200" b="0">
                <a:solidFill>
                  <a:srgbClr val="627D98"/>
                </a:solidFill>
                <a:latin typeface="Calibri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83080"/>
            <a:ext cx="11277295" cy="438912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10545775" cy="3931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0">
                <a:solidFill>
                  <a:srgbClr val="102A43"/>
                </a:solidFill>
                <a:latin typeface="Calibri"/>
              </a:rPr>
              <a:t>Cae la bandera de las blancas. Las negras solo tienen rey y caballo, y las blancas tienen rey y peón.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172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53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Caso 3 · Decisión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0"/>
          </a:xfrm>
          <a:prstGeom prst="rect">
            <a:avLst/>
          </a:prstGeom>
          <a:solidFill>
            <a:srgbClr val="4E6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11277295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945"/>
              </a:spcAft>
            </a:pPr>
            <a:r>
              <a:rPr sz="2100" b="0">
                <a:solidFill>
                  <a:srgbClr val="FFFFFF"/>
                </a:solidFill>
                <a:latin typeface="Calibri"/>
              </a:rPr>
              <a:t>Bandera con rey y caballo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10180015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40"/>
              </a:spcAft>
            </a:pPr>
            <a:r>
              <a:rPr sz="1200" b="0">
                <a:solidFill>
                  <a:srgbClr val="627D98"/>
                </a:solidFill>
                <a:latin typeface="Calibri"/>
              </a:rPr>
              <a:t>Fuente: Leyes del Ajedrez 2023 (Handbook E.I.01), art. 6.9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19088"/>
            <a:ext cx="1097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40"/>
              </a:spcAft>
            </a:pPr>
            <a:r>
              <a:rPr sz="1200" b="0">
                <a:solidFill>
                  <a:srgbClr val="627D98"/>
                </a:solidFill>
                <a:latin typeface="Calibri"/>
              </a:rP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83080"/>
            <a:ext cx="11277295" cy="4389120"/>
          </a:xfrm>
          <a:prstGeom prst="rect">
            <a:avLst/>
          </a:prstGeom>
          <a:solidFill>
            <a:srgbClr val="EEF7EE"/>
          </a:solidFill>
          <a:ln w="1905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10545775" cy="3931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spcAft>
                <a:spcPts val="1350"/>
              </a:spcAft>
            </a:pPr>
            <a:r>
              <a:rPr sz="3000" b="0">
                <a:solidFill>
                  <a:srgbClr val="102A43"/>
                </a:solidFill>
                <a:latin typeface="Calibri"/>
              </a:rPr>
              <a:t>Pierden las blancas: con ese material existe al menos una serie de jugadas legales que termina en mate. Por ejemplo, rey blanco en h1 con su peón en h2, rey negro en f1 y caballo negro en f2: el peón le quita al rey su última casilla. Solo serían tablas si el rival no pudiera dar mate de ninguna manera, como con rey y caballo contra rey solo.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172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53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Caso 4 · ¿Qué decide la persona árbitra?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0"/>
          </a:xfrm>
          <a:prstGeom prst="rect">
            <a:avLst/>
          </a:prstGeom>
          <a:solidFill>
            <a:srgbClr val="4E6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11277295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945"/>
              </a:spcAft>
            </a:pPr>
            <a:r>
              <a:rPr sz="2100" b="0">
                <a:solidFill>
                  <a:srgbClr val="FFFFFF"/>
                </a:solidFill>
                <a:latin typeface="Calibri"/>
              </a:rPr>
              <a:t>Reloj con defecto evidente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1097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40"/>
              </a:spcAft>
            </a:pPr>
            <a:r>
              <a:rPr sz="1200" b="0">
                <a:solidFill>
                  <a:srgbClr val="627D98"/>
                </a:solidFill>
                <a:latin typeface="Calibri"/>
              </a:rP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83080"/>
            <a:ext cx="11277295" cy="438912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10545775" cy="3931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0">
                <a:solidFill>
                  <a:srgbClr val="102A43"/>
                </a:solidFill>
                <a:latin typeface="Calibri"/>
              </a:rPr>
              <a:t>A mitad de partida, la pantalla de un reloj deja de funcionar.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172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53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Caso 4 · Decisión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0"/>
          </a:xfrm>
          <a:prstGeom prst="rect">
            <a:avLst/>
          </a:prstGeom>
          <a:solidFill>
            <a:srgbClr val="4E6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11277295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945"/>
              </a:spcAft>
            </a:pPr>
            <a:r>
              <a:rPr sz="2100" b="0">
                <a:solidFill>
                  <a:srgbClr val="FFFFFF"/>
                </a:solidFill>
                <a:latin typeface="Calibri"/>
              </a:rPr>
              <a:t>Reloj con defecto evidente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10180015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40"/>
              </a:spcAft>
            </a:pPr>
            <a:r>
              <a:rPr sz="1200" b="0">
                <a:solidFill>
                  <a:srgbClr val="627D98"/>
                </a:solidFill>
                <a:latin typeface="Calibri"/>
              </a:rPr>
              <a:t>Fuente: Leyes del Ajedrez 2023 (Handbook E.I.01), art. 6.10.1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19088"/>
            <a:ext cx="1097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40"/>
              </a:spcAft>
            </a:pPr>
            <a:r>
              <a:rPr sz="1200" b="0">
                <a:solidFill>
                  <a:srgbClr val="627D98"/>
                </a:solidFill>
                <a:latin typeface="Calibri"/>
              </a:rPr>
              <a:t>16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83080"/>
            <a:ext cx="11277295" cy="4389120"/>
          </a:xfrm>
          <a:prstGeom prst="rect">
            <a:avLst/>
          </a:prstGeom>
          <a:solidFill>
            <a:srgbClr val="EEF7EE"/>
          </a:solidFill>
          <a:ln w="1905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10545775" cy="3931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spcAft>
                <a:spcPts val="1350"/>
              </a:spcAft>
            </a:pPr>
            <a:r>
              <a:rPr sz="3000" b="0">
                <a:solidFill>
                  <a:srgbClr val="102A43"/>
                </a:solidFill>
                <a:latin typeface="Calibri"/>
              </a:rPr>
              <a:t>El árbitro lo reemplaza y fija los tiempos del reloj nuevo con su mejor criterio, apoyándose en las planillas y en lo que recuerden los jugadores.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28655" y="6419088"/>
            <a:ext cx="1097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40"/>
              </a:spcAft>
            </a:pPr>
            <a:r>
              <a:rPr sz="1200" b="0">
                <a:solidFill>
                  <a:srgbClr val="9FB3C8"/>
                </a:solidFill>
                <a:latin typeface="Calibri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1127729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3240"/>
              </a:spcAft>
            </a:pPr>
            <a:r>
              <a:rPr sz="7200" b="1">
                <a:solidFill>
                  <a:srgbClr val="FFFFFF"/>
                </a:solidFill>
                <a:latin typeface="Calibri"/>
              </a:rPr>
              <a:t>Receso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56616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1260"/>
              </a:spcAft>
            </a:pPr>
            <a:r>
              <a:rPr sz="2800" b="0">
                <a:solidFill>
                  <a:srgbClr val="CADCFC"/>
                </a:solidFill>
                <a:latin typeface="Calibri"/>
              </a:rPr>
              <a:t>10 minutos</a:t>
            </a:r>
          </a:p>
          <a:p>
            <a:pPr algn="ctr">
              <a:spcAft>
                <a:spcPts val="1260"/>
              </a:spcAft>
            </a:pPr>
            <a:r>
              <a:rPr sz="2800" b="0">
                <a:solidFill>
                  <a:srgbClr val="CADCFC"/>
                </a:solidFill>
                <a:latin typeface="Calibri"/>
              </a:rPr>
              <a:t>Pausa los relojes: seguimos en breve.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172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53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Práctica · Configuración de un reloj según escenario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19088"/>
            <a:ext cx="1097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40"/>
              </a:spcAft>
            </a:pPr>
            <a:r>
              <a:rPr sz="1200" b="0">
                <a:solidFill>
                  <a:srgbClr val="627D98"/>
                </a:solidFill>
                <a:latin typeface="Calibri"/>
              </a:rPr>
              <a:t>18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77295" cy="489204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545775" cy="44805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spcAft>
                <a:spcPts val="1440"/>
              </a:spcAft>
            </a:pPr>
            <a:r>
              <a:rPr sz="3200" b="0">
                <a:solidFill>
                  <a:srgbClr val="102A43"/>
                </a:solidFill>
                <a:latin typeface="Calibri"/>
              </a:rPr>
              <a:t>Con un simulador de reloj digital en línea, cada participante configura el control de tiempo correspondiente a tres escenarios: partida clásica, rápida y relámpago.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172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53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Ejercicio 1 de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19088"/>
            <a:ext cx="1097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40"/>
              </a:spcAft>
            </a:pPr>
            <a:r>
              <a:rPr sz="1200" b="0">
                <a:solidFill>
                  <a:srgbClr val="627D98"/>
                </a:solidFill>
                <a:latin typeface="Calibri"/>
              </a:rPr>
              <a:t>19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77295" cy="489204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545775" cy="44805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spcAft>
                <a:spcPts val="1440"/>
              </a:spcAft>
            </a:pPr>
            <a:r>
              <a:rPr sz="3200" b="0">
                <a:solidFill>
                  <a:srgbClr val="102A43"/>
                </a:solidFill>
                <a:latin typeface="Calibri"/>
              </a:rPr>
              <a:t>Configura el reloj para una partida clásica de 90 minutos con 30 segundos de incremento desde la jugada 1. ¿Deben anotar los jugadores toda la partida?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172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53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Ejercicio 2 de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19088"/>
            <a:ext cx="1097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40"/>
              </a:spcAft>
            </a:pPr>
            <a:r>
              <a:rPr sz="1200" b="0">
                <a:solidFill>
                  <a:srgbClr val="627D98"/>
                </a:solidFill>
                <a:latin typeface="Calibri"/>
              </a:rPr>
              <a:t>20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77295" cy="489204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545775" cy="44805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spcAft>
                <a:spcPts val="1440"/>
              </a:spcAft>
            </a:pPr>
            <a:r>
              <a:rPr sz="3200" b="0">
                <a:solidFill>
                  <a:srgbClr val="102A43"/>
                </a:solidFill>
                <a:latin typeface="Calibri"/>
              </a:rPr>
              <a:t>Configura el reloj para rápidas a 15 minutos más 10 segundos. ¿Qué ritmo es según la fórmula?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172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53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Ejercicio 3 de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19088"/>
            <a:ext cx="1097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40"/>
              </a:spcAft>
            </a:pPr>
            <a:r>
              <a:rPr sz="1200" b="0">
                <a:solidFill>
                  <a:srgbClr val="627D98"/>
                </a:solidFill>
                <a:latin typeface="Calibri"/>
              </a:rPr>
              <a:t>21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77295" cy="489204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545775" cy="44805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spcAft>
                <a:spcPts val="1440"/>
              </a:spcAft>
            </a:pPr>
            <a:r>
              <a:rPr sz="3200" b="0">
                <a:solidFill>
                  <a:srgbClr val="102A43"/>
                </a:solidFill>
                <a:latin typeface="Calibri"/>
              </a:rPr>
              <a:t>Configura el reloj para relámpago a 3 minutos más 2 segundos. ¿Qué ritmo es?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172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53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Ejercicio 4 de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19088"/>
            <a:ext cx="1097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40"/>
              </a:spcAft>
            </a:pPr>
            <a:r>
              <a:rPr sz="1200" b="0">
                <a:solidFill>
                  <a:srgbClr val="627D98"/>
                </a:solidFill>
                <a:latin typeface="Calibri"/>
              </a:rPr>
              <a:t>22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77295" cy="489204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545775" cy="44805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spcAft>
                <a:spcPts val="1440"/>
              </a:spcAft>
            </a:pPr>
            <a:r>
              <a:rPr sz="3200" b="0">
                <a:solidFill>
                  <a:srgbClr val="102A43"/>
                </a:solidFill>
                <a:latin typeface="Calibri"/>
              </a:rPr>
              <a:t>Cae la bandera de un jugador. Su rival solo tiene el rey. ¿Resultado?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172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53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Ejercicio 5 de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19088"/>
            <a:ext cx="1097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40"/>
              </a:spcAft>
            </a:pPr>
            <a:r>
              <a:rPr sz="1200" b="0">
                <a:solidFill>
                  <a:srgbClr val="627D98"/>
                </a:solidFill>
                <a:latin typeface="Calibri"/>
              </a:rPr>
              <a:t>23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77295" cy="489204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545775" cy="44805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spcAft>
                <a:spcPts val="1440"/>
              </a:spcAft>
            </a:pPr>
            <a:r>
              <a:rPr sz="3200" b="0">
                <a:solidFill>
                  <a:srgbClr val="102A43"/>
                </a:solidFill>
                <a:latin typeface="Calibri"/>
              </a:rPr>
              <a:t>El reglamento no dice nada sobre la tolerancia. Un jugador llega 3 minutos tarde. ¿Qué pasa?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172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53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Ejercicios: respuestas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19088"/>
            <a:ext cx="1097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40"/>
              </a:spcAft>
            </a:pPr>
            <a:r>
              <a:rPr sz="1200" b="0">
                <a:solidFill>
                  <a:srgbClr val="627D98"/>
                </a:solidFill>
                <a:latin typeface="Calibri"/>
              </a:rPr>
              <a:t>24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77295" cy="489204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17319"/>
            <a:ext cx="10637215" cy="4617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102A43"/>
                </a:solidFill>
                <a:latin typeface="Calibri"/>
              </a:rPr>
              <a:t>•  1. Tiempo base 90:00 e incremento de 30 s por jugada, en ambos lados. Sí: con incremento de 30 segundos o más no se puede dejar de anotar (art. 8.4).</a:t>
            </a:r>
          </a:p>
          <a:p>
            <a:pPr>
              <a:spcAft>
                <a:spcPts val="1170"/>
              </a:spcAft>
            </a:pPr>
            <a:r>
              <a:rPr sz="2600" b="0">
                <a:solidFill>
                  <a:srgbClr val="102A43"/>
                </a:solidFill>
                <a:latin typeface="Calibri"/>
              </a:rPr>
              <a:t>•  2. Tiempo base 15:00 e incremento de 10 s. 15 + 10 = 25 minutos: rápidas.</a:t>
            </a:r>
          </a:p>
          <a:p>
            <a:pPr>
              <a:spcAft>
                <a:spcPts val="1170"/>
              </a:spcAft>
            </a:pPr>
            <a:r>
              <a:rPr sz="2600" b="0">
                <a:solidFill>
                  <a:srgbClr val="102A43"/>
                </a:solidFill>
                <a:latin typeface="Calibri"/>
              </a:rPr>
              <a:t>•  3. Tiempo base 3:00 e incremento de 2 s. 3 + 2 = 5 minutos: relámpago.</a:t>
            </a:r>
          </a:p>
          <a:p>
            <a:pPr>
              <a:spcAft>
                <a:spcPts val="1170"/>
              </a:spcAft>
            </a:pPr>
            <a:r>
              <a:rPr sz="2600" b="0">
                <a:solidFill>
                  <a:srgbClr val="102A43"/>
                </a:solidFill>
                <a:latin typeface="Calibri"/>
              </a:rPr>
              <a:t>•  4. Tablas: el rival no puede dar mate por ninguna serie de jugadas legales (art. 6.9).</a:t>
            </a:r>
          </a:p>
          <a:p>
            <a:pPr>
              <a:spcAft>
                <a:spcPts val="1170"/>
              </a:spcAft>
            </a:pPr>
            <a:r>
              <a:rPr sz="2600" b="0">
                <a:solidFill>
                  <a:srgbClr val="102A43"/>
                </a:solidFill>
                <a:latin typeface="Calibri"/>
              </a:rPr>
              <a:t>•  5. El tiempo de incomparecencia es cero: pierde, salvo que el árbitro decida otra cosa en ese caso puntual (art. 6.7).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172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53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Quiz de la sesión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0"/>
          </a:xfrm>
          <a:prstGeom prst="rect">
            <a:avLst/>
          </a:prstGeom>
          <a:solidFill>
            <a:srgbClr val="4E6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11277295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945"/>
              </a:spcAft>
            </a:pPr>
            <a:r>
              <a:rPr sz="2100" b="0">
                <a:solidFill>
                  <a:srgbClr val="FFFFFF"/>
                </a:solidFill>
                <a:latin typeface="Calibri"/>
              </a:rPr>
              <a:t>Responde de forma individual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1097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40"/>
              </a:spcAft>
            </a:pPr>
            <a:r>
              <a:rPr sz="1200" b="0">
                <a:solidFill>
                  <a:srgbClr val="627D98"/>
                </a:solidFill>
                <a:latin typeface="Calibri"/>
              </a:rPr>
              <a:t>25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83080"/>
            <a:ext cx="11277295" cy="438912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10637215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35"/>
              </a:spcAft>
            </a:pPr>
            <a:r>
              <a:rPr sz="2300" b="0">
                <a:solidFill>
                  <a:srgbClr val="102A43"/>
                </a:solidFill>
                <a:latin typeface="Calibri"/>
              </a:rPr>
              <a:t>•  1. ¿Qué es el incremento o «tiempo Fischer» en el reloj de ajedrez?</a:t>
            </a:r>
          </a:p>
          <a:p>
            <a:pPr>
              <a:spcAft>
                <a:spcPts val="1035"/>
              </a:spcAft>
            </a:pPr>
            <a:r>
              <a:rPr sz="2300" b="0">
                <a:solidFill>
                  <a:srgbClr val="102A43"/>
                </a:solidFill>
                <a:latin typeface="Calibri"/>
              </a:rPr>
              <a:t>•  2. Si a un jugador se le agota el tiempo, ¿qué debe verificar primero la persona árbitra?</a:t>
            </a:r>
          </a:p>
          <a:p>
            <a:pPr>
              <a:spcAft>
                <a:spcPts val="1035"/>
              </a:spcAft>
            </a:pPr>
            <a:r>
              <a:rPr sz="2300" b="0">
                <a:solidFill>
                  <a:srgbClr val="102A43"/>
                </a:solidFill>
                <a:latin typeface="Calibri"/>
              </a:rPr>
              <a:t>•  3. ¿Qué reloj se pone en marcha al empezar la ronda?</a:t>
            </a:r>
          </a:p>
          <a:p>
            <a:pPr>
              <a:spcAft>
                <a:spcPts val="1035"/>
              </a:spcAft>
            </a:pPr>
            <a:r>
              <a:rPr sz="2300" b="0">
                <a:solidFill>
                  <a:srgbClr val="102A43"/>
                </a:solidFill>
                <a:latin typeface="Calibri"/>
              </a:rPr>
              <a:t>•  4. ¿Con qué mano se presiona el reloj?</a:t>
            </a:r>
          </a:p>
          <a:p>
            <a:pPr>
              <a:spcAft>
                <a:spcPts val="1035"/>
              </a:spcAft>
            </a:pPr>
            <a:r>
              <a:rPr sz="2300" b="0">
                <a:solidFill>
                  <a:srgbClr val="102A43"/>
                </a:solidFill>
                <a:latin typeface="Calibri"/>
              </a:rPr>
              <a:t>•  5. En el modo de demora, ¿cuándo empieza a descontarse el tiempo principal?</a:t>
            </a:r>
          </a:p>
          <a:p>
            <a:pPr>
              <a:spcAft>
                <a:spcPts val="1035"/>
              </a:spcAft>
            </a:pPr>
            <a:r>
              <a:rPr sz="2300" b="0">
                <a:solidFill>
                  <a:srgbClr val="102A43"/>
                </a:solidFill>
                <a:latin typeface="Calibri"/>
              </a:rPr>
              <a:t>•  6. Si el reglamento no fija tiempo de incomparecencia, ¿cuál es?</a:t>
            </a:r>
          </a:p>
          <a:p>
            <a:pPr>
              <a:spcAft>
                <a:spcPts val="1035"/>
              </a:spcAft>
            </a:pPr>
            <a:r>
              <a:rPr sz="2300" b="0">
                <a:solidFill>
                  <a:srgbClr val="102A43"/>
                </a:solidFill>
                <a:latin typeface="Calibri"/>
              </a:rPr>
              <a:t>•  7. ¿Puede un jugador acomodar sus propias piezas mientras el reloj del rival está en marcha?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172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53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Quiz de la sesión (continuación)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0"/>
          </a:xfrm>
          <a:prstGeom prst="rect">
            <a:avLst/>
          </a:prstGeom>
          <a:solidFill>
            <a:srgbClr val="4E6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11277295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945"/>
              </a:spcAft>
            </a:pPr>
            <a:r>
              <a:rPr sz="2100" b="0">
                <a:solidFill>
                  <a:srgbClr val="FFFFFF"/>
                </a:solidFill>
                <a:latin typeface="Calibri"/>
              </a:rPr>
              <a:t>Responde de forma individual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1097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40"/>
              </a:spcAft>
            </a:pPr>
            <a:r>
              <a:rPr sz="1200" b="0">
                <a:solidFill>
                  <a:srgbClr val="627D98"/>
                </a:solidFill>
                <a:latin typeface="Calibri"/>
              </a:rPr>
              <a:t>26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83080"/>
            <a:ext cx="11277295" cy="438912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10637215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305"/>
              </a:spcAft>
            </a:pPr>
            <a:r>
              <a:rPr sz="2900" b="0">
                <a:solidFill>
                  <a:srgbClr val="102A43"/>
                </a:solidFill>
                <a:latin typeface="Calibri"/>
              </a:rPr>
              <a:t>•  8. Con menos de 5 minutos y sin incremento de al menos 30 segundos, ¿está obligado el jugador a seguir anotando?</a:t>
            </a:r>
          </a:p>
          <a:p>
            <a:pPr>
              <a:spcAft>
                <a:spcPts val="1305"/>
              </a:spcAft>
            </a:pPr>
            <a:r>
              <a:rPr sz="2900" b="0">
                <a:solidFill>
                  <a:srgbClr val="102A43"/>
                </a:solidFill>
                <a:latin typeface="Calibri"/>
              </a:rPr>
              <a:t>•  9. En ritmo clásico con árbitro presente, ¿quién declara la caída de una bandera?</a:t>
            </a:r>
          </a:p>
          <a:p>
            <a:pPr>
              <a:spcAft>
                <a:spcPts val="1305"/>
              </a:spcAft>
            </a:pPr>
            <a:r>
              <a:rPr sz="2900" b="0">
                <a:solidFill>
                  <a:srgbClr val="102A43"/>
                </a:solidFill>
                <a:latin typeface="Calibri"/>
              </a:rPr>
              <a:t>•  10. Si a mitad de partida se descubre que un reloj estaba mal configurado o tiene un defecto evidente, ¿qué hace el árbitro?</a:t>
            </a:r>
          </a:p>
          <a:p>
            <a:pPr>
              <a:spcAft>
                <a:spcPts val="1305"/>
              </a:spcAft>
            </a:pPr>
            <a:r>
              <a:rPr sz="2900" b="0">
                <a:solidFill>
                  <a:srgbClr val="102A43"/>
                </a:solidFill>
                <a:latin typeface="Calibri"/>
              </a:rPr>
              <a:t>•  11. ¿Cuándo queda hecha una jugada y cuándo queda completada?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172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53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Quiz: respuestas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19088"/>
            <a:ext cx="1097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40"/>
              </a:spcAft>
            </a:pPr>
            <a:r>
              <a:rPr sz="1200" b="0">
                <a:solidFill>
                  <a:srgbClr val="627D98"/>
                </a:solidFill>
                <a:latin typeface="Calibri"/>
              </a:rPr>
              <a:t>27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77295" cy="489204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17319"/>
            <a:ext cx="10637215" cy="4617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102A43"/>
                </a:solidFill>
                <a:latin typeface="Calibri"/>
              </a:rPr>
              <a:t>•  1. Un tiempo adicional que se suma después de cada jugada.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102A43"/>
                </a:solidFill>
                <a:latin typeface="Calibri"/>
              </a:rPr>
              <a:t>•  2. Si el rival tiene material suficiente para dar mate.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102A43"/>
                </a:solidFill>
                <a:latin typeface="Calibri"/>
              </a:rPr>
              <a:t>•  3. El de las blancas, esté o no el jugador en la mesa.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102A43"/>
                </a:solidFill>
                <a:latin typeface="Calibri"/>
              </a:rPr>
              <a:t>•  4. Con la misma mano con la que se hizo la jugada.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102A43"/>
                </a:solidFill>
                <a:latin typeface="Calibri"/>
              </a:rPr>
              <a:t>•  5. Cuando se agota el tiempo fijo de esa jugada.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102A43"/>
                </a:solidFill>
                <a:latin typeface="Calibri"/>
              </a:rPr>
              <a:t>•  6. Cero.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102A43"/>
                </a:solidFill>
                <a:latin typeface="Calibri"/>
              </a:rPr>
              <a:t>•  7. No, solo puede hacerlo cuando su propio reloj está en marcha.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102A43"/>
                </a:solidFill>
                <a:latin typeface="Calibri"/>
              </a:rPr>
              <a:t>•  8. No, puede dejar de anotar.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102A43"/>
                </a:solidFill>
                <a:latin typeface="Calibri"/>
              </a:rPr>
              <a:t>•  9. El árbitro, de oficio.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102A43"/>
                </a:solidFill>
                <a:latin typeface="Calibri"/>
              </a:rPr>
              <a:t>•  10. Lo corrige o lo reemplaza, y fija los tiempos del reloj con su propio criterio.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172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53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Quiz: respuestas (continuación)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19088"/>
            <a:ext cx="1097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40"/>
              </a:spcAft>
            </a:pPr>
            <a:r>
              <a:rPr sz="1200" b="0">
                <a:solidFill>
                  <a:srgbClr val="627D98"/>
                </a:solidFill>
                <a:latin typeface="Calibri"/>
              </a:rPr>
              <a:t>28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77295" cy="489204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17319"/>
            <a:ext cx="10637215" cy="4617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350"/>
              </a:spcAft>
            </a:pPr>
            <a:r>
              <a:rPr sz="3000" b="0">
                <a:solidFill>
                  <a:srgbClr val="102A43"/>
                </a:solidFill>
                <a:latin typeface="Calibri"/>
              </a:rPr>
              <a:t>•  11. Hecha al soltar la pieza; completada al presionar el reloj.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28655" y="6419088"/>
            <a:ext cx="1097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40"/>
              </a:spcAft>
            </a:pPr>
            <a:r>
              <a:rPr sz="1200" b="0">
                <a:solidFill>
                  <a:srgbClr val="9FB3C8"/>
                </a:solidFill>
                <a:latin typeface="Calibri"/>
              </a:rPr>
              <a:t>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</a:pPr>
            <a:r>
              <a:rPr sz="2000" b="1">
                <a:solidFill>
                  <a:srgbClr val="F4C430"/>
                </a:solidFill>
                <a:latin typeface="Calibri"/>
              </a:rPr>
              <a:t>TAREA PARA LA PRÓXIMA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3108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440"/>
              </a:spcAft>
            </a:pPr>
            <a:r>
              <a:rPr sz="3200" b="0">
                <a:solidFill>
                  <a:srgbClr val="FFFFFF"/>
                </a:solidFill>
                <a:latin typeface="Calibri"/>
              </a:rPr>
              <a:t>Completar una ficha con la configuración correcta del reloj (tiempo base e incremento) para tres modalidades, según la normativa JDE.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846320"/>
            <a:ext cx="10728655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ADCFC"/>
                </a:solidFill>
                <a:latin typeface="Calibri"/>
              </a:rPr>
              <a:t>¿Dudas? Este es el momento. Gracias por tu participación.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