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692640" y="-1463040"/>
            <a:ext cx="4572000" cy="4572000"/>
          </a:xfrm>
          <a:prstGeom prst="ellipse">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645920" y="4937760"/>
            <a:ext cx="3840480" cy="3840480"/>
          </a:xfrm>
          <a:prstGeom prst="ellipse">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640080" y="594360"/>
            <a:ext cx="1005840" cy="100584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594360"/>
            <a:ext cx="1005840" cy="1005840"/>
          </a:xfrm>
          <a:prstGeom prst="rect">
            <a:avLst/>
          </a:prstGeom>
          <a:noFill/>
        </p:spPr>
        <p:txBody>
          <a:bodyPr wrap="square">
            <a:spAutoFit/>
          </a:bodyPr>
          <a:lstStyle/>
          <a:p>
            <a:pPr algn="ctr"/>
            <a:r>
              <a:rPr sz="3200" b="1">
                <a:solidFill>
                  <a:srgbClr val="0A1F33"/>
                </a:solidFill>
                <a:latin typeface="Calibri"/>
              </a:rPr>
              <a:t>71</a:t>
            </a:r>
          </a:p>
        </p:txBody>
      </p:sp>
      <p:sp>
        <p:nvSpPr>
          <p:cNvPr id="7" name="TextBox 6"/>
          <p:cNvSpPr txBox="1"/>
          <p:nvPr/>
        </p:nvSpPr>
        <p:spPr>
          <a:xfrm>
            <a:off x="1920240" y="685800"/>
            <a:ext cx="9509760" cy="457200"/>
          </a:xfrm>
          <a:prstGeom prst="rect">
            <a:avLst/>
          </a:prstGeom>
          <a:noFill/>
        </p:spPr>
        <p:txBody>
          <a:bodyPr wrap="square">
            <a:spAutoFit/>
          </a:bodyPr>
          <a:lstStyle/>
          <a:p>
            <a:r>
              <a:rPr sz="1300" b="1">
                <a:solidFill>
                  <a:srgbClr val="F0B429"/>
                </a:solidFill>
                <a:latin typeface="Calibri"/>
              </a:rPr>
              <a:t>AJEDREZ INTEGRAL  ·  LOS CIMIENTOS DEL AJEDREZ</a:t>
            </a:r>
          </a:p>
        </p:txBody>
      </p:sp>
      <p:sp>
        <p:nvSpPr>
          <p:cNvPr id="8" name="TextBox 7"/>
          <p:cNvSpPr txBox="1"/>
          <p:nvPr/>
        </p:nvSpPr>
        <p:spPr>
          <a:xfrm>
            <a:off x="1920240" y="1097280"/>
            <a:ext cx="9509760" cy="365760"/>
          </a:xfrm>
          <a:prstGeom prst="rect">
            <a:avLst/>
          </a:prstGeom>
          <a:noFill/>
        </p:spPr>
        <p:txBody>
          <a:bodyPr wrap="square">
            <a:spAutoFit/>
          </a:bodyPr>
          <a:lstStyle/>
          <a:p>
            <a:r>
              <a:rPr sz="1300" b="0">
                <a:solidFill>
                  <a:srgbClr val="9FB3C8"/>
                </a:solidFill>
                <a:latin typeface="Calibri"/>
              </a:rPr>
              <a:t>Bloque 3 · La coordinación de las piezas</a:t>
            </a:r>
          </a:p>
        </p:txBody>
      </p:sp>
      <p:sp>
        <p:nvSpPr>
          <p:cNvPr id="9" name="TextBox 8"/>
          <p:cNvSpPr txBox="1"/>
          <p:nvPr/>
        </p:nvSpPr>
        <p:spPr>
          <a:xfrm>
            <a:off x="640080" y="2651760"/>
            <a:ext cx="10881360" cy="2011680"/>
          </a:xfrm>
          <a:prstGeom prst="rect">
            <a:avLst/>
          </a:prstGeom>
          <a:noFill/>
        </p:spPr>
        <p:txBody>
          <a:bodyPr wrap="square">
            <a:spAutoFit/>
          </a:bodyPr>
          <a:lstStyle/>
          <a:p>
            <a:r>
              <a:rPr sz="4000" b="1">
                <a:solidFill>
                  <a:srgbClr val="FFFFFF"/>
                </a:solidFill>
                <a:latin typeface="Cambria"/>
              </a:rPr>
              <a:t>Columnas: interferencia y rayos X</a:t>
            </a:r>
          </a:p>
        </p:txBody>
      </p:sp>
      <p:sp>
        <p:nvSpPr>
          <p:cNvPr id="10" name="TextBox 9"/>
          <p:cNvSpPr txBox="1"/>
          <p:nvPr/>
        </p:nvSpPr>
        <p:spPr>
          <a:xfrm>
            <a:off x="640080" y="4617720"/>
            <a:ext cx="9601200" cy="914400"/>
          </a:xfrm>
          <a:prstGeom prst="rect">
            <a:avLst/>
          </a:prstGeom>
          <a:noFill/>
        </p:spPr>
        <p:txBody>
          <a:bodyPr wrap="square">
            <a:spAutoFit/>
          </a:bodyPr>
          <a:lstStyle/>
          <a:p>
            <a:r>
              <a:rPr sz="1800" b="0">
                <a:solidFill>
                  <a:srgbClr val="CADCFC"/>
                </a:solidFill>
                <a:latin typeface="Calibri"/>
              </a:rPr>
              <a:t>Una pieza que se mete en la línea de otra puede cortar una defensa; una pieza que mira a través de otra tiene más alcance del que parece.</a:t>
            </a:r>
          </a:p>
        </p:txBody>
      </p:sp>
      <p:sp>
        <p:nvSpPr>
          <p:cNvPr id="11" name="TextBox 10"/>
          <p:cNvSpPr txBox="1"/>
          <p:nvPr/>
        </p:nvSpPr>
        <p:spPr>
          <a:xfrm>
            <a:off x="640080" y="6309360"/>
            <a:ext cx="5486400" cy="365760"/>
          </a:xfrm>
          <a:prstGeom prst="rect">
            <a:avLst/>
          </a:prstGeom>
          <a:noFill/>
        </p:spPr>
        <p:txBody>
          <a:bodyPr wrap="square">
            <a:spAutoFit/>
          </a:bodyPr>
          <a:lstStyle/>
          <a:p>
            <a:r>
              <a:rPr sz="1100" b="0">
                <a:solidFill>
                  <a:srgbClr val="627D98"/>
                </a:solidFill>
                <a:latin typeface="Calibri"/>
              </a:rPr>
              <a:t>ajedrez-integral.com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Columnas: interferencia y rayos X</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La interferencia consiste en colocar una pieza en la línea entre una pieza rival y la casilla que defiende, cortando esa defensa. Suele hacerse con un sacrificio: aunque la pieza interpuesta se pierda, la defensa ya no funciona y la combinación sigue. Los rayos X son la idea contraria: una torre, una dama o un alfil que ejerce su fuerza a través de otra pieza, rival o propia, y actúa en cuanto esa pieza se mueve o se cambia.</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Columnas: interferencia y rayos X</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Para la interferencia, busca una pieza rival que defiende algo importante desde lejos, a lo largo de una columna, fila o diagonal, y una casilla de esa línea donde puedas meter una pieza tuya. Para los rayos X, fíjate en dos piezas en la misma columna con otra en medio: si la de en medio se cambia o se aparta, la de atrás entra en juego. Las columnas abiertas con torres dobladas son el lugar más habitual.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Columnas: interferencia y rayos X</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Estos golpes cuestan ver porque la pieza clave parece tapada o inútil. Para encontrarlos, mira las líneas completas y no solo la primera pieza que hay en ellas. El error típico al defender es confiar en una pieza que defiende desde lejos sin pensar que algo puede interponerse. El error al calcular es olvidar que una pieza propia detrás de otra también defiende o ataca a través de ella cuando hay cambios.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280160" y="-1463040"/>
            <a:ext cx="4114800" cy="4114800"/>
          </a:xfrm>
          <a:prstGeom prst="ellipse">
            <a:avLst/>
          </a:prstGeom>
          <a:solidFill>
            <a:srgbClr val="0A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5175504" y="822960"/>
            <a:ext cx="1828800" cy="182880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175504" y="822960"/>
            <a:ext cx="1828800" cy="1828800"/>
          </a:xfrm>
          <a:prstGeom prst="rect">
            <a:avLst/>
          </a:prstGeom>
          <a:noFill/>
        </p:spPr>
        <p:txBody>
          <a:bodyPr wrap="square">
            <a:spAutoFit/>
          </a:bodyPr>
          <a:lstStyle/>
          <a:p>
            <a:pPr algn="ctr"/>
            <a:r>
              <a:rPr sz="4400" b="1">
                <a:solidFill>
                  <a:srgbClr val="0A1F33"/>
                </a:solidFill>
                <a:latin typeface="Calibri"/>
              </a:rPr>
              <a:t>✔</a:t>
            </a:r>
          </a:p>
        </p:txBody>
      </p:sp>
      <p:sp>
        <p:nvSpPr>
          <p:cNvPr id="6" name="TextBox 5"/>
          <p:cNvSpPr txBox="1"/>
          <p:nvPr/>
        </p:nvSpPr>
        <p:spPr>
          <a:xfrm>
            <a:off x="548640" y="2880360"/>
            <a:ext cx="11064240" cy="457200"/>
          </a:xfrm>
          <a:prstGeom prst="rect">
            <a:avLst/>
          </a:prstGeom>
          <a:noFill/>
        </p:spPr>
        <p:txBody>
          <a:bodyPr wrap="square">
            <a:spAutoFit/>
          </a:bodyPr>
          <a:lstStyle/>
          <a:p>
            <a:pPr algn="ctr"/>
            <a:r>
              <a:rPr sz="1400" b="1">
                <a:solidFill>
                  <a:srgbClr val="F0B429"/>
                </a:solidFill>
                <a:latin typeface="Calibri"/>
              </a:rPr>
              <a:t>PARA PRACTICAR</a:t>
            </a:r>
          </a:p>
        </p:txBody>
      </p:sp>
      <p:sp>
        <p:nvSpPr>
          <p:cNvPr id="7" name="TextBox 6"/>
          <p:cNvSpPr txBox="1"/>
          <p:nvPr/>
        </p:nvSpPr>
        <p:spPr>
          <a:xfrm>
            <a:off x="1280160" y="3383280"/>
            <a:ext cx="9601200" cy="2377440"/>
          </a:xfrm>
          <a:prstGeom prst="rect">
            <a:avLst/>
          </a:prstGeom>
          <a:noFill/>
        </p:spPr>
        <p:txBody>
          <a:bodyPr wrap="square">
            <a:spAutoFit/>
          </a:bodyPr>
          <a:lstStyle/>
          <a:p>
            <a:pPr algn="ctr"/>
            <a:r>
              <a:rPr sz="2200" b="0">
                <a:solidFill>
                  <a:srgbClr val="FFFFFF"/>
                </a:solidFill>
                <a:latin typeface="Cambria"/>
              </a:rPr>
              <a:t>Resuelve diez ejercicios de interferencia y diez de rayos X. En cada uno, dibuja con el dedo la línea clave y señala qué pieza la corta o qué pieza actúa a través de otra.</a:t>
            </a:r>
          </a:p>
        </p:txBody>
      </p:sp>
      <p:sp>
        <p:nvSpPr>
          <p:cNvPr id="8" name="TextBox 7"/>
          <p:cNvSpPr txBox="1"/>
          <p:nvPr/>
        </p:nvSpPr>
        <p:spPr>
          <a:xfrm>
            <a:off x="548640" y="6263640"/>
            <a:ext cx="11064240" cy="365760"/>
          </a:xfrm>
          <a:prstGeom prst="rect">
            <a:avLst/>
          </a:prstGeom>
          <a:noFill/>
        </p:spPr>
        <p:txBody>
          <a:bodyPr wrap="square">
            <a:spAutoFit/>
          </a:bodyPr>
          <a:lstStyle/>
          <a:p>
            <a:pPr algn="ctr"/>
            <a:r>
              <a:rPr sz="1200" b="0">
                <a:solidFill>
                  <a:srgbClr val="9FB3C8"/>
                </a:solidFill>
                <a:latin typeface="Calibri"/>
              </a:rPr>
              <a:t>Los cimientos del ajedrez · Lección 71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