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3: Medio juego: el juego defensivo</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13
El sacrificio defensivo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B. Lalić – A. Jálifman, Abierto de Linares 1997 · Gambito Benko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sacrificio defensivo</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Un sacrificio defensivo es la entrega deliberada de material por parte del bando que está siendo atacado, no para recuperar algo perdido antes, sino para eliminar las piezas que sostienen la iniciativa rival o para explotar concesiones posicionales que el atacante ya ha hecho. Su base suele estar precisamente en esas concesiones: un rey descentralizado, debilidades de peones, o piezas que todavía no han entrado en juego. Si el defensor logra frenar el ataque por medio de esta entrega, esos defectos estratégicos sirven como amplia compensación, incluso si el balance material no queda perfectamente equilibrado. Para reconocer el momento adecuado conviene preguntarse qué ha sacrificado realmente el atacante para montar su ofensiva (tiempo de desarrollo, seguridad del rey, estructura de peones) y si existe una forma de eliminar sus piezas más activas a cambio de material. Aplicarlo en la práctica exige, además de coraje, un cambio de mentalidad inmediato: en cuanto el sacrificio se produce, el antiguo defensor debe pensar y jugar como atacante, aprovechando sin demora las debilidades que quedan expuestas, porque el bando que tarda en adaptarse a su nuevo papel suele pagarlo caro.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 Lalić – A. Jálifman (Abierto de Linares 1997) 0-1</a:t>
            </a:r>
          </a:p>
        </p:txBody>
      </p:sp>
      <p:sp>
        <p:nvSpPr>
          <p:cNvPr id="3" name="TextBox 2"/>
          <p:cNvSpPr txBox="1"/>
          <p:nvPr/>
        </p:nvSpPr>
        <p:spPr>
          <a:xfrm>
            <a:off x="640080" y="1234440"/>
            <a:ext cx="10972800" cy="2677160"/>
          </a:xfrm>
          <a:prstGeom prst="rect">
            <a:avLst/>
          </a:prstGeom>
          <a:noFill/>
        </p:spPr>
        <p:txBody>
          <a:bodyPr wrap="square" anchor="t">
            <a:spAutoFit/>
          </a:bodyPr>
          <a:lstStyle/>
          <a:p>
            <a:pPr algn="l">
              <a:spcAft>
                <a:spcPts val="400"/>
              </a:spcAft>
            </a:pPr>
            <a:r>
              <a:rPr sz="1400" b="0" i="0">
                <a:solidFill>
                  <a:srgbClr val="1F2937"/>
                </a:solidFill>
                <a:latin typeface="Calibri"/>
              </a:rPr>
              <a:t>En este agudo Gambito Benko con 5.f3 y 7.e5, las blancas parecen construir una iniciativa prometedora, apuntando al débil peón d5 negro y amenazando atrapar piezas en el centro. Pero Jálifman encuentra un recurso extraordinario: 15...Dxc3+!, entregando la dama por una torre y un caballo para destruir precisamente las piezas que sostenían la iniciativa blanca. Tras el error 17.Cxd5?, las negras quedan con un rey blanco expuesto y un desarrollo blanco lamentable como único botín de la partida, y una segunda entrega, 25...Txa2!, junto con el remate 27...g6! (que abre la diagonal del alfil de f8 sin moverlo siquiera), completan una lección magistral sobre cómo convertir un sacrificio defensivo en un contraataque decisivo.</a:t>
            </a:r>
          </a:p>
          <a:p>
            <a:pPr algn="l">
              <a:spcAft>
                <a:spcPts val="400"/>
              </a:spcAft>
            </a:pPr>
            <a:r>
              <a:rPr sz="1400" b="0" i="0">
                <a:solidFill>
                  <a:srgbClr val="1F2937"/>
                </a:solidFill>
                <a:latin typeface="Calibri"/>
              </a:rPr>
              <a:t>La apertura: Este es el Gambito Benko con la línea 5.f3, en la que las blancas devuelven pronto el peón de gambito para ganar tiempo de desarrollo en vez de aferrarse al material. Tras 6.e4 y el temerario 7.e5!?, ambos bandos quedan con dificultades para desarrollar su flanco de rey debido a la posición de las damas, y las blancas concentran su plan en atacar el débil peón d5 negro antes de que su rival resuelva sus propios problemas de desarrollo.</a:t>
            </a:r>
          </a:p>
        </p:txBody>
      </p:sp>
      <p:sp>
        <p:nvSpPr>
          <p:cNvPr id="4" name="TextBox 3"/>
          <p:cNvSpPr txBox="1"/>
          <p:nvPr/>
        </p:nvSpPr>
        <p:spPr>
          <a:xfrm>
            <a:off x="640080" y="4048760"/>
            <a:ext cx="10972800" cy="2169159"/>
          </a:xfrm>
          <a:prstGeom prst="rect">
            <a:avLst/>
          </a:prstGeom>
          <a:noFill/>
        </p:spPr>
        <p:txBody>
          <a:bodyPr wrap="square">
            <a:spAutoFit/>
          </a:bodyPr>
          <a:lstStyle/>
          <a:p>
            <a:pPr>
              <a:spcAft>
                <a:spcPts val="600"/>
              </a:spcAft>
            </a:pPr>
            <a:r>
              <a:rPr sz="1600">
                <a:solidFill>
                  <a:srgbClr val="1F2937"/>
                </a:solidFill>
                <a:latin typeface="Calibri"/>
              </a:rPr>
              <a:t>•  Un sacrificio defensivo no busca solo sobrevivir: a veces elimina precisamente las piezas que sostenían la iniciativa rival, dejando al antiguo atacante con las secuelas de su propio ataque.</a:t>
            </a:r>
          </a:p>
          <a:p>
            <a:pPr>
              <a:spcAft>
                <a:spcPts val="600"/>
              </a:spcAft>
            </a:pPr>
            <a:r>
              <a:rPr sz="1600">
                <a:solidFill>
                  <a:srgbClr val="1F2937"/>
                </a:solidFill>
                <a:latin typeface="Calibri"/>
              </a:rPr>
              <a:t>•  Cuando el bando atacante ha comprometido su rey y su desarrollo para lanzar el ataque, esos defectos no desaparecen si el ataque se frena: se convierten en el objetivo del contraataque siguiente.</a:t>
            </a:r>
          </a:p>
          <a:p>
            <a:pPr>
              <a:spcAft>
                <a:spcPts val="600"/>
              </a:spcAft>
            </a:pPr>
            <a:r>
              <a:rPr sz="1600">
                <a:solidFill>
                  <a:srgbClr val="1F2937"/>
                </a:solidFill>
                <a:latin typeface="Calibri"/>
              </a:rPr>
              <a:t>•  Pasar de atacante a defensor (o al revés) en mitad de la partida es difícil incluso para jugadores fuertes; el bando que se adapta mejor al cambio de papeles suele terminar imponiéndose.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 Lalić – A. Jálifman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2…c5 3.d5 3…b5 4.cxb5 4…a6 5.f3 5…e6 6.e4 6…exd5 7.e5 7…De7 8.De2 8…Cg8 9.Cc3 9…Ab7 10.Ch3 10…c4!? 11.Ae3 11…axb5 12.O-O-O 12…Db4! 13.Cf4 13…Ce7 14.Ab6 14…h5! 15.Txd5 15…Dxc3+! 16.bxc3 16…Cxd5 17.Cxd5? 17…Axd5 18.Dd2 18…Ae6 19.Ae2 19…Cc6 20.f4 20…b4 21.f5 21…bxc3 22.Dxc3 22…Ta3 23.Db2? 23…c3 24.Db5 24…Axf5 25.Tf1 25…Txa2! 26.Txf5 26…Cb4 27.Da5 27…g6!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1fcb36caa36aa4074dabf9e18176ef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 Lalić – A. Jálifman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Buscando completar rápidamente el desarrollo antes de que las blancas ataquen el peón d5, ¿a qué casilla activa se traslada la dama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negra puede desplazarse a una casilla activa del flanco de dama, despejando e7 de paso.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12…Db4!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12...Db4! activa la dama y libera e7 para que el caballo apoye el débil peón d5, completando el desarrollo negro con la máxima eficacia posible.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9287a97b1663ad99564fff3f7e8c37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 Lalić – A. Jálifman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casi todas las piezas negras todavía atadas a la defensa de d5, ¿qué avance de peón aparentemente extraño impide Dc2 y prepara activar la torre por la tercera fila?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del flanco de rey negro puede avanzar dos casillas, con una idea de contrajuego poco habitual.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14...h5! impide la maniobra blanca Dc2 y prepara trasladar la torre h8 a h6, una idea imaginativa que demuestra la creatividad defensiva de Jálifman.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44d041c54c75cf2691e22e163e766b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 Lalić – A. Jálifman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15.Txd5, ¿con qué sorprendente sacrificio de dama eliminan las negras a las piezas blancas más peligrosas?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negra puede capturar una pieza menor blanca con jaque, aceptando quedarse con torre y caballo a cambio.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15…Dxc3+!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15...Dxc3+! es el sacrificio defensivo central de la partida: elimina al caballo y, tras la recaptura, deja expuestos los verdaderos defectos de la posición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6e60d2c254cb6682dd215110a8e793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 Lalić – A. Jálifman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torre negra de a3 ya activa, ¿qué segundo sacrificio de pieza redondea la ofensiva negra abriendo el camino hacia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capturar un peón del flanco de dama, entregando material para abrir la posición del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25…Txa2!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25...Txa2! es un atractivo sacrificio de pieza que profundiza el ataque negro, dejando al rey blanco sin defensas suficientes.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b17928ddda7e3c85d05baa6300f843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 Lalić – A. Jálifman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Sin mover el alfil que ha permanecido en su casilla original toda la partida, ¿qué avance de peón le abre la diagonal hacia h6 y remata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del flanco de rey negro puede avanzar una casilla, despejando la diagonal de un alfil dormido.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27…g6!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27...g6! abre la diagonal f8-h6 sin que el alfil necesite moverse, creando la amenaza decisiva de ...Ah6+ que las blancas ya no pueden evitar.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defensivo puede eliminar precisamente las piezas que sostienen la iniciativa rival, convirtiendo sus propias concesiones estratégicas en el objetivo del contraataque.</a:t>
            </a:r>
          </a:p>
          <a:p>
            <a:pPr>
              <a:spcAft>
                <a:spcPts val="600"/>
              </a:spcAft>
            </a:pPr>
            <a:r>
              <a:rPr sz="1600">
                <a:solidFill>
                  <a:srgbClr val="1F2937"/>
                </a:solidFill>
                <a:latin typeface="Calibri"/>
              </a:rPr>
              <a:t>•  Tras un cambio brusco de papeles (de atacante a defensor, o al revés), conviene adaptarse de inmediato al nuevo tipo de lucha en vez de seguir jugando con la mentalidad anterior.</a:t>
            </a:r>
          </a:p>
          <a:p>
            <a:pPr>
              <a:spcAft>
                <a:spcPts val="600"/>
              </a:spcAft>
            </a:pPr>
            <a:r>
              <a:rPr sz="1600">
                <a:solidFill>
                  <a:srgbClr val="1F2937"/>
                </a:solidFill>
                <a:latin typeface="Calibri"/>
              </a:rPr>
              <a:t>•  Incluso una pieza que no se ha movido en toda la partida puede resultar decisiva en el momento justo, una vez que se le abre su diagonal o columna.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