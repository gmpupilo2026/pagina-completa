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que el grupo decida antes de pasar a la siguiente diapositiva.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Repasar en plenaria; cada respuesta con su artículo.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Repasar en plenaria; cada respuesta con su artículo.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minuto por pregunta, y después las respuestas.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011680"/>
            <a:ext cx="109728" cy="2377440"/>
          </a:xfrm>
          <a:prstGeom prst="rect">
            <a:avLst/>
          </a:prstGeom>
          <a:solidFill>
            <a:srgbClr val="F4C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097280"/>
            <a:ext cx="10058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F4C430"/>
                </a:solidFill>
                <a:latin typeface="Calibri"/>
              </a:rPr>
              <a:t>SESIÓN 3  ·  FORMACIÓN AJEDREZ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1033272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935"/>
              </a:spcAft>
            </a:pPr>
            <a:r>
              <a:rPr sz="4300" b="1">
                <a:solidFill>
                  <a:srgbClr val="FFFFFF"/>
                </a:solidFill>
                <a:latin typeface="Calibri"/>
              </a:rPr>
              <a:t>Apéndices de las Leyes de Ajedrez y normativa de los Juegos Deportivos Estudiantiles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886200"/>
            <a:ext cx="103327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ADCFC"/>
                </a:solidFill>
                <a:latin typeface="Calibri"/>
              </a:rPr>
              <a:t>Ajedrez rápido y relámpago, sistemas de desempate y normativa vigente de los Juegos Deportivos Estudiantiles.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760720"/>
            <a:ext cx="1033272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720"/>
              </a:spcAft>
            </a:pPr>
            <a:r>
              <a:rPr sz="1600" b="0">
                <a:solidFill>
                  <a:srgbClr val="9FB3C8"/>
                </a:solidFill>
                <a:latin typeface="Calibri"/>
              </a:rPr>
              <a:t>Programa de Formación para Personas Árbitras y Asesoras  ·  Juegos Deportivos Estudiantiles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Al terminar esta sesión, cada participante podrá: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Clasificar un control de tiempo como clásico, rápido o relámpago con la fórmula de 60 jugadas.</a:t>
            </a:r>
          </a:p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Aplicar las diferencias de las rápidas y el relámpago, con y sin supervisión adecuada.</a:t>
            </a:r>
          </a:p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Calcular Buchholz, Buchholz con corte, Sonneborn-Berger y encuentro directo.</a:t>
            </a:r>
          </a:p>
          <a:p>
            <a:pPr>
              <a:spcAft>
                <a:spcPts val="1260"/>
              </a:spcAft>
            </a:pPr>
            <a:r>
              <a:rPr sz="2800" b="0">
                <a:solidFill>
                  <a:srgbClr val="102A43"/>
                </a:solidFill>
                <a:latin typeface="Calibri"/>
              </a:rPr>
              <a:t>•  Aplicar el artículo 66 de la Normativa JDE 2026: modalidades, sistemas y ritmos por etapa, anotación, puntos y desempates.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Cronograma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Sesión 3 · 5 horas (300 minutos)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8308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463040"/>
                <a:gridCol w="7162495"/>
              </a:tblGrid>
              <a:tr h="41563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Horario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Bloque</a:t>
                      </a:r>
                    </a:p>
                  </a:txBody>
                  <a:tcPr>
                    <a:solidFill>
                      <a:srgbClr val="3172AC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0:00 – 0:15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Repaso y revisión de la tarea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0:15 – 0:55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Ritmos de juego: los apéndices A y 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0:55 – 1:35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Rápidas y relámpago en la sala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1:35 – 1:50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1:50 – 2:35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45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Sistemas de desempate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2:35 – 3:05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La Normativa JDE 2026 (art. 30 y 66)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3:05 – 3:20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15 min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02A43"/>
                          </a:solidFill>
                          <a:latin typeface="Calibri"/>
                        </a:rPr>
                        <a:t>Receso</a:t>
                      </a:r>
                    </a:p>
                  </a:txBody>
                  <a:tcPr>
                    <a:solidFill>
                      <a:srgbClr val="FDF3D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3:20 – 4:10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50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Práctica: cálculo de desempates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4:10 – 4:40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30 min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Quiz de la sesión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4:40 – 5:00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20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02A43"/>
                          </a:solidFill>
                          <a:latin typeface="Calibri"/>
                        </a:rPr>
                        <a:t>Cierre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Cómo se clasifica un ritmo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apéndices A.1 y B.1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15"/>
              </a:spcAft>
            </a:pPr>
            <a:r>
              <a:rPr sz="2700" b="0">
                <a:solidFill>
                  <a:srgbClr val="3172AC"/>
                </a:solidFill>
                <a:latin typeface="Calibri"/>
              </a:rPr>
              <a:t>Para clasificar un control de tiempo se supone una partida de 60 jugadas: se suma el tiempo base más 60 veces el incremento. Con 10 minutos o menos por jugador es relámpago; con más de 10 y menos de 60 es rápidas; con 60 o más es ritmo clásico.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3 min + 2 s: 3 + 2 = 5 minutos, relámpago.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15 min + 10 s: 15 + 10 = 25 minutos, rápidas.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90 min + 30 s: 90 + 30 = 120 minutos, clásico.</a:t>
            </a:r>
          </a:p>
          <a:p>
            <a:pPr>
              <a:spcAft>
                <a:spcPts val="1215"/>
              </a:spcAft>
            </a:pPr>
            <a:r>
              <a:rPr sz="2700" b="0">
                <a:solidFill>
                  <a:srgbClr val="102A43"/>
                </a:solidFill>
                <a:latin typeface="Calibri"/>
              </a:rPr>
              <a:t>•  En rápidas y relámpago rigen las Leyes con los cambios que fijan sus apéndices.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Rápidas y relámpago en la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apéndices A.2 a A.5 y B.3 (Manual del Árbitro FIDE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3172AC"/>
                </a:solidFill>
                <a:latin typeface="Calibri"/>
              </a:rPr>
              <a:t>En estos ritmos no es obligatorio anotar, salvo que el reglamento del evento lo exija; aun así, el jugador conserva sus reclamos. Las sanciones de tiempo de los art. 7 y 9 son de un minuto en lugar de dos.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Supervisión adecuada (A.4): una persona árbitra por cada tres partidas como máximo, que registra cada partida. Con ella rigen las reglas de competición, como en ritmo clásico.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Sin esa supervisión (A.5), pasadas 10 jugadas de cada bando ya no se cambia el reloj ni se reclama por el tablero mal armado u orientado (A.5.1).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Jugada ilegal sin esa supervisión: la persona árbitra actúa si el rival todavía no hizo su jugada; si nadie reclama y el rival ya jugó, la jugada ilegal queda (A.5.2).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Caída de bandera: quien reclama pausa el reloj y avisa; si no puede dar mate con ninguna serie de jugadas legales, son tablas (A.5.3).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Rápidas y relámpago en la práctica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apéndices A.2 a A.5 y B.3 (Manual del Árbitro FIDE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El mate termina la partida al instante: si un jugador da mate y un instante después cae su bandera, gana quien dio mate.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Buchholz y sus cortes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Reglamento de desempates de la FIDE (Handbook C.07)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3172AC"/>
                </a:solidFill>
                <a:latin typeface="Calibri"/>
              </a:rPr>
              <a:t>El Buchholz suma los puntos finales de todos los rivales que enfrentó el jugador: mide la dureza de su recorrido. Es el desempate más usado en el sistema suizo. El Buchholz con corte 1 quita el resultado más bajo de esa suma, para que un rival que se hundió pese menos.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Ejemplo: los rivales de Ana terminaron con 3, 2½, 4, 1 y 2 puntos. Buchholz = 12½; con corte 1 (se quita el 1) = 11½.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Los rivales de Bruno terminaron con 3½, 3, 2, 2 y 2 puntos. Buchholz = 12½; con corte 1 (se quita un 2) = 10½.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Empatan en Buchholz, pero el corte 1 ordena primero a Ana.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El reglamento del torneo anuncia de antemano la lista de desempates y su orden.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729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324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Receso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15 minutos</a:t>
            </a:r>
          </a:p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Pausa los relojes: seguimos en breve.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Sonneborn-Berger y encuentro directo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Reglamento de desempates de la FIDE (Handbook C.07)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3172AC"/>
                </a:solidFill>
                <a:latin typeface="Calibri"/>
              </a:rPr>
              <a:t>El Sonneborn-Berger suma los puntos finales de los rivales a los que el jugador venció, más la mitad de los puntos de aquellos con quienes empató. Premia haberles ganado a los que terminaron arriba y es el desempate habitual en el sistema de todos contra todos. El encuentro directo ordena a los empatados según el resultado de sus partidas entre sí.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Si los empatados no se enfrentaron o el encuentro no define nada, se pasa al siguiente desempate de la lista.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Si se agota la lista y sigue el empate, se resuelve por sorteo, salvo que el reglamento diga otra cosa.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Si el reglamento no dice nada sobre cómo ordenar a los empatados, se usan desempates fuera del tablero, no una partida extra.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La Normativa JDE 2026: el artículo 66 (ajedrez)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Normativa del Programa Juegos Deportivos Estudiantiles 2026, art. 30 y 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3172AC"/>
                </a:solidFill>
                <a:latin typeface="Calibri"/>
              </a:rPr>
              <a:t>La Normativa del Programa Juegos Deportivos Estudiantiles 2026 dedica su artículo 66 al ajedrez, en las categorías A a E. Lo que no establece se rige primero por las reglas de la Federación Costarricense de Ajedrez y después por las de la FIDE.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Dos modalidades: torneo individual (mujeres y abierto) y torneo por equipos (mujeres y abierto). Cada estudiante juega solo una (66.1.e y 66.1.h).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Equipos de 3 a 5 estudiantes: cuatro titulares y un suplente. Al iniciar cada ronda, al menos dos frente al tablero (66.1.g y 66.2.f).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Anotación algebraica en todas las categorías; quien no anote es amonestado si el rival lo pide, excepto en la categoría A (66.2.g).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Puntos: 1, ½ y 0. Al menos tres desempates, que fija la persona árbitra principal en el congresillo (66.3 y 66.4).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La Normativa JDE 2026: el artículo 66 (ajedrez)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Normativa del Programa Juegos Deportivos Estudiantiles 2026, art. 30 y 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Presentación: en ajedrez, la persona estudiante puede llegar hasta que su reloj caiga a cero (art. 30).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Sistemas y ritmos de la JDE, etapa por etapa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Normativa del Programa Juegos Deportivos Estudiantiles 2026, art. 66.2; Leyes del Ajedrez 2023 (Handbook E.I.01), apéndices A.1, A.3 y B.1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3172AC"/>
                </a:solidFill>
                <a:latin typeface="Calibri"/>
              </a:rPr>
              <a:t>La Normativa fija el sistema y el ritmo mínimo de cada etapa. Con 10 minutos más 2 segundos por jugada, la fórmula de las 60 jugadas da 12 minutos: para la FIDE es ajedrez rápido, así que en las etapas Regional e Interregional rige el apéndice A.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Regional: suizo de al menos cinco rondas si hay más de ocho por modalidad; todos contra todos si hay ocho o menos. Ritmo mínimo de 10 min + 2 s (66.2.a y 66.2.b).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Interregional: todos contra todos, con un ritmo mínimo de 10 min + 2 s (66.2.c).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Nacional: suizo de cinco rondas con más de siete; todos contra todos con seis o menos. Ritmo clásico y blitz de 3 min + 2 s (66.2.d y 66.2.e).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Con exactamente siete en la Etapa Nacional, la Normativa no dice qué sistema usar: conviene dejarlo escrito en el acta del congresillo.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Sistemas y ritmos de la JDE, etapa por etapa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Normativa del Programa Juegos Deportivos Estudiantiles 2026, art. 66.2; Leyes del Ajedrez 2023 (Handbook E.I.01), apéndices A.1, A.3 y B.1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Consecuencia práctica: en Regional e Interregional, la primera jugada ilegal le suma 1 minuto al rival, no 2 (A.3).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1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¿Rápidas o relámpago?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Un torneo escolar se anuncia a 5 minutos más 3 segundos por jugada.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1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¿Rápidas o relámpago?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apéndice B.1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5 + 60 × 3 s = 5 + 3 = 8 minutos: es relámpago, porque no pasa de 10 minutos.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2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Justo en el límite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Un torneo se anuncia a 45 minutos más 15 segundos.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2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Justo en el límite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apéndice A.1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45 + 15 = 60 minutos. Las rápidas son de más de 10 y menos de 60, así que este ritmo ya es clásico.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3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Mate y bandera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En relámpago, un estudiante da mate y, un instante después, cae su bandera.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3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Mate y bandera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5.1.1 y apéndice B.3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Gana quien dio mate: el mate termina la partida en el momento en que se produce.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4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Llega con el reloj corriendo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Ronda de la Etapa Regional a 10 min + 2 s. Una estudiante llega 8 minutos tarde y su rival ya puso en marcha el reloj.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4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Llega con el reloj corriendo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Normativa del Programa Juegos Deportivos Estudiantiles 2026, art. 30 y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Puede jugar: en ajedrez, la JDE admite a la persona estudiante hasta que su reloj caiga a cero (art. 30). Juega con el tiempo que le queda. Si su reloj ya hubiera llegado a cero, se aplica lo que la Normativa establece para la no presentación (art. 32).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5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Categoría A sin planilla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En la categoría A, un niño no anota sus jugadas y su rival le pide a la persona árbitra que lo amoneste.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5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Categoría A sin planilla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Normativa del Programa Juegos Deportivos Estudiantiles 2026, art. 66.2.g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En la categoría A no se amonesta por no anotar. En las demás categorías, la persona árbitra principal amonesta a quien no anote si el rival lo solicita (66.2.g).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6 · ¿Qué decide la persona árbitra?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La primera ilegal en la Regional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0">
                <a:solidFill>
                  <a:srgbClr val="102A43"/>
                </a:solidFill>
                <a:latin typeface="Calibri"/>
              </a:rPr>
              <a:t>Etapa Regional a 10 min + 2 s. Un estudiante deja su rey en jaque y presiona el reloj; su rival todavía no ha jugado. Es su primera jugada ilegal.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Caso 6 · Decisión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La primera ilegal en la Regional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19088"/>
            <a:ext cx="10180015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Fuente: Leyes del Ajedrez 2023 (Handbook E.I.01), art. 7.5.1 y 7.5.5; apéndices A.1 y A.3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EEF7EE"/>
          </a:solidFill>
          <a:ln w="19050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10545775" cy="3931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Se restablece la posición anterior, juega otra respetando la pieza tocada y el rival recibe 1 minuto: con 10 + 60 × 2 s = 12 minutos la partida es rápida (A.1) y en rápidas la sanción es de un minuto (A.3).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7729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3240"/>
              </a:spcAft>
            </a:pPr>
            <a:r>
              <a:rPr sz="7200" b="1">
                <a:solidFill>
                  <a:srgbClr val="FFFFFF"/>
                </a:solidFill>
                <a:latin typeface="Calibri"/>
              </a:rPr>
              <a:t>Receso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6616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15 minutos</a:t>
            </a:r>
          </a:p>
          <a:p>
            <a:pPr algn="ctr">
              <a:spcAft>
                <a:spcPts val="1260"/>
              </a:spcAft>
            </a:pPr>
            <a:r>
              <a:rPr sz="2800" b="0">
                <a:solidFill>
                  <a:srgbClr val="CADCFC"/>
                </a:solidFill>
                <a:latin typeface="Calibri"/>
              </a:rPr>
              <a:t>Pausa los relojes: seguimos en breve.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Práctica · Cálculo de desempates de un torneo simulado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Con los resultados de un torneo simulado de 8 jugadores, cada participante calcula la tabla final aplicando Buchholz y Sonneborn-Berger.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1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Clasifica estos ritmos: a) 10 min sin incremento; b) 10 min + 5 s; c) 25 min + 10 s; d) 60 min sin incremento.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2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Torneo de todos contra todos con 6 jugadores (A a F). A: ½ con B, ganó a C, D y F, perdió con E. B: ½ con A, perdió con C, ganó a D, E y F. C: 3 puntos. D: 2½. E: 1½. F: 1. A y B terminan con 3½. ¿Quién queda primero por Sonneborn-Berger?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3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En un suizo a 5 rondas, los rivales de Carla terminaron con 4, 3, 3, 2 y ½ puntos, y los de Diego con 3½, 3, 3, 2½ y 1. Ambos tienen 4 puntos. Calcula Buchholz y Buchholz con corte 1.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4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Con la Normativa JDE 2026, completa para ajedrez: sistema y ritmo en una Etapa Regional con 12 inscritos por modalidad, mínimo de estudiantes al iniciar una ronda por equipos, quién fija los desempates y hasta cuándo puede presentarse un estudiante.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 5 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545775" cy="44805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102A43"/>
                </a:solidFill>
                <a:latin typeface="Calibri"/>
              </a:rPr>
              <a:t>Etapa Nacional de ajedrez con siete inscritos en el torneo individual abierto. ¿Qué sistema dice la Normativa? ¿Qué debe hacer la persona árbitra principal?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Ejercicios: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1. a) 10 minutos: relámpago (10 o menos). b) 10 + 5 = 15: rápidas. c) 25 + 10 = 35: rápidas. d) 60: clásico.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2. A: venció a C (3), D (2½) y F (1) = 6½, más la mitad de B (3½) = 1¾. Total 8¼. B: venció a D (2½), E (1½) y F (1) = 5, más la mitad de A = 1¾. Total 6¾. Queda primero A. (El encuentro directo no los separaba: empataron entre sí.)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3. Carla: Buchholz 12½; corte 1 (se quita ½) = 12. Diego: Buchholz 13; corte 1 (se quita 1) = 12. Si el primer desempate es Buchholz, gana Diego; si fuera Buchholz con corte 1, siguen empatados y se pasa al siguiente criterio.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4. Suizo de al menos cinco rondas, con un ritmo mínimo de 10 min + 2 s (66.2.a); al menos dos frente al tablero (66.2.f); la persona árbitra principal, en el congresillo, con al menos tres criterios (66.4); hasta que su reloj caiga a cero (art. 30).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Ejercicios: respuestas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34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5. La Normativa prevé suizo con más de siete y todos contra todos con seis o menos (66.2.d y 66.2.e): no dice nada para exactamente siete. La persona árbitra principal lo plantea en el congresillo y deja el acuerdo escrito en el acta, que obliga a todas las delegaciones (art. 34).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1. ¿Cuál es el criterio de desempate que suma los puntajes finales de los rivales enfrentados?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2. ¿Qué distingue principalmente al ajedrez relámpago del ajedrez rápido?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3. ¿Cómo se clasifica un ritmo que tiene incremento?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4. ¿En qué tipo de torneo es habitual el Sonneborn-Berger?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5. Se agotó la lista de desempates y dos jugadores siguen empatados. ¿Qué corresponde?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6. En rápidas, ¿es obligatorio anotar las jugadas?</a:t>
            </a:r>
          </a:p>
          <a:p>
            <a:pPr>
              <a:spcAft>
                <a:spcPts val="990"/>
              </a:spcAft>
            </a:pPr>
            <a:r>
              <a:rPr sz="2200" b="0">
                <a:solidFill>
                  <a:srgbClr val="102A43"/>
                </a:solidFill>
                <a:latin typeface="Calibri"/>
              </a:rPr>
              <a:t>•  7. En ajedrez relámpago sin supervisión adecuada, ¿quién reclama la caída de una bandera?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 (continuación)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8. Sin supervisión adecuada, pasadas 10 jugadas de cada bando, ¿se puede reclamar por un tablero mal orientado?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9. Si la Normativa JDE 2026 no regula algo del ajedrez, ¿qué se aplica?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10. El encuentro directo no separa a dos jugadores empatados porque no se enfrentaron entre sí. ¿Qué corresponde?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11. En relámpago, un jugador da mate y un instante después cae su propia bandera. ¿Quién gana?</a:t>
            </a:r>
          </a:p>
          <a:p>
            <a:pPr>
              <a:spcAft>
                <a:spcPts val="1080"/>
              </a:spcAft>
            </a:pPr>
            <a:r>
              <a:rPr sz="2400" b="0">
                <a:solidFill>
                  <a:srgbClr val="102A43"/>
                </a:solidFill>
                <a:latin typeface="Calibri"/>
              </a:rPr>
              <a:t>•  12. En la Etapa Regional de la JDE se juega a 10 minutos más 2 segundos. ¿Qué tipo de partida es para la FIDE?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 de la sesión (continuación)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0"/>
          </a:xfrm>
          <a:prstGeom prst="rect">
            <a:avLst/>
          </a:prstGeom>
          <a:solidFill>
            <a:srgbClr val="4E6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87552"/>
            <a:ext cx="11277295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945"/>
              </a:spcAft>
            </a:pPr>
            <a:r>
              <a:rPr sz="2100" b="0">
                <a:solidFill>
                  <a:srgbClr val="FFFFFF"/>
                </a:solidFill>
                <a:latin typeface="Calibri"/>
              </a:rPr>
              <a:t>Responde de forma individual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11277295" cy="43891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10637215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13. Según la Normativa JDE 2026, ¿cuántos estudiantes de un equipo deben estar frente al tablero al iniciar cada ronda?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Quiz: respuestas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1. Buchholz.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2. El control de tiempo asignado a cada jugador.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3. Con el tiempo base más 60 veces el incremento por jugada.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4. En los de todos contra todos (round robin).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5. Un sorteo, salvo que el reglamento del torneo diga otra cosa.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6. No, salvo que el reglamento del evento lo exija; el jugador conserva sus reclamos.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7. El propio jugador: pausa el reloj y avisa a la persona árbitra. Si no puede dar mate con ninguna serie de jugadas legales, son tablas (A.5.3).</a:t>
            </a:r>
          </a:p>
          <a:p>
            <a:pPr>
              <a:spcAft>
                <a:spcPts val="1035"/>
              </a:spcAft>
            </a:pPr>
            <a:r>
              <a:rPr sz="2300" b="0">
                <a:solidFill>
                  <a:srgbClr val="102A43"/>
                </a:solidFill>
                <a:latin typeface="Calibri"/>
              </a:rPr>
              <a:t>•  8. No, ya no se admite ese reclamo.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3172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77295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>
              <a:spcAft>
                <a:spcPts val="1530"/>
              </a:spcAft>
            </a:pPr>
            <a:r>
              <a:rPr sz="3400" b="1">
                <a:solidFill>
                  <a:srgbClr val="FFFFFF"/>
                </a:solidFill>
                <a:latin typeface="Calibri"/>
              </a:rPr>
              <a:t>Quiz: respuestas (continuación)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627D98"/>
                </a:solidFill>
                <a:latin typeface="Calibri"/>
              </a:rPr>
              <a:t>39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77295" cy="489204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19"/>
            <a:ext cx="10637215" cy="4617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9. Primero las reglas de la Federación Costarricense de Ajedrez y, después, las de la FIDE (art. 66).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10. Pasar al siguiente desempate de la lista anunciada en el reglamento del torneo.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11. Gana quien dio mate: el mate termina la partida en el momento en que se produce.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12. Rápida: 10 + 60 × 2 s = 12 minutos (apéndice A.1).</a:t>
            </a:r>
          </a:p>
          <a:p>
            <a:pPr>
              <a:spcAft>
                <a:spcPts val="1350"/>
              </a:spcAft>
            </a:pPr>
            <a:r>
              <a:rPr sz="3000" b="0">
                <a:solidFill>
                  <a:srgbClr val="102A43"/>
                </a:solidFill>
                <a:latin typeface="Calibri"/>
              </a:rPr>
              <a:t>•  13. Al menos dos (art. 66.2.f).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28655" y="6419088"/>
            <a:ext cx="109728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9FB3C8"/>
                </a:solidFill>
                <a:latin typeface="Calibri"/>
              </a:rPr>
              <a:t>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728655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2000" b="1">
                <a:solidFill>
                  <a:srgbClr val="F4C430"/>
                </a:solidFill>
                <a:latin typeface="Calibri"/>
              </a:rPr>
              <a:t>TAREA PARA LA PRÓXIMA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28655" cy="3108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40"/>
              </a:spcAft>
            </a:pPr>
            <a:r>
              <a:rPr sz="3200" b="0">
                <a:solidFill>
                  <a:srgbClr val="FFFFFF"/>
                </a:solidFill>
                <a:latin typeface="Calibri"/>
              </a:rPr>
              <a:t>Analizar un caso de inscripción o de categorización de una persona estudiante y determinar el procedimiento correcto según la normativa JDE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46320"/>
            <a:ext cx="10728655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ADCFC"/>
                </a:solidFill>
                <a:latin typeface="Calibri"/>
              </a:rPr>
              <a:t>¿Dudas? Este es el momento. Gracias por tu participación.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