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692640" y="-1463040"/>
            <a:ext cx="4572000" cy="4572000"/>
          </a:xfrm>
          <a:prstGeom prst="ellipse">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645920" y="4937760"/>
            <a:ext cx="3840480" cy="3840480"/>
          </a:xfrm>
          <a:prstGeom prst="ellipse">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640080" y="594360"/>
            <a:ext cx="1005840" cy="100584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594360"/>
            <a:ext cx="1005840" cy="1005840"/>
          </a:xfrm>
          <a:prstGeom prst="rect">
            <a:avLst/>
          </a:prstGeom>
          <a:noFill/>
        </p:spPr>
        <p:txBody>
          <a:bodyPr wrap="square">
            <a:spAutoFit/>
          </a:bodyPr>
          <a:lstStyle/>
          <a:p>
            <a:pPr algn="ctr"/>
            <a:r>
              <a:rPr sz="3200" b="1">
                <a:solidFill>
                  <a:srgbClr val="0A1F33"/>
                </a:solidFill>
                <a:latin typeface="Calibri"/>
              </a:rPr>
              <a:t>32</a:t>
            </a:r>
          </a:p>
        </p:txBody>
      </p:sp>
      <p:sp>
        <p:nvSpPr>
          <p:cNvPr id="7" name="TextBox 6"/>
          <p:cNvSpPr txBox="1"/>
          <p:nvPr/>
        </p:nvSpPr>
        <p:spPr>
          <a:xfrm>
            <a:off x="1920240" y="685800"/>
            <a:ext cx="9509760" cy="457200"/>
          </a:xfrm>
          <a:prstGeom prst="rect">
            <a:avLst/>
          </a:prstGeom>
          <a:noFill/>
        </p:spPr>
        <p:txBody>
          <a:bodyPr wrap="square">
            <a:spAutoFit/>
          </a:bodyPr>
          <a:lstStyle/>
          <a:p>
            <a:r>
              <a:rPr sz="1300" b="1">
                <a:solidFill>
                  <a:srgbClr val="F0B429"/>
                </a:solidFill>
                <a:latin typeface="Calibri"/>
              </a:rPr>
              <a:t>AJEDREZ INTEGRAL  ·  GANAR CON POCO</a:t>
            </a:r>
          </a:p>
        </p:txBody>
      </p:sp>
      <p:sp>
        <p:nvSpPr>
          <p:cNvPr id="8" name="TextBox 7"/>
          <p:cNvSpPr txBox="1"/>
          <p:nvPr/>
        </p:nvSpPr>
        <p:spPr>
          <a:xfrm>
            <a:off x="1920240" y="1097280"/>
            <a:ext cx="9509760" cy="365760"/>
          </a:xfrm>
          <a:prstGeom prst="rect">
            <a:avLst/>
          </a:prstGeom>
          <a:noFill/>
        </p:spPr>
        <p:txBody>
          <a:bodyPr wrap="square">
            <a:spAutoFit/>
          </a:bodyPr>
          <a:lstStyle/>
          <a:p>
            <a:r>
              <a:rPr sz="1300" b="0">
                <a:solidFill>
                  <a:srgbClr val="9FB3C8"/>
                </a:solidFill>
                <a:latin typeface="Calibri"/>
              </a:rPr>
              <a:t>Bloque 7 · Las partidas del libro</a:t>
            </a:r>
          </a:p>
        </p:txBody>
      </p:sp>
      <p:sp>
        <p:nvSpPr>
          <p:cNvPr id="9" name="TextBox 8"/>
          <p:cNvSpPr txBox="1"/>
          <p:nvPr/>
        </p:nvSpPr>
        <p:spPr>
          <a:xfrm>
            <a:off x="640080" y="2651760"/>
            <a:ext cx="10881360" cy="2011680"/>
          </a:xfrm>
          <a:prstGeom prst="rect">
            <a:avLst/>
          </a:prstGeom>
          <a:noFill/>
        </p:spPr>
        <p:txBody>
          <a:bodyPr wrap="square">
            <a:spAutoFit/>
          </a:bodyPr>
          <a:lstStyle/>
          <a:p>
            <a:r>
              <a:rPr sz="4000" b="1">
                <a:solidFill>
                  <a:srgbClr val="FFFFFF"/>
                </a:solidFill>
                <a:latin typeface="Cambria"/>
              </a:rPr>
              <a:t>Portisch – Beliavsky: la mayoría del flanco de dama</a:t>
            </a:r>
          </a:p>
        </p:txBody>
      </p:sp>
      <p:sp>
        <p:nvSpPr>
          <p:cNvPr id="10" name="TextBox 9"/>
          <p:cNvSpPr txBox="1"/>
          <p:nvPr/>
        </p:nvSpPr>
        <p:spPr>
          <a:xfrm>
            <a:off x="640080" y="4617720"/>
            <a:ext cx="9601200" cy="914400"/>
          </a:xfrm>
          <a:prstGeom prst="rect">
            <a:avLst/>
          </a:prstGeom>
          <a:noFill/>
        </p:spPr>
        <p:txBody>
          <a:bodyPr wrap="square">
            <a:spAutoFit/>
          </a:bodyPr>
          <a:lstStyle/>
          <a:p>
            <a:r>
              <a:rPr sz="1800" b="0">
                <a:solidFill>
                  <a:srgbClr val="CADCFC"/>
                </a:solidFill>
                <a:latin typeface="Calibri"/>
              </a:rPr>
              <a:t>Lajos Portisch contra Alexander Beliavsky, Tilburg, 1981. Mayoría de peones y columna abierta.</a:t>
            </a:r>
          </a:p>
        </p:txBody>
      </p:sp>
      <p:sp>
        <p:nvSpPr>
          <p:cNvPr id="11" name="TextBox 10"/>
          <p:cNvSpPr txBox="1"/>
          <p:nvPr/>
        </p:nvSpPr>
        <p:spPr>
          <a:xfrm>
            <a:off x="640080" y="6309360"/>
            <a:ext cx="5486400" cy="365760"/>
          </a:xfrm>
          <a:prstGeom prst="rect">
            <a:avLst/>
          </a:prstGeom>
          <a:noFill/>
        </p:spPr>
        <p:txBody>
          <a:bodyPr wrap="square">
            <a:spAutoFit/>
          </a:bodyPr>
          <a:lstStyle/>
          <a:p>
            <a:r>
              <a:rPr sz="1100" b="0">
                <a:solidFill>
                  <a:srgbClr val="627D98"/>
                </a:solidFill>
                <a:latin typeface="Calibri"/>
              </a:rPr>
              <a:t>ajedrez-integral.com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Portisch – Beliavsky: la mayoría del flanco de dama</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En una Eslava, Portisch consigue una mayoría de peones en el flanco de dama, una torre en la columna c y una dama centralizada. Es una ventaja pequeña, pero sin contrajuego para las negras: las blancas la empujan hasta tener un peón pasado y, con el cambio de damas a la vista, la partida se decide.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Portisch – Beliavsky: la mayoría del flanco de dama</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Recórrela jugada a jugada en el tablero (Defensa Eslava; ganan las blancas). En los momentos clave el visor te pide que encuentres la jugada antes de verla: todas están comprobadas con Stockfish, y en cada una la jugada de la partida es la mejor por al menos medio peón. Lo que hay que llevarse: Una mayoría de peones es un peón pasado que todavía no nació. Un caballo en una casilla que ningún peón puede atacar es una espina en el campo rival. Con un peón pasado, cambiar damas suele favorecer al que lo tiene.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280160" y="-1463040"/>
            <a:ext cx="4114800" cy="4114800"/>
          </a:xfrm>
          <a:prstGeom prst="ellipse">
            <a:avLst/>
          </a:prstGeom>
          <a:solidFill>
            <a:srgbClr val="0A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5175504" y="822960"/>
            <a:ext cx="1828800" cy="182880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175504" y="822960"/>
            <a:ext cx="1828800" cy="1828800"/>
          </a:xfrm>
          <a:prstGeom prst="rect">
            <a:avLst/>
          </a:prstGeom>
          <a:noFill/>
        </p:spPr>
        <p:txBody>
          <a:bodyPr wrap="square">
            <a:spAutoFit/>
          </a:bodyPr>
          <a:lstStyle/>
          <a:p>
            <a:pPr algn="ctr"/>
            <a:r>
              <a:rPr sz="4400" b="1">
                <a:solidFill>
                  <a:srgbClr val="0A1F33"/>
                </a:solidFill>
                <a:latin typeface="Calibri"/>
              </a:rPr>
              <a:t>✔</a:t>
            </a:r>
          </a:p>
        </p:txBody>
      </p:sp>
      <p:sp>
        <p:nvSpPr>
          <p:cNvPr id="6" name="TextBox 5"/>
          <p:cNvSpPr txBox="1"/>
          <p:nvPr/>
        </p:nvSpPr>
        <p:spPr>
          <a:xfrm>
            <a:off x="548640" y="2880360"/>
            <a:ext cx="11064240" cy="457200"/>
          </a:xfrm>
          <a:prstGeom prst="rect">
            <a:avLst/>
          </a:prstGeom>
          <a:noFill/>
        </p:spPr>
        <p:txBody>
          <a:bodyPr wrap="square">
            <a:spAutoFit/>
          </a:bodyPr>
          <a:lstStyle/>
          <a:p>
            <a:pPr algn="ctr"/>
            <a:r>
              <a:rPr sz="1400" b="1">
                <a:solidFill>
                  <a:srgbClr val="F0B429"/>
                </a:solidFill>
                <a:latin typeface="Calibri"/>
              </a:rPr>
              <a:t>PARA PRACTICAR</a:t>
            </a:r>
          </a:p>
        </p:txBody>
      </p:sp>
      <p:sp>
        <p:nvSpPr>
          <p:cNvPr id="7" name="TextBox 6"/>
          <p:cNvSpPr txBox="1"/>
          <p:nvPr/>
        </p:nvSpPr>
        <p:spPr>
          <a:xfrm>
            <a:off x="1280160" y="3383280"/>
            <a:ext cx="9601200" cy="2377440"/>
          </a:xfrm>
          <a:prstGeom prst="rect">
            <a:avLst/>
          </a:prstGeom>
          <a:noFill/>
        </p:spPr>
        <p:txBody>
          <a:bodyPr wrap="square">
            <a:spAutoFit/>
          </a:bodyPr>
          <a:lstStyle/>
          <a:p>
            <a:pPr algn="ctr"/>
            <a:r>
              <a:rPr sz="2200" b="0">
                <a:solidFill>
                  <a:srgbClr val="FFFFFF"/>
                </a:solidFill>
                <a:latin typeface="Cambria"/>
              </a:rPr>
              <a:t>Cuenta los peones de cada flanco al salir de la apertura: ¿dónde tienes la mayoría? Si tienes un peón pasado, busca cambiar las piezas que pueden frenarlo.</a:t>
            </a:r>
          </a:p>
        </p:txBody>
      </p:sp>
      <p:sp>
        <p:nvSpPr>
          <p:cNvPr id="8" name="TextBox 7"/>
          <p:cNvSpPr txBox="1"/>
          <p:nvPr/>
        </p:nvSpPr>
        <p:spPr>
          <a:xfrm>
            <a:off x="548640" y="6263640"/>
            <a:ext cx="11064240" cy="365760"/>
          </a:xfrm>
          <a:prstGeom prst="rect">
            <a:avLst/>
          </a:prstGeom>
          <a:noFill/>
        </p:spPr>
        <p:txBody>
          <a:bodyPr wrap="square">
            <a:spAutoFit/>
          </a:bodyPr>
          <a:lstStyle/>
          <a:p>
            <a:pPr algn="ctr"/>
            <a:r>
              <a:rPr sz="1200" b="0">
                <a:solidFill>
                  <a:srgbClr val="9FB3C8"/>
                </a:solidFill>
                <a:latin typeface="Calibri"/>
              </a:rPr>
              <a:t>Ganar con poco · Lección 32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