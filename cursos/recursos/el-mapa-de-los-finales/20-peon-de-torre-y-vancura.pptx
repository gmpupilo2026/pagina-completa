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A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F0B429"/>
                </a:solidFill>
                <a:latin typeface="Calibri"/>
              </a:rPr>
              <a:t>El mapa de los finales  ·  Bloque 5: Finales de torre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51560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Georgia"/>
              </a:rPr>
              <a:t>Lección 20
El peón de torre y la defensa de Vancura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206240"/>
            <a:ext cx="105156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F0F4F8"/>
                </a:solidFill>
                <a:latin typeface="Calibri"/>
              </a:rPr>
              <a:t>Finales 65 a 68 · 7 posiciones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F0B429"/>
                </a:solidFill>
                <a:latin typeface="Calibri"/>
              </a:rPr>
              <a:t>Ajedrez Integral · Oscar Angulo Cubero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02A43"/>
                </a:solidFill>
                <a:latin typeface="Georgia"/>
              </a:rPr>
              <a:t>Objetivo de la lección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19431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</a:rPr>
              <a:t>Manejar el peón de torre en séptima con la torre delante, la defensa de Vancura con el peón en sexta y los casos con el rey delante o apoyando.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</a:rPr>
              <a:t>Idea guía: Contra el peón de torre la torre defensora ataca de lado: la posición de Vancura es la que hay que memorizar.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20 · Ajedrez Integral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02A43"/>
                </a:solidFill>
                <a:latin typeface="Georgia"/>
              </a:rPr>
              <a:t>Contenido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Final 65 · Peón de torre en séptima. Torre fuerte delante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Final 66 · Peón en sexta. La defensa de Vancura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Final 67 · Peón de torre en séptima con rey delante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Final 68 · Torre y rey apoyando el peón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20 · Ajedrez Integral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02A43"/>
                </a:solidFill>
                <a:latin typeface="Georgia"/>
              </a:rPr>
              <a:t>Final 65 · Peón de torre en séptima. Torre fuerte delante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11658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</a:rPr>
              <a:t>Con la torre fuerte delante de su peón en séptima, el defensor tiene dos estrategias: ir con el rey a capturar el peón si hay tiempo, o correr en dirección contraria a g7/h7 y esperar. Cuando el rey blanco defiende el peón, empiezan los jaques por detrás.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583180"/>
            <a:ext cx="10972800" cy="3634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Rey defensor en g7 o h7 y torre detrás del peón: tablas. Cualquier otra casilla del rey pierde por Th8.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Cuando el rey fuerte llega a defender el peón, los jaques por detrás no le dejan refugio.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Con el peón ya en séptima, ni un peón de más en las columnas g o h alcanza para ganar.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20 · Ajedrez Integral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65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85800"/>
            <a:ext cx="557784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309360" y="4114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627D98"/>
                </a:solidFill>
                <a:latin typeface="Calibri"/>
              </a:rPr>
              <a:t>Final 65 · Peón de torre en séptima. Torre fuerte delante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9360" y="777240"/>
            <a:ext cx="5486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102A43"/>
                </a:solidFill>
                <a:latin typeface="Georgia"/>
              </a:rPr>
              <a:t>La zona segura g7-h7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82880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F0B429"/>
                </a:solidFill>
                <a:latin typeface="Calibri"/>
              </a:rPr>
              <a:t>Juegan negras   ·   Tablas   ·   posición clave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2240280"/>
            <a:ext cx="5486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43B53"/>
                </a:solidFill>
                <a:latin typeface="Consolas"/>
              </a:rPr>
              <a:t>1...Rg7 2.Rf3 Rh7 3.Re4 Rg7 4.Rd5 Rh7 5.Rc6 Rg7 6.Rb6 Tb1+ 7.Ra6 Ta1+ 8.Rb5 Rh7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2961349"/>
            <a:ext cx="5486400" cy="316513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1...Rg7! (1...Ta3?? 2.Th8; 1...Re6?? 2.Te8+). La torre blanca no puede moverse y el rey no encuentra refugio contra los jaques.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20 · Ajedrez Integral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02A43"/>
                </a:solidFill>
                <a:latin typeface="Georgia"/>
              </a:rPr>
              <a:t>Final 66 · Peón en sexta. La defensa de Vancura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11658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</a:rPr>
              <a:t>Con el peón de torre en sexta, la columna de rey está minada para el rey defensor y el plan blanco (rey a a7, sacar la torre, coronar) parece imparable. La defensa de Vancura lo neutraliza: la torre ataca el peón de lado desde la tercera fila y da jaques sin que el peón sirva de escudo.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583180"/>
            <a:ext cx="10972800" cy="3634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Vancura: la torre defensora ataca el peón lateralmente en la sexta fila (Tf6); si el rey se acerca, jaquea; si el peón avanza a séptima, vuelve detrás de él.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Con el peón en sexta el rey defensor no puede ir a por el peón: quedaría atrapado a medio camino.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La torre debe llegar a la tercera fila; con jaque casi no hay que calcular; sin jaque hay que contar trucos tácticos y la carrera de reyes.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Si se traslada sin jaque, conviene hacerlo restringiendo al máximo el avance del rey blanco.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20 · Ajedrez Integral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66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85800"/>
            <a:ext cx="557784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309360" y="4114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627D98"/>
                </a:solidFill>
                <a:latin typeface="Calibri"/>
              </a:rPr>
              <a:t>Final 66 · Peón en sexta. La defensa de Vancura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9360" y="777240"/>
            <a:ext cx="5486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102A43"/>
                </a:solidFill>
                <a:latin typeface="Georgia"/>
              </a:rPr>
              <a:t>La defensa de Vancura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82880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F0B429"/>
                </a:solidFill>
                <a:latin typeface="Calibri"/>
              </a:rPr>
              <a:t>Juegan negras   ·   Tablas   ·   posición clave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2240280"/>
            <a:ext cx="5486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43B53"/>
                </a:solidFill>
                <a:latin typeface="Consolas"/>
              </a:rPr>
              <a:t>1...Rg7 2.Rf3 Tf1+ 3.Re4 Tf6 4.Rd5 Tb6 5.Rc5 Tf6 6.Rb5 Tf5+ 7.Rb6 Tf6+ 8.Ra7 Tf7+ 9.Rb6 Tf6+ 10.Rc5 Tf5+ 11.Rd4 Tf6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3102428"/>
            <a:ext cx="5486400" cy="302405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1...Re7? 2.a7! atraparía al rey. 3...Tf6!! es la clave: mientras el peón esté en sexta, el rey blanco no tiene escudo contra los jaques laterales.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20 · Ajedrez Integral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66-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85800"/>
            <a:ext cx="557784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309360" y="4114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627D98"/>
                </a:solidFill>
                <a:latin typeface="Calibri"/>
              </a:rPr>
              <a:t>Final 66 · Peón en sexta. La defensa de Vancura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9360" y="777240"/>
            <a:ext cx="5486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102A43"/>
                </a:solidFill>
                <a:latin typeface="Georgia"/>
              </a:rPr>
              <a:t>Vancura y 2: la zona de tablas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82880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627D98"/>
                </a:solidFill>
                <a:latin typeface="Calibri"/>
              </a:rPr>
              <a:t>Juegan negras   ·   Tablas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2240280"/>
            <a:ext cx="5486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43B53"/>
                </a:solidFill>
                <a:latin typeface="Consolas"/>
              </a:rPr>
              <a:t>1...Ta5 2.Re4 Tb5 3.Ta7+ Rg6 4.Tb7 Ta5 5.a7 Rf6 6.Th7 Rg6 7.Tc7 Rf6 8.Rd4 Re6 9.Rc4 Rd6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2992700"/>
            <a:ext cx="5486400" cy="313377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Sin jaque disponible, la torre se traslada por la cuarta fila restringiendo al rey. 3...Rg6! única (3...Rf6? 4.Rd4 Tb6 5.Th7). Contra 6.Th7, 6...Rg6!! evita la trampa Th6+ y Th8.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20 · Ajedrez Integral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66-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85800"/>
            <a:ext cx="557784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309360" y="4114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627D98"/>
                </a:solidFill>
                <a:latin typeface="Calibri"/>
              </a:rPr>
              <a:t>Final 66 · Peón en sexta. La defensa de Vancura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9360" y="777240"/>
            <a:ext cx="5486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102A43"/>
                </a:solidFill>
                <a:latin typeface="Georgia"/>
              </a:rPr>
              <a:t>Diagrama de análisis: la trampa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82880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627D98"/>
                </a:solidFill>
                <a:latin typeface="Calibri"/>
              </a:rPr>
              <a:t>Juegan negras   ·   Tablas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2240280"/>
            <a:ext cx="5486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43B53"/>
                </a:solidFill>
                <a:latin typeface="Consolas"/>
              </a:rPr>
              <a:t>1...Rg6 2.Tc7 Rf6 3.Rd4 Re6 4.Rc4 Rd6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2796757"/>
            <a:ext cx="5486400" cy="332972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1...Re6? 2.Th6+! Rd7 3.Th8! y el peón corona. El rey negro no debe ir al flanco de dama antes de tiempo.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20 · Ajedrez Integral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02A43"/>
                </a:solidFill>
                <a:latin typeface="Georgia"/>
              </a:rPr>
              <a:t>Final 67 · Peón de torre en séptima con rey delante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11658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</a:rPr>
              <a:t>La posición más importante del peón de torre: rey atacante delante de su peón en séptima. Se gana sólo si el rey defensor está cortado en la columna de alfil del otro flanco; la torre necesita tres jugadas para llegar a b8 y sacar al rey del rincón.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583180"/>
            <a:ext cx="10972800" cy="3634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Con el rey delante del peón, lo más importante es cortar al rey rival lo más lejos posible: en la columna de alfil del otro flanco se gana.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Método: llevar el peón a séptima, torre a b8 para ofrecer cambio y sacar el rey; luego jaques y cambio de flanco de la torre.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Error clásico: Tb7+? deja que el rey negro vuelva a c8 y el blanco nunca sale del rincón.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20 · Ajedrez Integral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67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85800"/>
            <a:ext cx="557784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309360" y="4114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627D98"/>
                </a:solidFill>
                <a:latin typeface="Calibri"/>
              </a:rPr>
              <a:t>Final 67 · Peón de torre en séptima con rey delante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9360" y="777240"/>
            <a:ext cx="5486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102A43"/>
                </a:solidFill>
                <a:latin typeface="Georgia"/>
              </a:rPr>
              <a:t>Sacar al rey del rincón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82880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F0B429"/>
                </a:solidFill>
                <a:latin typeface="Calibri"/>
              </a:rPr>
              <a:t>Juegan blancas   ·   Ganan blancas   ·   posición clave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2240280"/>
            <a:ext cx="5486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43B53"/>
                </a:solidFill>
                <a:latin typeface="Consolas"/>
              </a:rPr>
              <a:t>1.Th2 Re7 2.Th8 Rd6 3.Tb8 Ta1 4.Rb7 Tb1+ 5.Rc8 Tc1+ 6.Rd8 Th1 7.Tb6+ Rc5 8.Tc6+ Rb5 9.Tc8 Th8+ 10.Rc7 Th7+ 11.Rb8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3094590"/>
            <a:ext cx="5486400" cy="303188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La torre llega a b8 justo a tiempo. 4.Rb7! (4.Tb7+? Rc8= encierra al rey para siempre). 7.Tb6+! y 8.Tc6+!! obligan al rey negro a definirse y el peón corona.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20 · Ajedrez Integral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02A43"/>
                </a:solidFill>
                <a:latin typeface="Georgia"/>
              </a:rPr>
              <a:t>Final 68 · Torre y rey apoyando el peón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11658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</a:rPr>
              <a:t>Si el rey rival está cortado más cerca, todavía se puede ganar si rey y torre escudan al peón antes de que llegue a séptima. Posición límite: con blancas al mover ganan con a6; con negras al mover, jaques precisos hacen tablas.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583180"/>
            <a:ext cx="10972800" cy="3634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Posición crítica: rey y torre apoyando el peón en quinta con el rey negro en d7. Juegan blancas: 1.a6 y nada lo detiene. Juegan negras: Tb1+ y Tc1 (disposición ideal para jaquear) salvan.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El defensor debe poner el rey delante del peón o impedir la salida del rey blanco con jaques desde la columna c.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20 · Ajedrez Integral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68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85800"/>
            <a:ext cx="557784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309360" y="4114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627D98"/>
                </a:solidFill>
                <a:latin typeface="Calibri"/>
              </a:rPr>
              <a:t>Final 68 · Torre y rey apoyando el peón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9360" y="777240"/>
            <a:ext cx="5486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102A43"/>
                </a:solidFill>
                <a:latin typeface="Georgia"/>
              </a:rPr>
              <a:t>Juegan negras: tablas con precisión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82880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F0B429"/>
                </a:solidFill>
                <a:latin typeface="Calibri"/>
              </a:rPr>
              <a:t>Juegan negras   ·   Tablas   ·   posición clave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2240280"/>
            <a:ext cx="5486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43B53"/>
                </a:solidFill>
                <a:latin typeface="Consolas"/>
              </a:rPr>
              <a:t>1...Tb1+ 2.Tb6 Tc1 3.a6 Tc7+ 4.Ra8 Tc8+ 5.Ra7 Tc7+ 6.Tb7 Rc8 7.Rb6 Tc1 8.Th7 Tb1+ 9.Ra7 Ta1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3008376"/>
            <a:ext cx="5486400" cy="31181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2...Tc1! es la disposición ideal para dar jaques. Cuidado con 5...Rc7? 6.a7 con doble zugzwang. No hay progreso.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20 · Ajedrez Integral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68-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85800"/>
            <a:ext cx="557784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309360" y="4114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627D98"/>
                </a:solidFill>
                <a:latin typeface="Calibri"/>
              </a:rPr>
              <a:t>Final 68 · Torre y rey apoyando el peón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9360" y="777240"/>
            <a:ext cx="5486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102A43"/>
                </a:solidFill>
                <a:latin typeface="Georgia"/>
              </a:rPr>
              <a:t>Juegan blancas: ganan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82880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627D98"/>
                </a:solidFill>
                <a:latin typeface="Calibri"/>
              </a:rPr>
              <a:t>Juegan blancas   ·   Ganan blancas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2240280"/>
            <a:ext cx="5486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43B53"/>
                </a:solidFill>
                <a:latin typeface="Consolas"/>
              </a:rPr>
              <a:t>1.a6 Tb1+ 2.Tb6 Tc1 3.a7 Tc7+ 4.Ra6 Tc8 5.Tb8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2828108"/>
            <a:ext cx="5486400" cy="329837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Con el turno, 1.a6 y el peón ya no se detiene.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20 · Ajedrez Integral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02A43"/>
                </a:solidFill>
                <a:latin typeface="Georgia"/>
              </a:rPr>
              <a:t>Para practicar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</a:rPr>
              <a:t>Alcanzá la posición de Vancura contra el motor desde tres posiciones iniciales distintas.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</a:rPr>
              <a:t>En la página del curso cada posición se puede jugar contra el motor (Stockfish) al nivel que elijas; la hoja de ejercicios en PDF reúne las posiciones de esta lección para resolver sin tablero.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063240"/>
            <a:ext cx="10972800" cy="3154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Recorré cada línea principal hasta entender el porqué de cada jugada.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Practicá primero las posiciones clave, después las demás.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Anotá las reglas de cada final con tus palabras.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20 · Ajedrez Integral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