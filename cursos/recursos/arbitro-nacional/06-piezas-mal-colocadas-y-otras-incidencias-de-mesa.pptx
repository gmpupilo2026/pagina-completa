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692640" y="-1463040"/>
            <a:ext cx="4572000" cy="4572000"/>
          </a:xfrm>
          <a:prstGeom prst="ellipse">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645920" y="4937760"/>
            <a:ext cx="3840480" cy="3840480"/>
          </a:xfrm>
          <a:prstGeom prst="ellipse">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594360"/>
            <a:ext cx="1005840" cy="100584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594360"/>
            <a:ext cx="1005840" cy="1005840"/>
          </a:xfrm>
          <a:prstGeom prst="rect">
            <a:avLst/>
          </a:prstGeom>
          <a:noFill/>
        </p:spPr>
        <p:txBody>
          <a:bodyPr wrap="square">
            <a:spAutoFit/>
          </a:bodyPr>
          <a:lstStyle/>
          <a:p>
            <a:pPr algn="ctr"/>
            <a:r>
              <a:rPr sz="3200" b="1">
                <a:solidFill>
                  <a:srgbClr val="0A1F33"/>
                </a:solidFill>
                <a:latin typeface="Calibri"/>
              </a:rPr>
              <a:t>6</a:t>
            </a:r>
          </a:p>
        </p:txBody>
      </p:sp>
      <p:sp>
        <p:nvSpPr>
          <p:cNvPr id="7" name="TextBox 6"/>
          <p:cNvSpPr txBox="1"/>
          <p:nvPr/>
        </p:nvSpPr>
        <p:spPr>
          <a:xfrm>
            <a:off x="1920240" y="685800"/>
            <a:ext cx="9509760" cy="457200"/>
          </a:xfrm>
          <a:prstGeom prst="rect">
            <a:avLst/>
          </a:prstGeom>
          <a:noFill/>
        </p:spPr>
        <p:txBody>
          <a:bodyPr wrap="square">
            <a:spAutoFit/>
          </a:bodyPr>
          <a:lstStyle/>
          <a:p>
            <a:r>
              <a:rPr sz="1300" b="1">
                <a:solidFill>
                  <a:srgbClr val="F0B429"/>
                </a:solidFill>
                <a:latin typeface="Calibri"/>
              </a:rPr>
              <a:t>AJEDREZ INTEGRAL  ·  ÁRBITRO NACIONAL</a:t>
            </a:r>
          </a:p>
        </p:txBody>
      </p:sp>
      <p:sp>
        <p:nvSpPr>
          <p:cNvPr id="8" name="TextBox 7"/>
          <p:cNvSpPr txBox="1"/>
          <p:nvPr/>
        </p:nvSpPr>
        <p:spPr>
          <a:xfrm>
            <a:off x="1920240" y="1097280"/>
            <a:ext cx="9509760" cy="365760"/>
          </a:xfrm>
          <a:prstGeom prst="rect">
            <a:avLst/>
          </a:prstGeom>
          <a:noFill/>
        </p:spPr>
        <p:txBody>
          <a:bodyPr wrap="square">
            <a:spAutoFit/>
          </a:bodyPr>
          <a:lstStyle/>
          <a:p>
            <a:r>
              <a:rPr sz="1300" b="0">
                <a:solidFill>
                  <a:srgbClr val="9FB3C8"/>
                </a:solidFill>
                <a:latin typeface="Calibri"/>
              </a:rPr>
              <a:t>Bloque 3 · Irregularidades: jugadas ilegales y posiciones incorrectas (art. 7)</a:t>
            </a:r>
          </a:p>
        </p:txBody>
      </p:sp>
      <p:sp>
        <p:nvSpPr>
          <p:cNvPr id="9" name="TextBox 8"/>
          <p:cNvSpPr txBox="1"/>
          <p:nvPr/>
        </p:nvSpPr>
        <p:spPr>
          <a:xfrm>
            <a:off x="640080" y="2651760"/>
            <a:ext cx="10881360" cy="2011680"/>
          </a:xfrm>
          <a:prstGeom prst="rect">
            <a:avLst/>
          </a:prstGeom>
          <a:noFill/>
        </p:spPr>
        <p:txBody>
          <a:bodyPr wrap="square">
            <a:spAutoFit/>
          </a:bodyPr>
          <a:lstStyle/>
          <a:p>
            <a:r>
              <a:rPr sz="4000" b="1">
                <a:solidFill>
                  <a:srgbClr val="FFFFFF"/>
                </a:solidFill>
                <a:latin typeface="Cambria"/>
              </a:rPr>
              <a:t>Piezas mal colocadas y otras incidencias de mesa</a:t>
            </a:r>
          </a:p>
        </p:txBody>
      </p:sp>
      <p:sp>
        <p:nvSpPr>
          <p:cNvPr id="10" name="TextBox 9"/>
          <p:cNvSpPr txBox="1"/>
          <p:nvPr/>
        </p:nvSpPr>
        <p:spPr>
          <a:xfrm>
            <a:off x="640080" y="4617720"/>
            <a:ext cx="9601200" cy="914400"/>
          </a:xfrm>
          <a:prstGeom prst="rect">
            <a:avLst/>
          </a:prstGeom>
          <a:noFill/>
        </p:spPr>
        <p:txBody>
          <a:bodyPr wrap="square">
            <a:spAutoFit/>
          </a:bodyPr>
          <a:lstStyle/>
          <a:p>
            <a:r>
              <a:rPr sz="1800" b="0">
                <a:solidFill>
                  <a:srgbClr val="CADCFC"/>
                </a:solidFill>
                <a:latin typeface="Calibri"/>
              </a:rPr>
              <a:t>Las incidencias más frecuentes fuera del artículo 7.5: piezas desplazadas por accidente y las que se descubren fuera de su casilla sin saber cuándo pasó.</a:t>
            </a:r>
          </a:p>
        </p:txBody>
      </p:sp>
      <p:sp>
        <p:nvSpPr>
          <p:cNvPr id="11" name="TextBox 10"/>
          <p:cNvSpPr txBox="1"/>
          <p:nvPr/>
        </p:nvSpPr>
        <p:spPr>
          <a:xfrm>
            <a:off x="640080" y="6309360"/>
            <a:ext cx="5486400" cy="365760"/>
          </a:xfrm>
          <a:prstGeom prst="rect">
            <a:avLst/>
          </a:prstGeom>
          <a:noFill/>
        </p:spPr>
        <p:txBody>
          <a:bodyPr wrap="square">
            <a:spAutoFit/>
          </a:bodyPr>
          <a:lstStyle/>
          <a:p>
            <a:r>
              <a:rPr sz="1100" b="0">
                <a:solidFill>
                  <a:srgbClr val="627D98"/>
                </a:solidFill>
                <a:latin typeface="Calibri"/>
              </a:rPr>
              <a:t>ajedrez-integral.com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7315200" cy="457200"/>
          </a:xfrm>
          <a:prstGeom prst="rect">
            <a:avLst/>
          </a:prstGeom>
          <a:noFill/>
        </p:spPr>
        <p:txBody>
          <a:bodyPr wrap="square">
            <a:spAutoFit/>
          </a:bodyPr>
          <a:lstStyle/>
          <a:p>
            <a:r>
              <a:rPr sz="1400" b="1">
                <a:solidFill>
                  <a:srgbClr val="DE911D"/>
                </a:solidFill>
                <a:latin typeface="Calibri"/>
              </a:rPr>
              <a:t>CONCEPTO CLAVE</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Piezas mal colocadas y otras incidencias de mesa</a:t>
            </a:r>
          </a:p>
        </p:txBody>
      </p:sp>
      <p:sp>
        <p:nvSpPr>
          <p:cNvPr id="6" name="Rectangle 5"/>
          <p:cNvSpPr/>
          <p:nvPr/>
        </p:nvSpPr>
        <p:spPr>
          <a:xfrm>
            <a:off x="548640" y="1965960"/>
            <a:ext cx="11064240" cy="429768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331720"/>
            <a:ext cx="10241280" cy="3566160"/>
          </a:xfrm>
          <a:prstGeom prst="rect">
            <a:avLst/>
          </a:prstGeom>
          <a:noFill/>
        </p:spPr>
        <p:txBody>
          <a:bodyPr wrap="square">
            <a:spAutoFit/>
          </a:bodyPr>
          <a:lstStyle/>
          <a:p>
            <a:r>
              <a:rPr sz="1600" b="0">
                <a:solidFill>
                  <a:srgbClr val="334E68"/>
                </a:solidFill>
                <a:latin typeface="Calibri"/>
              </a:rPr>
              <a:t>Distinto de una jugada ilegal es que alguien desplace una pieza sin intención de jugarla (art. 7.4): al tropezar con la mesa, al estirar el brazo. Quien la desplazó debe restablecer la posición correcta en su propio tiempo — no se para el reloj del rival para eso —, y quien arbitra puede sancionar si fue reiterado o parece intencional (buscando ganar tiempo, por ejemplo). Si nadie sabe con certeza en qué momento se desplazó una pieza (art. 7.6), se restablece la posición de antes de la irregularidad y, si no se puede determinar, se sigue desde la última posición identificable — el mismo criterio de reconstrucción que en una jugada ilegal.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7315200" cy="457200"/>
          </a:xfrm>
          <a:prstGeom prst="rect">
            <a:avLst/>
          </a:prstGeom>
          <a:noFill/>
        </p:spPr>
        <p:txBody>
          <a:bodyPr wrap="square">
            <a:spAutoFit/>
          </a:bodyPr>
          <a:lstStyle/>
          <a:p>
            <a:r>
              <a:rPr sz="1400" b="1">
                <a:solidFill>
                  <a:srgbClr val="DE911D"/>
                </a:solidFill>
                <a:latin typeface="Calibri"/>
              </a:rPr>
              <a:t>CONCEPTO CLAVE</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Piezas mal colocadas y otras incidencias de mesa</a:t>
            </a:r>
          </a:p>
        </p:txBody>
      </p:sp>
      <p:sp>
        <p:nvSpPr>
          <p:cNvPr id="6" name="Rectangle 5"/>
          <p:cNvSpPr/>
          <p:nvPr/>
        </p:nvSpPr>
        <p:spPr>
          <a:xfrm>
            <a:off x="548640" y="1965960"/>
            <a:ext cx="11064240" cy="429768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331720"/>
            <a:ext cx="10241280" cy="3566160"/>
          </a:xfrm>
          <a:prstGeom prst="rect">
            <a:avLst/>
          </a:prstGeom>
          <a:noFill/>
        </p:spPr>
        <p:txBody>
          <a:bodyPr wrap="square">
            <a:spAutoFit/>
          </a:bodyPr>
          <a:lstStyle/>
          <a:p>
            <a:r>
              <a:rPr sz="1600" b="0">
                <a:solidFill>
                  <a:srgbClr val="334E68"/>
                </a:solidFill>
                <a:latin typeface="Calibri"/>
              </a:rPr>
              <a:t>Una pieza que se cae o se mueve sin intención de jugarla (al ajustar el tablero, por ejemplo) no es una jugada: se vuelve a colocar en su casilla y sigue el juego. La diferencia con "pieza tocada, pieza jugada" está en la intención — de ahí que "compongo" tenga que avisarse antes, no después de que ya se movió algo por accidente.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7315200" cy="457200"/>
          </a:xfrm>
          <a:prstGeom prst="rect">
            <a:avLst/>
          </a:prstGeom>
          <a:noFill/>
        </p:spPr>
        <p:txBody>
          <a:bodyPr wrap="square">
            <a:spAutoFit/>
          </a:bodyPr>
          <a:lstStyle/>
          <a:p>
            <a:r>
              <a:rPr sz="1400" b="1">
                <a:solidFill>
                  <a:srgbClr val="DE911D"/>
                </a:solidFill>
                <a:latin typeface="Calibri"/>
              </a:rPr>
              <a:t>CONCEPTO CLAVE</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Piezas mal colocadas y otras incidencias de mesa</a:t>
            </a:r>
          </a:p>
        </p:txBody>
      </p:sp>
      <p:sp>
        <p:nvSpPr>
          <p:cNvPr id="6" name="Rectangle 5"/>
          <p:cNvSpPr/>
          <p:nvPr/>
        </p:nvSpPr>
        <p:spPr>
          <a:xfrm>
            <a:off x="548640" y="1965960"/>
            <a:ext cx="11064240" cy="429768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331720"/>
            <a:ext cx="10241280" cy="3566160"/>
          </a:xfrm>
          <a:prstGeom prst="rect">
            <a:avLst/>
          </a:prstGeom>
          <a:noFill/>
        </p:spPr>
        <p:txBody>
          <a:bodyPr wrap="square">
            <a:spAutoFit/>
          </a:bodyPr>
          <a:lstStyle/>
          <a:p>
            <a:r>
              <a:rPr sz="1600" b="0">
                <a:solidFill>
                  <a:srgbClr val="334E68"/>
                </a:solidFill>
                <a:latin typeface="Calibri"/>
              </a:rPr>
              <a:t>Cuando dos jugadores no se ponen de acuerdo sobre qué pasó (uno dice que tocó la torre para enrocar, el otro que ya había tocado el rey antes), quien arbitra decide con lo que puede observar y lo que digan testigos cercanos o, cada vez más, con la grabación del torneo si existe — pero la decisión es del árbitro, nunca un promedio entre las dos versiones.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7315200" cy="457200"/>
          </a:xfrm>
          <a:prstGeom prst="rect">
            <a:avLst/>
          </a:prstGeom>
          <a:noFill/>
        </p:spPr>
        <p:txBody>
          <a:bodyPr wrap="square">
            <a:spAutoFit/>
          </a:bodyPr>
          <a:lstStyle/>
          <a:p>
            <a:r>
              <a:rPr sz="1400" b="1">
                <a:solidFill>
                  <a:srgbClr val="DE911D"/>
                </a:solidFill>
                <a:latin typeface="Calibri"/>
              </a:rPr>
              <a:t>CONCEPTO CLAVE</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Piezas mal colocadas y otras incidencias de mesa</a:t>
            </a:r>
          </a:p>
        </p:txBody>
      </p:sp>
      <p:sp>
        <p:nvSpPr>
          <p:cNvPr id="6" name="Rectangle 5"/>
          <p:cNvSpPr/>
          <p:nvPr/>
        </p:nvSpPr>
        <p:spPr>
          <a:xfrm>
            <a:off x="548640" y="1965960"/>
            <a:ext cx="11064240" cy="429768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331720"/>
            <a:ext cx="10241280" cy="3566160"/>
          </a:xfrm>
          <a:prstGeom prst="rect">
            <a:avLst/>
          </a:prstGeom>
          <a:noFill/>
        </p:spPr>
        <p:txBody>
          <a:bodyPr wrap="square">
            <a:spAutoFit/>
          </a:bodyPr>
          <a:lstStyle/>
          <a:p>
            <a:r>
              <a:rPr sz="1600" b="0">
                <a:solidFill>
                  <a:srgbClr val="334E68"/>
                </a:solidFill>
                <a:latin typeface="Calibri"/>
              </a:rPr>
              <a:t>Estas incidencias, aunque parezcan menores, son las que más tiempo de sala ocupan en un torneo escolar o nacional: se resuelven rápido cuando quien arbitra tiene el procedimiento memorizado y despacio (y con reclamos después) cuando hay que buscarlo en el reglamento en el momento.</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280160" y="-1463040"/>
            <a:ext cx="4114800" cy="4114800"/>
          </a:xfrm>
          <a:prstGeom prst="ellipse">
            <a:avLst/>
          </a:prstGeom>
          <a:solidFill>
            <a:srgbClr val="0A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175504" y="822960"/>
            <a:ext cx="1828800" cy="182880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175504" y="822960"/>
            <a:ext cx="1828800" cy="1828800"/>
          </a:xfrm>
          <a:prstGeom prst="rect">
            <a:avLst/>
          </a:prstGeom>
          <a:noFill/>
        </p:spPr>
        <p:txBody>
          <a:bodyPr wrap="square">
            <a:spAutoFit/>
          </a:bodyPr>
          <a:lstStyle/>
          <a:p>
            <a:pPr algn="ctr"/>
            <a:r>
              <a:rPr sz="4400" b="1">
                <a:solidFill>
                  <a:srgbClr val="0A1F33"/>
                </a:solidFill>
                <a:latin typeface="Calibri"/>
              </a:rPr>
              <a:t>✔</a:t>
            </a:r>
          </a:p>
        </p:txBody>
      </p:sp>
      <p:sp>
        <p:nvSpPr>
          <p:cNvPr id="6" name="TextBox 5"/>
          <p:cNvSpPr txBox="1"/>
          <p:nvPr/>
        </p:nvSpPr>
        <p:spPr>
          <a:xfrm>
            <a:off x="548640" y="2880360"/>
            <a:ext cx="11064240" cy="457200"/>
          </a:xfrm>
          <a:prstGeom prst="rect">
            <a:avLst/>
          </a:prstGeom>
          <a:noFill/>
        </p:spPr>
        <p:txBody>
          <a:bodyPr wrap="square">
            <a:spAutoFit/>
          </a:bodyPr>
          <a:lstStyle/>
          <a:p>
            <a:pPr algn="ctr"/>
            <a:r>
              <a:rPr sz="1400" b="1">
                <a:solidFill>
                  <a:srgbClr val="F0B429"/>
                </a:solidFill>
                <a:latin typeface="Calibri"/>
              </a:rPr>
              <a:t>PARA PRACTICAR</a:t>
            </a:r>
          </a:p>
        </p:txBody>
      </p:sp>
      <p:sp>
        <p:nvSpPr>
          <p:cNvPr id="7" name="TextBox 6"/>
          <p:cNvSpPr txBox="1"/>
          <p:nvPr/>
        </p:nvSpPr>
        <p:spPr>
          <a:xfrm>
            <a:off x="1280160" y="3383280"/>
            <a:ext cx="9601200" cy="2377440"/>
          </a:xfrm>
          <a:prstGeom prst="rect">
            <a:avLst/>
          </a:prstGeom>
          <a:noFill/>
        </p:spPr>
        <p:txBody>
          <a:bodyPr wrap="square">
            <a:spAutoFit/>
          </a:bodyPr>
          <a:lstStyle/>
          <a:p>
            <a:pPr algn="ctr"/>
            <a:r>
              <a:rPr sz="2200" b="0">
                <a:solidFill>
                  <a:srgbClr val="FFFFFF"/>
                </a:solidFill>
                <a:latin typeface="Cambria"/>
              </a:rPr>
              <a:t>Simular tres incidencias de mesa distintas (una pieza desplazada por accidente al mover el tablero, una que aparece fuera de su casilla sin que nadie sepa desde cuándo, y un desacuerdo sobre qué pieza se tocó primero) y resolver cada una en voz alta, cronometrando cuánto tarda la decisión.</a:t>
            </a:r>
          </a:p>
        </p:txBody>
      </p:sp>
      <p:sp>
        <p:nvSpPr>
          <p:cNvPr id="8" name="TextBox 7"/>
          <p:cNvSpPr txBox="1"/>
          <p:nvPr/>
        </p:nvSpPr>
        <p:spPr>
          <a:xfrm>
            <a:off x="548640" y="6263640"/>
            <a:ext cx="11064240" cy="365760"/>
          </a:xfrm>
          <a:prstGeom prst="rect">
            <a:avLst/>
          </a:prstGeom>
          <a:noFill/>
        </p:spPr>
        <p:txBody>
          <a:bodyPr wrap="square">
            <a:spAutoFit/>
          </a:bodyPr>
          <a:lstStyle/>
          <a:p>
            <a:pPr algn="ctr"/>
            <a:r>
              <a:rPr sz="1200" b="0">
                <a:solidFill>
                  <a:srgbClr val="9FB3C8"/>
                </a:solidFill>
                <a:latin typeface="Calibri"/>
              </a:rPr>
              <a:t>Árbitro Nacional · Lección 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