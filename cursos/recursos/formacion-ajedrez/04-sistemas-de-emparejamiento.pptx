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que el grupo decida antes de pasar a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que el grupo decida antes de pasar a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que el grupo decida antes de pasar a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Repasar en plenaria; cada respuesta con su artículo.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minuto por pregunta, y después las respuestas.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minuto por pregunta, y después las respuestas.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109728" cy="2377440"/>
          </a:xfrm>
          <a:prstGeom prst="rect">
            <a:avLst/>
          </a:prstGeom>
          <a:solidFill>
            <a:srgbClr val="F4C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09728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2000" b="1">
                <a:solidFill>
                  <a:srgbClr val="F4C430"/>
                </a:solidFill>
                <a:latin typeface="Calibri"/>
              </a:rPr>
              <a:t>SESIÓN 4  ·  FORMACIÓN AJEDREZ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920240"/>
            <a:ext cx="1033272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98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Sistemas de emparejamiento para torneos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886200"/>
            <a:ext cx="1033272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ADCFC"/>
                </a:solidFill>
                <a:latin typeface="Calibri"/>
              </a:rPr>
              <a:t>Sistema suizo y todos contra todos (round robin): cómo funcionan y cuándo usar cada uno.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20"/>
              </a:spcAft>
            </a:pPr>
            <a:r>
              <a:rPr sz="1600" b="0">
                <a:solidFill>
                  <a:srgbClr val="9FB3C8"/>
                </a:solidFill>
                <a:latin typeface="Calibri"/>
              </a:rPr>
              <a:t>Programa de Formación para Personas Árbitras y Asesoras  ·  Juegos Deportivos Estudiantiles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Al terminar esta sesión, cada participante podrá: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10637215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60"/>
              </a:spcAft>
            </a:pPr>
            <a:r>
              <a:rPr sz="2800" b="0">
                <a:solidFill>
                  <a:srgbClr val="102A43"/>
                </a:solidFill>
                <a:latin typeface="Calibri"/>
              </a:rPr>
              <a:t>•  Aplicar las reglas básicas del sistema suizo: rivales, colores y descansos.</a:t>
            </a:r>
          </a:p>
          <a:p>
            <a:pPr>
              <a:spcAft>
                <a:spcPts val="1260"/>
              </a:spcAft>
            </a:pPr>
            <a:r>
              <a:rPr sz="2800" b="0">
                <a:solidFill>
                  <a:srgbClr val="102A43"/>
                </a:solidFill>
                <a:latin typeface="Calibri"/>
              </a:rPr>
              <a:t>•  Ordenar la lista inicial y emparejar la primera ronda.</a:t>
            </a:r>
          </a:p>
          <a:p>
            <a:pPr>
              <a:spcAft>
                <a:spcPts val="1260"/>
              </a:spcAft>
            </a:pPr>
            <a:r>
              <a:rPr sz="2800" b="0">
                <a:solidFill>
                  <a:srgbClr val="102A43"/>
                </a:solidFill>
                <a:latin typeface="Calibri"/>
              </a:rPr>
              <a:t>•  Emparejar una ronda siguiente por grupos de puntuación.</a:t>
            </a:r>
          </a:p>
          <a:p>
            <a:pPr>
              <a:spcAft>
                <a:spcPts val="1260"/>
              </a:spcAft>
            </a:pPr>
            <a:r>
              <a:rPr sz="2800" b="0">
                <a:solidFill>
                  <a:srgbClr val="102A43"/>
                </a:solidFill>
                <a:latin typeface="Calibri"/>
              </a:rPr>
              <a:t>•  Calendarizar un torneo de todos contra todos con las tablas de Berger.</a:t>
            </a:r>
          </a:p>
          <a:p>
            <a:pPr>
              <a:spcAft>
                <a:spcPts val="1260"/>
              </a:spcAft>
            </a:pPr>
            <a:r>
              <a:rPr sz="2800" b="0">
                <a:solidFill>
                  <a:srgbClr val="102A43"/>
                </a:solidFill>
                <a:latin typeface="Calibri"/>
              </a:rPr>
              <a:t>•  Elegir el sistema adecuado según participantes, tiempo y objetivo del torneo.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Cronograma de la sesión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Sesión 4 · 5 horas (300 minutos)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8308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463040"/>
                <a:gridCol w="7162495"/>
              </a:tblGrid>
              <a:tr h="41563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Horario</a:t>
                      </a:r>
                    </a:p>
                  </a:txBody>
                  <a:tcPr>
                    <a:solidFill>
                      <a:srgbClr val="3172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Duración</a:t>
                      </a:r>
                    </a:p>
                  </a:txBody>
                  <a:tcPr>
                    <a:solidFill>
                      <a:srgbClr val="3172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>
                    <a:solidFill>
                      <a:srgbClr val="3172AC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0:00 – 0:15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Repaso y revisión de la tarea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0:15 – 1:00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45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El sistema suizo: reglas básicas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1:00 – 1:40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40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La primera ronda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1:40 – 1:55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Receso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1:55 – 2:35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40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Las rondas siguientes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2:35 – 3:05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Todos contra todos (round robin)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3:05 – 3:20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Receso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3:20 – 4:10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50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Práctica: construcción de cuadros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4:10 – 4:40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30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Quiz de la sesión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156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4:40 – 5:00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20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Reglas básicas de todo sistema suizo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Reglas básicas del sistema suizo (Handbook C.04.1)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125"/>
              </a:spcAft>
            </a:pPr>
            <a:r>
              <a:rPr sz="2500" b="0">
                <a:solidFill>
                  <a:srgbClr val="3172AC"/>
                </a:solidFill>
                <a:latin typeface="Calibri"/>
              </a:rPr>
              <a:t>En el suizo se empareja ronda a ronda a jugadores con puntuaciones iguales o parecidas. Su regla absoluta es que dos jugadores no se enfrentan más de una vez, por encima de puntuaciones y colores.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La diferencia entre partidas con blancas y con negras de un jugador no puede superar 2 ni bajar de -2.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Ningún jugador recibe el mismo color tres veces seguidas (con excepciones en la última ronda).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Con número impar, un jugador queda libre (bye): recibe un punto sin color, y no puede recibirlo dos veces.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El número de rondas se fija y se anuncia antes de empezar.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La lista inicial y la primera ronda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Reglas generales de manejo del sistema suizo (Handbook C.04.2) y Sistema holandés de la FIDE (Handbook C.04.3)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3172AC"/>
                </a:solidFill>
                <a:latin typeface="Calibri"/>
              </a:rPr>
              <a:t>Antes de la primera ronda se ordena a los jugadores por rating, de mayor a menor, con criterios para los empates (en torneos escolares sin rating, suele usarse el orden alfabético o un sorteo que el reglamento anuncia). Ese número de orden acompaña al jugador todo el torneo. En la primera ronda se divide la lista en dos mitades y la superior juega contra la inferior.</a:t>
            </a:r>
          </a:p>
          <a:p>
            <a:pPr>
              <a:spcAft>
                <a:spcPts val="1170"/>
              </a:spcAft>
            </a:pPr>
            <a:r>
              <a:rPr sz="2600" b="0">
                <a:solidFill>
                  <a:srgbClr val="102A43"/>
                </a:solidFill>
                <a:latin typeface="Calibri"/>
              </a:rPr>
              <a:t>•  Con 12 jugadores: 1–7, 2–8, 3–9, 4–10, 5–11 y 6–12.</a:t>
            </a:r>
          </a:p>
          <a:p>
            <a:pPr>
              <a:spcAft>
                <a:spcPts val="1170"/>
              </a:spcAft>
            </a:pPr>
            <a:r>
              <a:rPr sz="2600" b="0">
                <a:solidFill>
                  <a:srgbClr val="102A43"/>
                </a:solidFill>
                <a:latin typeface="Calibri"/>
              </a:rPr>
              <a:t>•  El color del número 1 se sortea y se alterna tablero a tablero: si el 1 lleva blancas, el 2 lleva negras, el 3 blancas, y así.</a:t>
            </a:r>
          </a:p>
          <a:p>
            <a:pPr>
              <a:spcAft>
                <a:spcPts val="1170"/>
              </a:spcAft>
            </a:pPr>
            <a:r>
              <a:rPr sz="2600" b="0">
                <a:solidFill>
                  <a:srgbClr val="102A43"/>
                </a:solidFill>
                <a:latin typeface="Calibri"/>
              </a:rPr>
              <a:t>•  Resultado con el 1 de blancas: 1–7, 8–2, 3–9, 10–4, 5–11, 12–6 (el primero de cada pareja lleva blancas).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Las rondas siguientes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Reglas generales de manejo del sistema suizo (Handbook C.04.2) y Sistema holandés de la FIDE (Handbook C.04.3)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35"/>
              </a:spcAft>
            </a:pPr>
            <a:r>
              <a:rPr sz="2300" b="0">
                <a:solidFill>
                  <a:srgbClr val="3172AC"/>
                </a:solidFill>
                <a:latin typeface="Calibri"/>
              </a:rPr>
              <a:t>Desde la segunda ronda se forman grupos de puntuación. Dentro de cada grupo, ordenado por el número inicial, se cruza la mitad superior con la inferior, respetando los colores y la prohibición de repetir rival. Quien no se puede emparejar en su grupo baja al siguiente como flotante.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Una vez publicado, el emparejamiento solo se cambia si hace jugar dos veces al mismo par.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A quien se sabe que no jugará una ronda no se le empareja y anota cero, salvo que el reglamento prevea otra cosa (por ejemplo, medio punto por descanso solicitado).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Quien falta sin avisar se considera retirado, salvo que explique su ausencia antes del siguiente emparejamiento.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Está prohibido alterar el emparejamiento correcto para favorecer a alguien.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Las rondas siguientes (continuación)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Reglas generales de manejo del sistema suizo (Handbook C.04.2) y Sistema holandés de la FIDE (Handbook C.04.3)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En la práctica se usa un programa de emparejamiento reconocido por la FIDE; quien arbitra debe entender lo que hace para poder revisarlo.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7729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3240"/>
              </a:spcAft>
            </a:pPr>
            <a:r>
              <a:rPr sz="7200" b="1">
                <a:solidFill>
                  <a:srgbClr val="FFFFFF"/>
                </a:solidFill>
                <a:latin typeface="Calibri"/>
              </a:rPr>
              <a:t>Receso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1260"/>
              </a:spcAft>
            </a:pPr>
            <a:r>
              <a:rPr sz="2800" b="0">
                <a:solidFill>
                  <a:srgbClr val="CADCFC"/>
                </a:solidFill>
                <a:latin typeface="Calibri"/>
              </a:rPr>
              <a:t>15 minutos</a:t>
            </a:r>
          </a:p>
          <a:p>
            <a:pPr algn="ctr">
              <a:spcAft>
                <a:spcPts val="1260"/>
              </a:spcAft>
            </a:pPr>
            <a:r>
              <a:rPr sz="2800" b="0">
                <a:solidFill>
                  <a:srgbClr val="CADCFC"/>
                </a:solidFill>
                <a:latin typeface="Calibri"/>
              </a:rPr>
              <a:t>Pausa los relojes: seguimos en breve.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Todos contra todos (round robin)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Tablas de Berger; Reglamento de desempates de la FIDE (Handbook C.07)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125"/>
              </a:spcAft>
            </a:pPr>
            <a:r>
              <a:rPr sz="2500" b="0">
                <a:solidFill>
                  <a:srgbClr val="3172AC"/>
                </a:solidFill>
                <a:latin typeface="Calibri"/>
              </a:rPr>
              <a:t>Cada jugador se enfrenta una vez con todos los demás. Con n jugadores (n par) hay n - 1 rondas y n × (n - 1) / 2 partidas. Si n es impar, se agrega un «descanso» como jugador más y en cada ronda descansa quien le toque enfrentarlo. El orden de las partidas sale de las tablas de Berger.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Tabla de Berger para 4 jugadores. Ronda 1: 1–4, 2–3. Ronda 2: 4–3, 1–2. Ronda 3: 2–4, 3–1.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Con 6 jugadores: 5 rondas y 15 partidas. Con 8: 7 rondas y 28 partidas.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Los números se sortean antes de empezar.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El desempate habitual es el Sonneborn-Berger, porque el Buchholz no distingue: todos enfrentaron a los mismos.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¿Suizo o todos contra todos?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Reglas básicas del sistema suizo (Handbook C.04.1, vigentes desde el 1 de febrero de 2026); Normativa del Programa Juegos Deportivos Estudiantiles 2026, art. 66.2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125"/>
              </a:spcAft>
            </a:pPr>
            <a:r>
              <a:rPr sz="2500" b="0">
                <a:solidFill>
                  <a:srgbClr val="3172AC"/>
                </a:solidFill>
                <a:latin typeface="Calibri"/>
              </a:rPr>
              <a:t>La decisión depende de cuántas personas juegan, del tiempo disponible y del objetivo del torneo.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Pocos participantes (hasta 8 o 10) y tiempo suficiente: todos contra todos, que da la clasificación más justa.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Muchos participantes y pocas rondas posibles: suizo.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Regla práctica: con n jugadores, un suizo necesita al menos tantas rondas como veces hay que dividir n entre 2 para llegar a 1, y conviene sumar una o dos más para separar bien los primeros puestos.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Si el objetivo es clasificar a una etapa siguiente, las bases deben decir cuántos clasifican y con qué desempates.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¿Suizo o todos contra todos? (continuación)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Reglas básicas del sistema suizo (Handbook C.04.1, vigentes desde el 1 de febrero de 2026); Normativa del Programa Juegos Deportivos Estudiantiles 2026, art. 66.2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En la JDE lo decide la Normativa según la etapa: en la Regional, suizo de al menos cinco rondas con más de ocho por modalidad y todos contra todos con ocho o menos (66.2.a y 66.2.b).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1 · ¿Qué decide la persona árbitra?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La ronda 2 de un suizo de 8 jugadores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0">
                <a:solidFill>
                  <a:srgbClr val="102A43"/>
                </a:solidFill>
                <a:latin typeface="Calibri"/>
              </a:rPr>
              <a:t>Ronda 1 (primero, las blancas): 1–5, 6–2, 3–7, 8–4. Resultados: ganan 1, 2, 7 y 8. ¿Cómo queda la ronda 2?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1 ·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La ronda 2 de un suizo de 8 jugadores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Sistema holandés de la FIDE (Handbook C.04.3)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EEF7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Grupo de 1 punto: 1, 2, 7 y 8 (mitades {1, 2} y {7, 8}): 1 contra 7 y 2 contra 8. Grupo de 0: 3, 4, 5 y 6: 3 contra 5 y 4 contra 6. Colores alternados: 7 (tuvo negras) lleva blancas contra 1; 2 (tuvo negras) lleva blancas contra 8; 5 (tuvo negras) blancas contra 3; 4 (tuvo negras) blancas contra 6. Emparejamiento: 7–1, 2–8, 5–3, 4–6.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2 · ¿Qué decide la persona árbitra?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El error del emparejamiento publicado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0">
                <a:solidFill>
                  <a:srgbClr val="102A43"/>
                </a:solidFill>
                <a:latin typeface="Calibri"/>
              </a:rPr>
              <a:t>Tras publicar la ronda 4, un padre de familia pide cambiar un emparejamiento porque su hijo «ya jugó con alguien de su colegio».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2 ·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El error del emparejamiento publicado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Reglas generales de manejo del sistema suizo (Handbook C.04.2)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EEF7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No se cambia: jugar con alguien del mismo centro educativo no es una causa. Solo se corrige si el emparejamiento hace jugar dos veces a los mismos dos jugadores (salvo que la normativa del evento prevea evitar cruces del mismo centro, y en ese caso debe estar anunciado).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3 · ¿Qué decide la persona árbitra?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Siete jugadores en round robin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0">
                <a:solidFill>
                  <a:srgbClr val="102A43"/>
                </a:solidFill>
                <a:latin typeface="Calibri"/>
              </a:rPr>
              <a:t>Se inscriben 7 estudiantes y se quiere un todos contra todos.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3 ·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Siete jugadores en round robin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Tablas de Berger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EEF7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Se agrega un descanso como octavo número: 7 rondas, 21 partidas, y en cada ronda descansa un jugador.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7729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3240"/>
              </a:spcAft>
            </a:pPr>
            <a:r>
              <a:rPr sz="7200" b="1">
                <a:solidFill>
                  <a:srgbClr val="FFFFFF"/>
                </a:solidFill>
                <a:latin typeface="Calibri"/>
              </a:rPr>
              <a:t>Receso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1260"/>
              </a:spcAft>
            </a:pPr>
            <a:r>
              <a:rPr sz="2800" b="0">
                <a:solidFill>
                  <a:srgbClr val="CADCFC"/>
                </a:solidFill>
                <a:latin typeface="Calibri"/>
              </a:rPr>
              <a:t>15 minutos</a:t>
            </a:r>
          </a:p>
          <a:p>
            <a:pPr algn="ctr">
              <a:spcAft>
                <a:spcPts val="1260"/>
              </a:spcAft>
            </a:pPr>
            <a:r>
              <a:rPr sz="2800" b="0">
                <a:solidFill>
                  <a:srgbClr val="CADCFC"/>
                </a:solidFill>
                <a:latin typeface="Calibri"/>
              </a:rPr>
              <a:t>Pausa los relojes: seguimos en breve.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Práctica · Construcción de un cuadro de emparejamiento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45775" cy="4480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102A43"/>
                </a:solidFill>
                <a:latin typeface="Calibri"/>
              </a:rPr>
              <a:t>Con una lista de 12 jugadores ficticios, cada participante construye la primera ronda bajo sistema suizo y, luego, la calendarización equivalente en round robin.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1 de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45775" cy="4480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102A43"/>
                </a:solidFill>
                <a:latin typeface="Calibri"/>
              </a:rPr>
              <a:t>Con 12 jugadores ordenados por rating (1 a 12) y el 1 con blancas por sorteo, escribe la primera ronda del suizo.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2 de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45775" cy="4480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102A43"/>
                </a:solidFill>
                <a:latin typeface="Calibri"/>
              </a:rPr>
              <a:t>¿Cuántas rondas y cuántas partidas tiene un todos contra todos con 10 jugadores? ¿Y con 9?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3 de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45775" cy="4480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102A43"/>
                </a:solidFill>
                <a:latin typeface="Calibri"/>
              </a:rPr>
              <a:t>Escribe el calendario completo de un todos contra todos de 4 jugadores con la tabla de Berger.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4 de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45775" cy="4480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102A43"/>
                </a:solidFill>
                <a:latin typeface="Calibri"/>
              </a:rPr>
              <a:t>Un suizo tiene 11 jugadores. ¿Qué pasa en cada ronda con el número impar?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Ejercicios: respuestas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60"/>
              </a:spcAft>
            </a:pPr>
            <a:r>
              <a:rPr sz="2800" b="0">
                <a:solidFill>
                  <a:srgbClr val="102A43"/>
                </a:solidFill>
                <a:latin typeface="Calibri"/>
              </a:rPr>
              <a:t>•  1. 1–7, 8–2, 3–9, 10–4, 5–11, 12–6 (el primero de cada pareja lleva blancas).</a:t>
            </a:r>
          </a:p>
          <a:p>
            <a:pPr>
              <a:spcAft>
                <a:spcPts val="1260"/>
              </a:spcAft>
            </a:pPr>
            <a:r>
              <a:rPr sz="2800" b="0">
                <a:solidFill>
                  <a:srgbClr val="102A43"/>
                </a:solidFill>
                <a:latin typeface="Calibri"/>
              </a:rPr>
              <a:t>•  2. 10 jugadores: 9 rondas y 45 partidas. 9 jugadores: se agrega un descanso, 9 rondas y 36 partidas, con un jugador libre por ronda.</a:t>
            </a:r>
          </a:p>
          <a:p>
            <a:pPr>
              <a:spcAft>
                <a:spcPts val="1260"/>
              </a:spcAft>
            </a:pPr>
            <a:r>
              <a:rPr sz="2800" b="0">
                <a:solidFill>
                  <a:srgbClr val="102A43"/>
                </a:solidFill>
                <a:latin typeface="Calibri"/>
              </a:rPr>
              <a:t>•  3. Ronda 1: 1–4, 2–3. Ronda 2: 4–3, 1–2. Ronda 3: 2–4, 3–1 (el primero de cada pareja lleva blancas).</a:t>
            </a:r>
          </a:p>
          <a:p>
            <a:pPr>
              <a:spcAft>
                <a:spcPts val="1260"/>
              </a:spcAft>
            </a:pPr>
            <a:r>
              <a:rPr sz="2800" b="0">
                <a:solidFill>
                  <a:srgbClr val="102A43"/>
                </a:solidFill>
                <a:latin typeface="Calibri"/>
              </a:rPr>
              <a:t>•  4. Un jugador queda libre (bye) y recibe un punto sin color. No puede recibirlo quien ya lo tuvo ni quien ya ganó por incomparecencia.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Quiz de la sesión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Responde de forma individual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10637215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1. ¿Qué sistema resulta más adecuado cuando hay muchos participantes y tiempo limitado?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2. En el sistema todos contra todos (round robin), ¿qué característica lo define?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3. ¿Cómo se ordena la lista inicial de un suizo?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4. Publicado el emparejamiento, ¿en qué único caso se puede cambiar?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5. ¿Qué recibe en un suizo quien queda libre por número impar?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6. ¿Cuántas partidas tiene un todos contra todos de 8 jugadores?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7. ¿Puede la diferencia entre las partidas que un jugador tuvo con blancas y con negras llegar a ser de 3?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Quiz de la sesión (continuación)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Responde de forma individual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10637215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8. ¿Puede un jugador recibir el mismo color tres veces seguidas en un suizo?</a:t>
            </a:r>
          </a:p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9. Un jugador falta a una ronda sin avisar. ¿Qué se asume?</a:t>
            </a:r>
          </a:p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10. ¿Por qué el desempate habitual en un todos contra todos es el Sonneborn-Berger y no el Buchholz?</a:t>
            </a:r>
          </a:p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11. ¿Puede el árbitro cambiar un emparejamiento ya publicado para favorecer a un estudiante?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Quiz: respuestas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1. El sistema suizo.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2. Cada jugador se enfrenta una vez a todos los demás participantes.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3. Por rating, de mayor a menor, con criterios para los empates.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4. Si hace jugar dos veces al mismo par de jugadores.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5. Un punto, sin color asignado.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6. 28 partidas, en 7 rondas.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7. No: no puede superar 2 ni bajar de -2.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8. No, salvo las excepciones que se permiten en la última ronda.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9. Se considera retirado, salvo que explique su ausencia antes de que se publique el siguiente emparejamiento.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Quiz: respuestas (continuación)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10. Porque en un todos contra todos cada jugador enfrenta a los mismos rivales que los demás, así que el Buchholz no distingue a nadie.</a:t>
            </a:r>
          </a:p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11. No, está prohibido alterar el emparejamiento correcto para favorecer a alguien.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2000" b="1">
                <a:solidFill>
                  <a:srgbClr val="F4C430"/>
                </a:solidFill>
                <a:latin typeface="Calibri"/>
              </a:rPr>
              <a:t>TAREA PARA LA PRÓXIMA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FFFFFF"/>
                </a:solidFill>
                <a:latin typeface="Calibri"/>
              </a:rPr>
              <a:t>A partir de los resultados de la ronda 1, elaborar el emparejamiento de la ronda 2 bajo sistema suizo.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46320"/>
            <a:ext cx="10728655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ADCFC"/>
                </a:solidFill>
                <a:latin typeface="Calibri"/>
              </a:rPr>
              <a:t>¿Dudas? Este es el momento. Gracias por tu participación.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