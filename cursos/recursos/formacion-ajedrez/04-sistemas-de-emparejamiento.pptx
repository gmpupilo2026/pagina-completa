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692640" y="-1463040"/>
            <a:ext cx="4572000" cy="4572000"/>
          </a:xfrm>
          <a:prstGeom prst="ellipse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645920" y="4937760"/>
            <a:ext cx="3840480" cy="3840480"/>
          </a:xfrm>
          <a:prstGeom prst="ellipse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640080" y="594360"/>
            <a:ext cx="1005840" cy="1005840"/>
          </a:xfrm>
          <a:prstGeom prst="ellipse">
            <a:avLst/>
          </a:prstGeom>
          <a:solidFill>
            <a:srgbClr val="DE91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594360"/>
            <a:ext cx="10058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>
                <a:solidFill>
                  <a:srgbClr val="0A1F33"/>
                </a:solidFill>
                <a:latin typeface="Calibri"/>
              </a:rPr>
              <a:t>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920240" y="685800"/>
            <a:ext cx="9509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F0B429"/>
                </a:solidFill>
                <a:latin typeface="Calibri"/>
              </a:rPr>
              <a:t>AJEDREZ INTEGRAL  ·  FORMACIÓN AJEDREZ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20240" y="1097280"/>
            <a:ext cx="9509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9FB3C8"/>
                </a:solidFill>
                <a:latin typeface="Calibri"/>
              </a:rPr>
              <a:t>Bloque 2 · Modalidades, normativa y sistemas de torneo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651760"/>
            <a:ext cx="108813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Cambria"/>
              </a:rPr>
              <a:t>Sistemas de emparejamiento para torneos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4617720"/>
            <a:ext cx="9601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CADCFC"/>
                </a:solidFill>
                <a:latin typeface="Calibri"/>
              </a:rPr>
              <a:t>Sistema suizo y todos contra todos (round robin): cómo funcionan y cuándo usar cada uno.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630936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27D98"/>
                </a:solidFill>
                <a:latin typeface="Calibri"/>
              </a:rPr>
              <a:t>ajedrez-integral.com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48640" y="502920"/>
            <a:ext cx="502920" cy="502920"/>
          </a:xfrm>
          <a:prstGeom prst="ellipse">
            <a:avLst/>
          </a:prstGeom>
          <a:solidFill>
            <a:srgbClr val="DE91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>
                <a:solidFill>
                  <a:srgbClr val="0A1F33"/>
                </a:solidFill>
                <a:latin typeface="Calibri"/>
              </a:rPr>
              <a:t>◎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530352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DE911D"/>
                </a:solidFill>
                <a:latin typeface="Calibri"/>
              </a:rPr>
              <a:t>OBJETIVOS DE LA SESIÓN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515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0A1F33"/>
                </a:solidFill>
                <a:latin typeface="Cambria"/>
              </a:rPr>
              <a:t>Sistemas de emparejamiento para torneos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965960"/>
            <a:ext cx="11064240" cy="4297680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194560"/>
            <a:ext cx="1033272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334E68"/>
                </a:solidFill>
                <a:latin typeface="Calibri"/>
              </a:rPr>
              <a:t>•  Aplicar las reglas básicas del sistema suizo: rivales, colores y descansos.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334E68"/>
                </a:solidFill>
                <a:latin typeface="Calibri"/>
              </a:rPr>
              <a:t>•  Ordenar la lista inicial y emparejar la primera ronda.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334E68"/>
                </a:solidFill>
                <a:latin typeface="Calibri"/>
              </a:rPr>
              <a:t>•  Emparejar una ronda siguiente por grupos de puntuación.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334E68"/>
                </a:solidFill>
                <a:latin typeface="Calibri"/>
              </a:rPr>
              <a:t>•  Calendarizar un torneo de todos contra todos con las tablas de Berger.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334E68"/>
                </a:solidFill>
                <a:latin typeface="Calibri"/>
              </a:rPr>
              <a:t>•  Elegir el sistema adecuado según participantes, tiempo y objetivo del torneo.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48640" y="502920"/>
            <a:ext cx="502920" cy="502920"/>
          </a:xfrm>
          <a:prstGeom prst="ellipse">
            <a:avLst/>
          </a:prstGeom>
          <a:solidFill>
            <a:srgbClr val="DE91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>
                <a:solidFill>
                  <a:srgbClr val="0A1F33"/>
                </a:solidFill>
                <a:latin typeface="Calibri"/>
              </a:rPr>
              <a:t>◷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530352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DE911D"/>
                </a:solidFill>
                <a:latin typeface="Calibri"/>
              </a:rPr>
              <a:t>CRONOGRAMA DE LA SESIÓN · 5 HORAS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143000"/>
          <a:ext cx="11064240" cy="5029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37360"/>
                <a:gridCol w="1188720"/>
                <a:gridCol w="8138160"/>
              </a:tblGrid>
              <a:tr h="45720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Tiempo</a:t>
                      </a:r>
                    </a:p>
                  </a:txBody>
                  <a:tcPr>
                    <a:solidFill>
                      <a:srgbClr val="102A4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Duración</a:t>
                      </a:r>
                    </a:p>
                  </a:txBody>
                  <a:tcPr>
                    <a:solidFill>
                      <a:srgbClr val="102A4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Actividad</a:t>
                      </a:r>
                    </a:p>
                  </a:txBody>
                  <a:tcPr>
                    <a:solidFill>
                      <a:srgbClr val="102A43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334E68"/>
                          </a:solidFill>
                        </a:rPr>
                        <a:t>0:00 – 0:15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334E68"/>
                          </a:solidFill>
                        </a:rPr>
                        <a:t>15 min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334E68"/>
                          </a:solidFill>
                        </a:rPr>
                        <a:t>Repaso y revisión de la tarea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334E68"/>
                          </a:solidFill>
                        </a:rPr>
                        <a:t>0:15 – 1:00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334E68"/>
                          </a:solidFill>
                        </a:rPr>
                        <a:t>45 min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334E68"/>
                          </a:solidFill>
                        </a:rPr>
                        <a:t>El sistema suizo: reglas básicas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334E68"/>
                          </a:solidFill>
                        </a:rPr>
                        <a:t>1:00 – 1:40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334E68"/>
                          </a:solidFill>
                        </a:rPr>
                        <a:t>40 min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334E68"/>
                          </a:solidFill>
                        </a:rPr>
                        <a:t>La primera ronda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DE911D"/>
                          </a:solidFill>
                        </a:rPr>
                        <a:t>1:40 – 1:55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DE911D"/>
                          </a:solidFill>
                        </a:rPr>
                        <a:t>15 min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DE911D"/>
                          </a:solidFill>
                        </a:rPr>
                        <a:t>Receso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334E68"/>
                          </a:solidFill>
                        </a:rPr>
                        <a:t>1:55 – 2:35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334E68"/>
                          </a:solidFill>
                        </a:rPr>
                        <a:t>40 min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334E68"/>
                          </a:solidFill>
                        </a:rPr>
                        <a:t>Las rondas siguientes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334E68"/>
                          </a:solidFill>
                        </a:rPr>
                        <a:t>2:35 – 3:05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334E68"/>
                          </a:solidFill>
                        </a:rPr>
                        <a:t>30 min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334E68"/>
                          </a:solidFill>
                        </a:rPr>
                        <a:t>Todos contra todos (round robin)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DE911D"/>
                          </a:solidFill>
                        </a:rPr>
                        <a:t>3:05 – 3:20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DE911D"/>
                          </a:solidFill>
                        </a:rPr>
                        <a:t>15 min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DE911D"/>
                          </a:solidFill>
                        </a:rPr>
                        <a:t>Receso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334E68"/>
                          </a:solidFill>
                        </a:rPr>
                        <a:t>3:20 – 4:10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334E68"/>
                          </a:solidFill>
                        </a:rPr>
                        <a:t>50 min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334E68"/>
                          </a:solidFill>
                        </a:rPr>
                        <a:t>Práctica: construcción de cuadros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334E68"/>
                          </a:solidFill>
                        </a:rPr>
                        <a:t>4:10 – 4:40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334E68"/>
                          </a:solidFill>
                        </a:rPr>
                        <a:t>30 min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334E68"/>
                          </a:solidFill>
                        </a:rPr>
                        <a:t>Quiz de la sesión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334E68"/>
                          </a:solidFill>
                        </a:rPr>
                        <a:t>4:40 – 5:00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334E68"/>
                          </a:solidFill>
                        </a:rPr>
                        <a:t>20 min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334E68"/>
                          </a:solidFill>
                        </a:rPr>
                        <a:t>Cierre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48640" y="502920"/>
            <a:ext cx="502920" cy="502920"/>
          </a:xfrm>
          <a:prstGeom prst="ellipse">
            <a:avLst/>
          </a:prstGeom>
          <a:solidFill>
            <a:srgbClr val="DE91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>
                <a:solidFill>
                  <a:srgbClr val="0A1F33"/>
                </a:solidFill>
                <a:latin typeface="Calibri"/>
              </a:rPr>
              <a:t>⚖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530352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DE911D"/>
                </a:solidFill>
                <a:latin typeface="Calibri"/>
              </a:rPr>
              <a:t>CONTENIDO PARA VER EN CLASE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515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A1F33"/>
                </a:solidFill>
                <a:latin typeface="Cambria"/>
              </a:rPr>
              <a:t>Reglas básicas de todo sistema suizo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874519"/>
            <a:ext cx="11064240" cy="4389120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011680"/>
            <a:ext cx="103327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0">
                <a:solidFill>
                  <a:srgbClr val="0A1F33"/>
                </a:solidFill>
                <a:latin typeface="Calibri"/>
              </a:rPr>
              <a:t>En el suizo se empareja ronda a ronda a jugadores con puntuaciones iguales o parecidas. Su regla absoluta es que dos jugadores no se enfrentan más de una vez, por encima de puntuaciones y colores.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3429000"/>
            <a:ext cx="1033272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>
                <a:solidFill>
                  <a:srgbClr val="334E68"/>
                </a:solidFill>
                <a:latin typeface="Calibri"/>
              </a:rPr>
              <a:t>•  La diferencia entre partidas con blancas y con negras de un jugador no puede superar 2 ni bajar de -2.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334E68"/>
                </a:solidFill>
                <a:latin typeface="Calibri"/>
              </a:rPr>
              <a:t>•  Ningún jugador recibe el mismo color tres veces seguidas (con excepciones en la última ronda).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334E68"/>
                </a:solidFill>
                <a:latin typeface="Calibri"/>
              </a:rPr>
              <a:t>•  Con número impar, un jugador queda libre (bye): recibe un punto sin color, y no puede recibirlo dos veces.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334E68"/>
                </a:solidFill>
                <a:latin typeface="Calibri"/>
              </a:rPr>
              <a:t>•  El número de rondas se fija y se anuncia antes de empezar.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355080"/>
            <a:ext cx="11064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27D98"/>
                </a:solidFill>
                <a:latin typeface="Calibri"/>
              </a:rPr>
              <a:t>Fuente: Reglas básicas del sistema suizo (Handbook C.04.1)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48640" y="502920"/>
            <a:ext cx="502920" cy="502920"/>
          </a:xfrm>
          <a:prstGeom prst="ellipse">
            <a:avLst/>
          </a:prstGeom>
          <a:solidFill>
            <a:srgbClr val="DE91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>
                <a:solidFill>
                  <a:srgbClr val="0A1F33"/>
                </a:solidFill>
                <a:latin typeface="Calibri"/>
              </a:rPr>
              <a:t>⚖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530352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DE911D"/>
                </a:solidFill>
                <a:latin typeface="Calibri"/>
              </a:rPr>
              <a:t>CONTENIDO PARA VER EN CLASE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515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A1F33"/>
                </a:solidFill>
                <a:latin typeface="Cambria"/>
              </a:rPr>
              <a:t>La lista inicial y la primera ronda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874519"/>
            <a:ext cx="11064240" cy="4389120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011680"/>
            <a:ext cx="103327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0A1F33"/>
                </a:solidFill>
                <a:latin typeface="Calibri"/>
              </a:rPr>
              <a:t>Antes de la primera ronda se ordena a los jugadores por rating, de mayor a menor, con criterios para los empates (en torneos escolares sin rating, suele usarse el orden alfabético o un sorteo que el reglamento anuncia). Ese número de orden acompaña al jugador todo el torneo. En la primera ronda se divide la lista en dos mitades y la superior juega contra la inferior.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3429000"/>
            <a:ext cx="1033272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>
                <a:solidFill>
                  <a:srgbClr val="334E68"/>
                </a:solidFill>
                <a:latin typeface="Calibri"/>
              </a:rPr>
              <a:t>•  Con 12 jugadores: 1–7, 2–8, 3–9, 4–10, 5–11 y 6–12.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334E68"/>
                </a:solidFill>
                <a:latin typeface="Calibri"/>
              </a:rPr>
              <a:t>•  El color del número 1 se sortea y se alterna tablero a tablero: si el 1 lleva blancas, el 2 lleva negras, el 3 blancas, y así.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334E68"/>
                </a:solidFill>
                <a:latin typeface="Calibri"/>
              </a:rPr>
              <a:t>•  Resultado con el 1 de blancas: 1–7, 8–2, 3–9, 10–4, 5–11, 12–6 (el primero de cada pareja lleva blancas).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355080"/>
            <a:ext cx="11064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27D98"/>
                </a:solidFill>
                <a:latin typeface="Calibri"/>
              </a:rPr>
              <a:t>Fuente: Reglas generales de manejo del sistema suizo (Handbook C.04.2) y Sistema holandés de la FIDE (Handbook C.04.3)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48640" y="502920"/>
            <a:ext cx="502920" cy="502920"/>
          </a:xfrm>
          <a:prstGeom prst="ellipse">
            <a:avLst/>
          </a:prstGeom>
          <a:solidFill>
            <a:srgbClr val="DE91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>
                <a:solidFill>
                  <a:srgbClr val="0A1F33"/>
                </a:solidFill>
                <a:latin typeface="Calibri"/>
              </a:rPr>
              <a:t>⚖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530352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DE911D"/>
                </a:solidFill>
                <a:latin typeface="Calibri"/>
              </a:rPr>
              <a:t>CONTENIDO PARA VER EN CLASE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515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A1F33"/>
                </a:solidFill>
                <a:latin typeface="Cambria"/>
              </a:rPr>
              <a:t>Las rondas siguientes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874519"/>
            <a:ext cx="11064240" cy="4389120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011680"/>
            <a:ext cx="103327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0">
                <a:solidFill>
                  <a:srgbClr val="0A1F33"/>
                </a:solidFill>
                <a:latin typeface="Calibri"/>
              </a:rPr>
              <a:t>Desde la segunda ronda se forman grupos de puntuación. Dentro de cada grupo, ordenado por el número inicial, se cruza la mitad superior con la inferior, respetando los colores y la prohibición de repetir rival. Quien no se puede emparejar en su grupo baja al siguiente como flotante.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3429000"/>
            <a:ext cx="1033272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100">
                <a:solidFill>
                  <a:srgbClr val="334E68"/>
                </a:solidFill>
                <a:latin typeface="Calibri"/>
              </a:rPr>
              <a:t>•  Una vez publicado, el emparejamiento solo se cambia si hace jugar dos veces al mismo par.</a:t>
            </a:r>
          </a:p>
          <a:p>
            <a:pPr>
              <a:spcAft>
                <a:spcPts val="800"/>
              </a:spcAft>
            </a:pPr>
            <a:r>
              <a:rPr sz="1100">
                <a:solidFill>
                  <a:srgbClr val="334E68"/>
                </a:solidFill>
                <a:latin typeface="Calibri"/>
              </a:rPr>
              <a:t>•  A quien se sabe que no jugará una ronda no se le empareja y anota cero, salvo que el reglamento prevea otra cosa (por ejemplo, medio punto por descanso solicitado).</a:t>
            </a:r>
          </a:p>
          <a:p>
            <a:pPr>
              <a:spcAft>
                <a:spcPts val="800"/>
              </a:spcAft>
            </a:pPr>
            <a:r>
              <a:rPr sz="1100">
                <a:solidFill>
                  <a:srgbClr val="334E68"/>
                </a:solidFill>
                <a:latin typeface="Calibri"/>
              </a:rPr>
              <a:t>•  Quien falta sin avisar se considera retirado, salvo que explique su ausencia antes del siguiente emparejamiento.</a:t>
            </a:r>
          </a:p>
          <a:p>
            <a:pPr>
              <a:spcAft>
                <a:spcPts val="800"/>
              </a:spcAft>
            </a:pPr>
            <a:r>
              <a:rPr sz="1100">
                <a:solidFill>
                  <a:srgbClr val="334E68"/>
                </a:solidFill>
                <a:latin typeface="Calibri"/>
              </a:rPr>
              <a:t>•  Está prohibido alterar el emparejamiento correcto para favorecer a alguien.</a:t>
            </a:r>
          </a:p>
          <a:p>
            <a:pPr>
              <a:spcAft>
                <a:spcPts val="800"/>
              </a:spcAft>
            </a:pPr>
            <a:r>
              <a:rPr sz="1100">
                <a:solidFill>
                  <a:srgbClr val="334E68"/>
                </a:solidFill>
                <a:latin typeface="Calibri"/>
              </a:rPr>
              <a:t>•  En la práctica se usa un programa de emparejamiento reconocido por la FIDE; quien arbitra debe entender lo que hace para poder revisarlo.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355080"/>
            <a:ext cx="11064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27D98"/>
                </a:solidFill>
                <a:latin typeface="Calibri"/>
              </a:rPr>
              <a:t>Fuente: Reglas generales de manejo del sistema suizo (Handbook C.04.2) y Sistema holandés de la FIDE (Handbook C.04.3)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48640" y="502920"/>
            <a:ext cx="502920" cy="502920"/>
          </a:xfrm>
          <a:prstGeom prst="ellipse">
            <a:avLst/>
          </a:prstGeom>
          <a:solidFill>
            <a:srgbClr val="DE91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>
                <a:solidFill>
                  <a:srgbClr val="0A1F33"/>
                </a:solidFill>
                <a:latin typeface="Calibri"/>
              </a:rPr>
              <a:t>⚖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530352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DE911D"/>
                </a:solidFill>
                <a:latin typeface="Calibri"/>
              </a:rPr>
              <a:t>CONTENIDO PARA VER EN CLASE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515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A1F33"/>
                </a:solidFill>
                <a:latin typeface="Cambria"/>
              </a:rPr>
              <a:t>Todos contra todos (round robin)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874519"/>
            <a:ext cx="11064240" cy="4389120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011680"/>
            <a:ext cx="103327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0">
                <a:solidFill>
                  <a:srgbClr val="0A1F33"/>
                </a:solidFill>
                <a:latin typeface="Calibri"/>
              </a:rPr>
              <a:t>Cada jugador se enfrenta una vez con todos los demás. Con n jugadores (n par) hay n - 1 rondas y n × (n - 1) / 2 partidas. Si n es impar, se agrega un «descanso» como jugador más y en cada ronda descansa quien le toque enfrentarlo. El orden de las partidas sale de las tablas de Berger.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3429000"/>
            <a:ext cx="1033272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>
                <a:solidFill>
                  <a:srgbClr val="334E68"/>
                </a:solidFill>
                <a:latin typeface="Calibri"/>
              </a:rPr>
              <a:t>•  Tabla de Berger para 4 jugadores. Ronda 1: 1–4, 2–3. Ronda 2: 4–3, 1–2. Ronda 3: 2–4, 3–1.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334E68"/>
                </a:solidFill>
                <a:latin typeface="Calibri"/>
              </a:rPr>
              <a:t>•  Con 6 jugadores: 5 rondas y 15 partidas. Con 8: 7 rondas y 28 partidas.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334E68"/>
                </a:solidFill>
                <a:latin typeface="Calibri"/>
              </a:rPr>
              <a:t>•  Los números se sortean antes de empezar.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334E68"/>
                </a:solidFill>
                <a:latin typeface="Calibri"/>
              </a:rPr>
              <a:t>•  El desempate habitual es el Sonneborn-Berger, porque el Buchholz no distingue: todos enfrentaron a los mismos.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355080"/>
            <a:ext cx="11064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27D98"/>
                </a:solidFill>
                <a:latin typeface="Calibri"/>
              </a:rPr>
              <a:t>Fuente: Tablas de Berger; Reglamento de desempates de la FIDE (Handbook C.07)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48640" y="502920"/>
            <a:ext cx="502920" cy="502920"/>
          </a:xfrm>
          <a:prstGeom prst="ellipse">
            <a:avLst/>
          </a:prstGeom>
          <a:solidFill>
            <a:srgbClr val="DE91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>
                <a:solidFill>
                  <a:srgbClr val="0A1F33"/>
                </a:solidFill>
                <a:latin typeface="Calibri"/>
              </a:rPr>
              <a:t>⚖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530352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DE911D"/>
                </a:solidFill>
                <a:latin typeface="Calibri"/>
              </a:rPr>
              <a:t>CONTENIDO PARA VER EN CLASE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515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A1F33"/>
                </a:solidFill>
                <a:latin typeface="Cambria"/>
              </a:rPr>
              <a:t>¿Suizo o todos contra todos?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874519"/>
            <a:ext cx="11064240" cy="4389120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011680"/>
            <a:ext cx="103327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0">
                <a:solidFill>
                  <a:srgbClr val="0A1F33"/>
                </a:solidFill>
                <a:latin typeface="Calibri"/>
              </a:rPr>
              <a:t>La decisión depende de cuántas personas juegan, del tiempo disponible y del objetivo del torneo.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3429000"/>
            <a:ext cx="1033272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300">
                <a:solidFill>
                  <a:srgbClr val="334E68"/>
                </a:solidFill>
                <a:latin typeface="Calibri"/>
              </a:rPr>
              <a:t>•  Pocos participantes (hasta 8 o 10) y tiempo suficiente: todos contra todos, que da la clasificación más justa.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334E68"/>
                </a:solidFill>
                <a:latin typeface="Calibri"/>
              </a:rPr>
              <a:t>•  Muchos participantes y pocas rondas posibles: suizo.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334E68"/>
                </a:solidFill>
                <a:latin typeface="Calibri"/>
              </a:rPr>
              <a:t>•  Regla práctica: con n jugadores, un suizo necesita al menos tantas rondas como veces hay que dividir n entre 2 para llegar a 1, y conviene sumar una o dos más para separar bien los primeros puestos.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334E68"/>
                </a:solidFill>
                <a:latin typeface="Calibri"/>
              </a:rPr>
              <a:t>•  Si el objetivo es clasificar a una etapa siguiente, las bases deben decir cuántos clasifican y con qué desempates.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355080"/>
            <a:ext cx="11064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27D98"/>
                </a:solidFill>
                <a:latin typeface="Calibri"/>
              </a:rPr>
              <a:t>Fuente: Reglas básicas del sistema suizo (Handbook C.04.1)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48640" y="502920"/>
            <a:ext cx="502920" cy="502920"/>
          </a:xfrm>
          <a:prstGeom prst="ellipse">
            <a:avLst/>
          </a:prstGeom>
          <a:solidFill>
            <a:srgbClr val="DE91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>
                <a:solidFill>
                  <a:srgbClr val="0A1F33"/>
                </a:solidFill>
                <a:latin typeface="Calibri"/>
              </a:rPr>
              <a:t>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530352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DE911D"/>
                </a:solidFill>
                <a:latin typeface="Calibri"/>
              </a:rPr>
              <a:t>CASO 1 · ¿QUÉ DECIDE LA PERSONA ÁRBITRA?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515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A1F33"/>
                </a:solidFill>
                <a:latin typeface="Cambria"/>
              </a:rPr>
              <a:t>La ronda 2 de un suizo de 8 jugadores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965960"/>
            <a:ext cx="11064240" cy="4206240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240280"/>
            <a:ext cx="10332720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0">
                <a:solidFill>
                  <a:srgbClr val="334E68"/>
                </a:solidFill>
                <a:latin typeface="Calibri"/>
              </a:rPr>
              <a:t>Ronda 1 (primero, las blancas): 1–5, 6–2, 3–7, 8–4. Resultados: ganan 1, 2, 7 y 8. ¿Cómo queda la ronda 2?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548640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F0B429"/>
                </a:solidFill>
                <a:latin typeface="Calibri"/>
              </a:rPr>
              <a:t>CASO 1 · DECISIÓN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515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FFFFFF"/>
                </a:solidFill>
                <a:latin typeface="Cambria"/>
              </a:rPr>
              <a:t>La ronda 2 de un suizo de 8 jugadores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103120"/>
            <a:ext cx="1106424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CADCFC"/>
                </a:solidFill>
                <a:latin typeface="Calibri"/>
              </a:rPr>
              <a:t>Grupo de 1 punto: 1, 2, 7 y 8 (mitades {1, 2} y {7, 8}): 1 contra 7 y 2 contra 8. Grupo de 0: 3, 4, 5 y 6: 3 contra 5 y 4 contra 6. Colores alternados: 7 (tuvo negras) lleva blancas contra 1; 2 (tuvo negras) lleva blancas contra 8; 5 (tuvo negras) blancas contra 3; 4 (tuvo negras) blancas contra 6. Emparejamiento: 7–1, 2–8, 5–3, 4–6.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263640"/>
            <a:ext cx="11064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9FB3C8"/>
                </a:solidFill>
                <a:latin typeface="Calibri"/>
              </a:rPr>
              <a:t>Fuente: Sistema holandés de la FIDE (Handbook C.04.3)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48640" y="502920"/>
            <a:ext cx="502920" cy="502920"/>
          </a:xfrm>
          <a:prstGeom prst="ellipse">
            <a:avLst/>
          </a:prstGeom>
          <a:solidFill>
            <a:srgbClr val="DE91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>
                <a:solidFill>
                  <a:srgbClr val="0A1F33"/>
                </a:solidFill>
                <a:latin typeface="Calibri"/>
              </a:rPr>
              <a:t>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530352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DE911D"/>
                </a:solidFill>
                <a:latin typeface="Calibri"/>
              </a:rPr>
              <a:t>CASO 2 · ¿QUÉ DECIDE LA PERSONA ÁRBITRA?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515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A1F33"/>
                </a:solidFill>
                <a:latin typeface="Cambria"/>
              </a:rPr>
              <a:t>El error del emparejamiento publicado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965960"/>
            <a:ext cx="11064240" cy="4206240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240280"/>
            <a:ext cx="10332720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0">
                <a:solidFill>
                  <a:srgbClr val="334E68"/>
                </a:solidFill>
                <a:latin typeface="Calibri"/>
              </a:rPr>
              <a:t>Tras publicar la ronda 4, un padre de familia pide cambiar un emparejamiento porque su hijo «ya jugó con alguien de su colegio».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548640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F0B429"/>
                </a:solidFill>
                <a:latin typeface="Calibri"/>
              </a:rPr>
              <a:t>CASO 2 · DECISIÓN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515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FFFFFF"/>
                </a:solidFill>
                <a:latin typeface="Cambria"/>
              </a:rPr>
              <a:t>El error del emparejamiento publicado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103120"/>
            <a:ext cx="1106424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0">
                <a:solidFill>
                  <a:srgbClr val="CADCFC"/>
                </a:solidFill>
                <a:latin typeface="Calibri"/>
              </a:rPr>
              <a:t>No se cambia: jugar con alguien del mismo centro educativo no es una causa. Solo se corrige si el emparejamiento hace jugar dos veces a los mismos dos jugadores (salvo que la normativa del evento prevea evitar cruces del mismo centro, y en ese caso debe estar anunciado).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263640"/>
            <a:ext cx="11064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9FB3C8"/>
                </a:solidFill>
                <a:latin typeface="Calibri"/>
              </a:rPr>
              <a:t>Fuente: Reglas generales de manejo del sistema suizo (Handbook C.04.2)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48640" y="502920"/>
            <a:ext cx="502920" cy="502920"/>
          </a:xfrm>
          <a:prstGeom prst="ellipse">
            <a:avLst/>
          </a:prstGeom>
          <a:solidFill>
            <a:srgbClr val="DE91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>
                <a:solidFill>
                  <a:srgbClr val="0A1F33"/>
                </a:solidFill>
                <a:latin typeface="Calibri"/>
              </a:rPr>
              <a:t>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530352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DE911D"/>
                </a:solidFill>
                <a:latin typeface="Calibri"/>
              </a:rPr>
              <a:t>CASO 3 · ¿QUÉ DECIDE LA PERSONA ÁRBITRA?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515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A1F33"/>
                </a:solidFill>
                <a:latin typeface="Cambria"/>
              </a:rPr>
              <a:t>Siete jugadores en round robin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965960"/>
            <a:ext cx="11064240" cy="4206240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240280"/>
            <a:ext cx="10332720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0">
                <a:solidFill>
                  <a:srgbClr val="334E68"/>
                </a:solidFill>
                <a:latin typeface="Calibri"/>
              </a:rPr>
              <a:t>Se inscriben 7 estudiantes y se quiere un todos contra todos.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548640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F0B429"/>
                </a:solidFill>
                <a:latin typeface="Calibri"/>
              </a:rPr>
              <a:t>CASO 3 · DECISIÓN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515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FFFFFF"/>
                </a:solidFill>
                <a:latin typeface="Cambria"/>
              </a:rPr>
              <a:t>Siete jugadores en round robin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103120"/>
            <a:ext cx="1106424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0">
                <a:solidFill>
                  <a:srgbClr val="CADCFC"/>
                </a:solidFill>
                <a:latin typeface="Calibri"/>
              </a:rPr>
              <a:t>Se agrega un descanso como octavo número: 7 rondas, 21 partidas, y en cada ronda descansa un jugador.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263640"/>
            <a:ext cx="11064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9FB3C8"/>
                </a:solidFill>
                <a:latin typeface="Calibri"/>
              </a:rPr>
              <a:t>Fuente: Tablas de Berger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1280160" y="-1463040"/>
            <a:ext cx="4114800" cy="4114800"/>
          </a:xfrm>
          <a:prstGeom prst="ellipse">
            <a:avLst/>
          </a:prstGeom>
          <a:solidFill>
            <a:srgbClr val="0A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5175504" y="822960"/>
            <a:ext cx="1828800" cy="1828800"/>
          </a:xfrm>
          <a:prstGeom prst="ellipse">
            <a:avLst/>
          </a:prstGeom>
          <a:solidFill>
            <a:srgbClr val="DE91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175504" y="822960"/>
            <a:ext cx="18288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>
                <a:solidFill>
                  <a:srgbClr val="0A1F33"/>
                </a:solidFill>
                <a:latin typeface="Calibri"/>
              </a:rPr>
              <a:t>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880360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0B429"/>
                </a:solidFill>
                <a:latin typeface="Calibri"/>
              </a:rPr>
              <a:t>PRÁCTICA — CONSTRUCCIÓN DE UN CUADRO DE EMPAREJAMIENTO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80160" y="3383280"/>
            <a:ext cx="960120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>
                <a:solidFill>
                  <a:srgbClr val="FFFFFF"/>
                </a:solidFill>
                <a:latin typeface="Cambria"/>
              </a:rPr>
              <a:t>Con una lista de 12 jugadores ficticios, cada participante construye la primera ronda bajo sistema suizo y, luego, la calendarización equivalente en round robin.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263640"/>
            <a:ext cx="11064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9FB3C8"/>
                </a:solidFill>
                <a:latin typeface="Calibri"/>
              </a:rPr>
              <a:t>Formación Ajedrez · Sesión 4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48640" y="502920"/>
            <a:ext cx="502920" cy="502920"/>
          </a:xfrm>
          <a:prstGeom prst="ellipse">
            <a:avLst/>
          </a:prstGeom>
          <a:solidFill>
            <a:srgbClr val="DE91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>
                <a:solidFill>
                  <a:srgbClr val="0A1F33"/>
                </a:solidFill>
                <a:latin typeface="Calibri"/>
              </a:rPr>
              <a:t>✎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530352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DE911D"/>
                </a:solidFill>
                <a:latin typeface="Calibri"/>
              </a:rPr>
              <a:t>EJERCICIO 1 DE 4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188720"/>
            <a:ext cx="11064240" cy="5029200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554480"/>
            <a:ext cx="1033272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0">
                <a:solidFill>
                  <a:srgbClr val="0A1F33"/>
                </a:solidFill>
                <a:latin typeface="Calibri"/>
              </a:rPr>
              <a:t>Con 12 jugadores ordenados por rating (1 a 12) y el 1 con blancas por sorteo, escribe la primera ronda del suizo.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48640" y="502920"/>
            <a:ext cx="502920" cy="502920"/>
          </a:xfrm>
          <a:prstGeom prst="ellipse">
            <a:avLst/>
          </a:prstGeom>
          <a:solidFill>
            <a:srgbClr val="DE91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>
                <a:solidFill>
                  <a:srgbClr val="0A1F33"/>
                </a:solidFill>
                <a:latin typeface="Calibri"/>
              </a:rPr>
              <a:t>✎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530352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DE911D"/>
                </a:solidFill>
                <a:latin typeface="Calibri"/>
              </a:rPr>
              <a:t>EJERCICIO 2 DE 4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188720"/>
            <a:ext cx="11064240" cy="5029200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554480"/>
            <a:ext cx="1033272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0">
                <a:solidFill>
                  <a:srgbClr val="0A1F33"/>
                </a:solidFill>
                <a:latin typeface="Calibri"/>
              </a:rPr>
              <a:t>¿Cuántas rondas y cuántas partidas tiene un todos contra todos con 10 jugadores? ¿Y con 9?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48640" y="502920"/>
            <a:ext cx="502920" cy="502920"/>
          </a:xfrm>
          <a:prstGeom prst="ellipse">
            <a:avLst/>
          </a:prstGeom>
          <a:solidFill>
            <a:srgbClr val="DE91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>
                <a:solidFill>
                  <a:srgbClr val="0A1F33"/>
                </a:solidFill>
                <a:latin typeface="Calibri"/>
              </a:rPr>
              <a:t>✎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530352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DE911D"/>
                </a:solidFill>
                <a:latin typeface="Calibri"/>
              </a:rPr>
              <a:t>EJERCICIO 3 DE 4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188720"/>
            <a:ext cx="11064240" cy="5029200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554480"/>
            <a:ext cx="1033272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0">
                <a:solidFill>
                  <a:srgbClr val="0A1F33"/>
                </a:solidFill>
                <a:latin typeface="Calibri"/>
              </a:rPr>
              <a:t>Escribe el calendario completo de un todos contra todos de 4 jugadores con la tabla de Berger.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48640" y="502920"/>
            <a:ext cx="502920" cy="502920"/>
          </a:xfrm>
          <a:prstGeom prst="ellipse">
            <a:avLst/>
          </a:prstGeom>
          <a:solidFill>
            <a:srgbClr val="DE91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>
                <a:solidFill>
                  <a:srgbClr val="0A1F33"/>
                </a:solidFill>
                <a:latin typeface="Calibri"/>
              </a:rPr>
              <a:t>✎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530352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DE911D"/>
                </a:solidFill>
                <a:latin typeface="Calibri"/>
              </a:rPr>
              <a:t>EJERCICIO 4 DE 4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188720"/>
            <a:ext cx="11064240" cy="5029200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554480"/>
            <a:ext cx="1033272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0">
                <a:solidFill>
                  <a:srgbClr val="0A1F33"/>
                </a:solidFill>
                <a:latin typeface="Calibri"/>
              </a:rPr>
              <a:t>Un suizo tiene 11 jugadores. ¿Qué pasa en cada ronda con el número impar?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48640" y="502920"/>
            <a:ext cx="502920" cy="502920"/>
          </a:xfrm>
          <a:prstGeom prst="ellipse">
            <a:avLst/>
          </a:prstGeom>
          <a:solidFill>
            <a:srgbClr val="DE91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>
                <a:solidFill>
                  <a:srgbClr val="0A1F33"/>
                </a:solidFill>
                <a:latin typeface="Calibri"/>
              </a:rPr>
              <a:t>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530352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DE911D"/>
                </a:solidFill>
                <a:latin typeface="Calibri"/>
              </a:rPr>
              <a:t>QUIZ DE LA SESIÓN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188720"/>
            <a:ext cx="11064240" cy="5029200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371600"/>
            <a:ext cx="1033272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400">
                <a:solidFill>
                  <a:srgbClr val="334E68"/>
                </a:solidFill>
                <a:latin typeface="Calibri"/>
              </a:rPr>
              <a:t>1. ¿Qué sistema resulta más adecuado cuando hay muchos participantes y tiempo limitado?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334E68"/>
                </a:solidFill>
                <a:latin typeface="Calibri"/>
              </a:rPr>
              <a:t>2. En el sistema todos contra todos (round robin), ¿qué característica lo define?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334E68"/>
                </a:solidFill>
                <a:latin typeface="Calibri"/>
              </a:rPr>
              <a:t>3. ¿Cómo se ordena la lista inicial de un suizo?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334E68"/>
                </a:solidFill>
                <a:latin typeface="Calibri"/>
              </a:rPr>
              <a:t>4. Publicado el emparejamiento, ¿en qué único caso se puede cambiar?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334E68"/>
                </a:solidFill>
                <a:latin typeface="Calibri"/>
              </a:rPr>
              <a:t>5. ¿Qué recibe en un suizo quien queda libre por número impar?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334E68"/>
                </a:solidFill>
                <a:latin typeface="Calibri"/>
              </a:rPr>
              <a:t>6. ¿Cuántas partidas tiene un todos contra todos de 8 jugadores?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731520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F0B429"/>
                </a:solidFill>
                <a:latin typeface="Calibri"/>
              </a:rPr>
              <a:t>TAREA PARA LA PRÓXIMA SESIÓN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1106424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0">
                <a:solidFill>
                  <a:srgbClr val="FFFFFF"/>
                </a:solidFill>
                <a:latin typeface="Cambria"/>
              </a:rPr>
              <a:t>A partir de los resultados de la ronda 1, elaborar el emparejamiento de la ronda 2 bajo sistema suizo.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75488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CADCFC"/>
                </a:solidFill>
                <a:latin typeface="Calibri"/>
              </a:rPr>
              <a:t>¿Dudas? Este es el momento. Gracias por tu participación.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263640"/>
            <a:ext cx="11064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9FB3C8"/>
                </a:solidFill>
                <a:latin typeface="Calibri"/>
              </a:rPr>
              <a:t>Formación Ajedrez · Sesión 4 · ajedrez-integral.com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