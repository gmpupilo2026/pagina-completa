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Los 100 finales que hay que conocer  ·  Bloque 3: Pieza contra peón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12
Torre contra dos peones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30 a 32 · 10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Evaluar la lucha de la torre contra dos peones ligados según la participación de los reyes: posición límite, zugzwang, gancho de cola y serie de jaques.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Los peones parecen más fuertes de lo que son: la torre tiene recursos escondidos si el rey defensor llega a tocar el peón atrasado.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30 · Los reyes no participan</a:t>
            </a:r>
          </a:p>
          <a:p>
            <a:pPr>
              <a:spcAft>
                <a:spcPts val="600"/>
              </a:spcAft>
            </a:pPr>
            <a:r>
              <a:rPr sz="1600">
                <a:solidFill>
                  <a:srgbClr val="1F2937"/>
                </a:solidFill>
                <a:latin typeface="Calibri"/>
              </a:rPr>
              <a:t>•  Final 31 · Los dos reyes participan</a:t>
            </a:r>
          </a:p>
          <a:p>
            <a:pPr>
              <a:spcAft>
                <a:spcPts val="600"/>
              </a:spcAft>
            </a:pPr>
            <a:r>
              <a:rPr sz="1600">
                <a:solidFill>
                  <a:srgbClr val="1F2937"/>
                </a:solidFill>
                <a:latin typeface="Calibri"/>
              </a:rPr>
              <a:t>•  Final 32 · Sólo el rey de los peones participa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30 · Los reyes no participan</a:t>
            </a:r>
          </a:p>
        </p:txBody>
      </p:sp>
      <p:sp>
        <p:nvSpPr>
          <p:cNvPr id="3" name="TextBox 2"/>
          <p:cNvSpPr txBox="1"/>
          <p:nvPr/>
        </p:nvSpPr>
        <p:spPr>
          <a:xfrm>
            <a:off x="640080" y="1280160"/>
            <a:ext cx="10972800" cy="868680"/>
          </a:xfrm>
          <a:prstGeom prst="rect">
            <a:avLst/>
          </a:prstGeom>
          <a:noFill/>
        </p:spPr>
        <p:txBody>
          <a:bodyPr wrap="square" anchor="t">
            <a:spAutoFit/>
          </a:bodyPr>
          <a:lstStyle/>
          <a:p>
            <a:pPr algn="l">
              <a:spcAft>
                <a:spcPts val="400"/>
              </a:spcAft>
            </a:pPr>
            <a:r>
              <a:rPr sz="1800" b="0" i="0">
                <a:solidFill>
                  <a:srgbClr val="1F2937"/>
                </a:solidFill>
                <a:latin typeface="Calibri"/>
              </a:rPr>
              <a:t>Cuando ningún rey interviene, la torre suele capturar dos peones ligados, salvo que estén muy avanzados. La posición límite: dos peones en sexta (o uno en séptima y otro en quinta) ganan a la torre.</a:t>
            </a:r>
          </a:p>
        </p:txBody>
      </p:sp>
      <p:sp>
        <p:nvSpPr>
          <p:cNvPr id="4" name="TextBox 3"/>
          <p:cNvSpPr txBox="1"/>
          <p:nvPr/>
        </p:nvSpPr>
        <p:spPr>
          <a:xfrm>
            <a:off x="640080" y="2286000"/>
            <a:ext cx="10972800" cy="3931920"/>
          </a:xfrm>
          <a:prstGeom prst="rect">
            <a:avLst/>
          </a:prstGeom>
          <a:noFill/>
        </p:spPr>
        <p:txBody>
          <a:bodyPr wrap="square">
            <a:spAutoFit/>
          </a:bodyPr>
          <a:lstStyle/>
          <a:p>
            <a:pPr>
              <a:spcAft>
                <a:spcPts val="600"/>
              </a:spcAft>
            </a:pPr>
            <a:r>
              <a:rPr sz="1600">
                <a:solidFill>
                  <a:srgbClr val="1F2937"/>
                </a:solidFill>
                <a:latin typeface="Calibri"/>
              </a:rPr>
              <a:t>•  Dos peones unidos en sexta ganan a la torre; también uno en séptima y otro en quinta.</a:t>
            </a:r>
          </a:p>
          <a:p>
            <a:pPr>
              <a:spcAft>
                <a:spcPts val="600"/>
              </a:spcAft>
            </a:pPr>
            <a:r>
              <a:rPr sz="1600">
                <a:solidFill>
                  <a:srgbClr val="1F2937"/>
                </a:solidFill>
                <a:latin typeface="Calibri"/>
              </a:rPr>
              <a:t>•  Si están más atrás, la torre se coloca detrás del peón más avanzado, ataca el otro y los captura.</a:t>
            </a:r>
          </a:p>
          <a:p>
            <a:pPr>
              <a:spcAft>
                <a:spcPts val="600"/>
              </a:spcAft>
            </a:pPr>
            <a:r>
              <a:rPr sz="1600">
                <a:solidFill>
                  <a:srgbClr val="1F2937"/>
                </a:solidFill>
                <a:latin typeface="Calibri"/>
              </a:rPr>
              <a:t>•  Con la torre por delante de los peones puede frenarlos pero no capturarlos: entonces decide la carrera de los reyes.</a:t>
            </a:r>
          </a:p>
          <a:p>
            <a:pPr>
              <a:spcAft>
                <a:spcPts val="600"/>
              </a:spcAft>
            </a:pPr>
            <a:r>
              <a:rPr sz="1600">
                <a:solidFill>
                  <a:srgbClr val="1F2937"/>
                </a:solidFill>
                <a:latin typeface="Calibri"/>
              </a:rPr>
              <a:t>•  La mayoría de los jugadores sobrevalora los peones: los recursos de la torre están más escondidos.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30 · Los reyes no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límite: juegan blancas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1.b6 Tb1 2.a7</a:t>
            </a:r>
          </a:p>
        </p:txBody>
      </p:sp>
      <p:sp>
        <p:nvSpPr>
          <p:cNvPr id="7" name="TextBox 6"/>
          <p:cNvSpPr txBox="1"/>
          <p:nvPr/>
        </p:nvSpPr>
        <p:spPr>
          <a:xfrm>
            <a:off x="6309360" y="2702705"/>
            <a:ext cx="5486400" cy="3423774"/>
          </a:xfrm>
          <a:prstGeom prst="rect">
            <a:avLst/>
          </a:prstGeom>
          <a:noFill/>
        </p:spPr>
        <p:txBody>
          <a:bodyPr wrap="square" anchor="t">
            <a:spAutoFit/>
          </a:bodyPr>
          <a:lstStyle/>
          <a:p>
            <a:pPr algn="l">
              <a:spcAft>
                <a:spcPts val="400"/>
              </a:spcAft>
            </a:pPr>
            <a:r>
              <a:rPr sz="1500" b="0" i="0">
                <a:solidFill>
                  <a:srgbClr val="1F2937"/>
                </a:solidFill>
                <a:latin typeface="Calibri"/>
              </a:rPr>
              <a:t>Con los peones en a6 y b5 y el turno, las blancas ganan: uno de los dos corona.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30 · Los reyes no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límite: juegan negras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negras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1...Ta1 2.Rg3 Ta5</a:t>
            </a:r>
          </a:p>
        </p:txBody>
      </p:sp>
      <p:sp>
        <p:nvSpPr>
          <p:cNvPr id="7" name="TextBox 6"/>
          <p:cNvSpPr txBox="1"/>
          <p:nvPr/>
        </p:nvSpPr>
        <p:spPr>
          <a:xfrm>
            <a:off x="6309360" y="2718380"/>
            <a:ext cx="5486400" cy="3408099"/>
          </a:xfrm>
          <a:prstGeom prst="rect">
            <a:avLst/>
          </a:prstGeom>
          <a:noFill/>
        </p:spPr>
        <p:txBody>
          <a:bodyPr wrap="square" anchor="t">
            <a:spAutoFit/>
          </a:bodyPr>
          <a:lstStyle/>
          <a:p>
            <a:pPr algn="l">
              <a:spcAft>
                <a:spcPts val="400"/>
              </a:spcAft>
            </a:pPr>
            <a:r>
              <a:rPr sz="1500" b="0" i="0">
                <a:solidFill>
                  <a:srgbClr val="1F2937"/>
                </a:solidFill>
                <a:latin typeface="Calibri"/>
              </a:rPr>
              <a:t>Plan de la torre: detrás del peón más avanzado y luego atacar el otro. Los dos peones caen.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31 · Los dos reyes participan</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el rey fuerte ayuda a su torre, casi siempre se gana. Si logra ponerse delante de los peones, ni la posición más favorable salva al bando de los peones (salvo coronación inmediata). Con el rey de lado, todo depende de detalles de ahogado.</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Rey fuerte delante de los peones: los peones caen, salvo que uno corone de inmediato.</a:t>
            </a:r>
          </a:p>
          <a:p>
            <a:pPr>
              <a:spcAft>
                <a:spcPts val="600"/>
              </a:spcAft>
            </a:pPr>
            <a:r>
              <a:rPr sz="1600">
                <a:solidFill>
                  <a:srgbClr val="1F2937"/>
                </a:solidFill>
                <a:latin typeface="Calibri"/>
              </a:rPr>
              <a:t>•  Rey fuerte de lado de las casillas de coronación: hay que calcular; algunas posiciones son tablas por ahogado.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frente a los peones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negras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1.Rc4 Ta1 2.Rc5 Td1 3.Rc6 Te1 4.Rc7 Tc1+ 5.Rb6 Rd8</a:t>
            </a:r>
          </a:p>
        </p:txBody>
      </p:sp>
      <p:sp>
        <p:nvSpPr>
          <p:cNvPr id="7" name="TextBox 6"/>
          <p:cNvSpPr txBox="1"/>
          <p:nvPr/>
        </p:nvSpPr>
        <p:spPr>
          <a:xfrm>
            <a:off x="6309360" y="2847702"/>
            <a:ext cx="5486400" cy="3278777"/>
          </a:xfrm>
          <a:prstGeom prst="rect">
            <a:avLst/>
          </a:prstGeom>
          <a:noFill/>
        </p:spPr>
        <p:txBody>
          <a:bodyPr wrap="square" anchor="t">
            <a:spAutoFit/>
          </a:bodyPr>
          <a:lstStyle/>
          <a:p>
            <a:pPr algn="l">
              <a:spcAft>
                <a:spcPts val="400"/>
              </a:spcAft>
            </a:pPr>
            <a:r>
              <a:rPr sz="1500" b="0" i="0">
                <a:solidFill>
                  <a:srgbClr val="1F2937"/>
                </a:solidFill>
                <a:latin typeface="Calibri"/>
              </a:rPr>
              <a:t>Aunque mueven las blancas, los peones están perdidos: la torre los ataca por detrás mientras el rey negro los bloquea.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de lado: blancas ganan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1.Tf1 Rb3 2.Rd3 Rb4 3.Td1 Rc5 4.Rxc3 Rd5 5.Txd2+</a:t>
            </a:r>
          </a:p>
        </p:txBody>
      </p:sp>
      <p:sp>
        <p:nvSpPr>
          <p:cNvPr id="7" name="TextBox 6"/>
          <p:cNvSpPr txBox="1"/>
          <p:nvPr/>
        </p:nvSpPr>
        <p:spPr>
          <a:xfrm>
            <a:off x="6309360" y="2839865"/>
            <a:ext cx="5486400" cy="3286614"/>
          </a:xfrm>
          <a:prstGeom prst="rect">
            <a:avLst/>
          </a:prstGeom>
          <a:noFill/>
        </p:spPr>
        <p:txBody>
          <a:bodyPr wrap="square" anchor="t">
            <a:spAutoFit/>
          </a:bodyPr>
          <a:lstStyle/>
          <a:p>
            <a:pPr algn="l">
              <a:spcAft>
                <a:spcPts val="400"/>
              </a:spcAft>
            </a:pPr>
            <a:r>
              <a:rPr sz="1500" b="0" i="0">
                <a:solidFill>
                  <a:srgbClr val="1F2937"/>
                </a:solidFill>
                <a:latin typeface="Calibri"/>
              </a:rPr>
              <a:t>Con los peones en c y d los reyes se empujan y las blancas ganan.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de lado: tablas por ahogado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1.Tf1 Ra3 2.Ta1+ Rb2 3.Th1 Ra2 4.Rc1 Ra1</a:t>
            </a:r>
          </a:p>
        </p:txBody>
      </p:sp>
      <p:sp>
        <p:nvSpPr>
          <p:cNvPr id="7" name="TextBox 6"/>
          <p:cNvSpPr txBox="1"/>
          <p:nvPr/>
        </p:nvSpPr>
        <p:spPr>
          <a:xfrm>
            <a:off x="6309360" y="2808514"/>
            <a:ext cx="5486400" cy="3317965"/>
          </a:xfrm>
          <a:prstGeom prst="rect">
            <a:avLst/>
          </a:prstGeom>
          <a:noFill/>
        </p:spPr>
        <p:txBody>
          <a:bodyPr wrap="square" anchor="t">
            <a:spAutoFit/>
          </a:bodyPr>
          <a:lstStyle/>
          <a:p>
            <a:pPr algn="l">
              <a:spcAft>
                <a:spcPts val="400"/>
              </a:spcAft>
            </a:pPr>
            <a:r>
              <a:rPr sz="1500" b="0" i="0">
                <a:solidFill>
                  <a:srgbClr val="1F2937"/>
                </a:solidFill>
                <a:latin typeface="Calibri"/>
              </a:rPr>
              <a:t>Una columna más a la izquierda ya no se gana: el rey negro se refugia en el rincón y aparece el ahogado.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1-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31 · Los dos reyes participan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de lado: comprobalo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1.Te1 b1=D+ 2.Txb1</a:t>
            </a:r>
          </a:p>
        </p:txBody>
      </p:sp>
      <p:sp>
        <p:nvSpPr>
          <p:cNvPr id="7" name="TextBox 6"/>
          <p:cNvSpPr txBox="1"/>
          <p:nvPr/>
        </p:nvSpPr>
        <p:spPr>
          <a:xfrm>
            <a:off x="6309360" y="2722299"/>
            <a:ext cx="5486400" cy="3404180"/>
          </a:xfrm>
          <a:prstGeom prst="rect">
            <a:avLst/>
          </a:prstGeom>
          <a:noFill/>
        </p:spPr>
        <p:txBody>
          <a:bodyPr wrap="square" anchor="t">
            <a:spAutoFit/>
          </a:bodyPr>
          <a:lstStyle/>
          <a:p>
            <a:pPr algn="l">
              <a:spcAft>
                <a:spcPts val="400"/>
              </a:spcAft>
            </a:pPr>
            <a:r>
              <a:rPr sz="1500" b="0" i="0">
                <a:solidFill>
                  <a:srgbClr val="1F2937"/>
                </a:solidFill>
                <a:latin typeface="Calibri"/>
              </a:rPr>
              <a:t>Ejercicio: verificá que también es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32 · Sólo el rey de los peones participa</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Cuando el rey apoya sus peones y el rey rival está lejos, los peones pueden ganar, pero la torre tiene muchos más recursos de lo que parece: zugzwang, el "cambio de líder", el gancho de cola y la serie de jaques.</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Con el rey defensor cerca de los peones, la torre recurre al zugzwang: jugadas de espera que obligan a los peones a avanzar hacia su pérdida.</a:t>
            </a:r>
          </a:p>
          <a:p>
            <a:pPr>
              <a:spcAft>
                <a:spcPts val="600"/>
              </a:spcAft>
            </a:pPr>
            <a:r>
              <a:rPr sz="1600">
                <a:solidFill>
                  <a:srgbClr val="1F2937"/>
                </a:solidFill>
                <a:latin typeface="Calibri"/>
              </a:rPr>
              <a:t>•  Gancho de cola: la torre controla la coronación del peón avanzado y el rey defensor contacta con el peón atrasado: tablas.</a:t>
            </a:r>
          </a:p>
          <a:p>
            <a:pPr>
              <a:spcAft>
                <a:spcPts val="600"/>
              </a:spcAft>
            </a:pPr>
            <a:r>
              <a:rPr sz="1600">
                <a:solidFill>
                  <a:srgbClr val="1F2937"/>
                </a:solidFill>
                <a:latin typeface="Calibri"/>
              </a:rPr>
              <a:t>•  Recurso del bando de los peones: el "cambio de líder", el rey apoya el avance del otro peón.</a:t>
            </a:r>
          </a:p>
          <a:p>
            <a:pPr>
              <a:spcAft>
                <a:spcPts val="600"/>
              </a:spcAft>
            </a:pPr>
            <a:r>
              <a:rPr sz="1600">
                <a:solidFill>
                  <a:srgbClr val="1F2937"/>
                </a:solidFill>
                <a:latin typeface="Calibri"/>
              </a:rPr>
              <a:t>•  Serie de jaques: antes de acercar el rey, los jaques de torre desalojan al rey rival y despejan el camino hacia el peón atrasado.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Zugzwang tras zugzwang</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1.Tg1 Rc3 2.Re3 Rc4 3.Tc1+ Rd5 4.Rxd3</a:t>
            </a:r>
          </a:p>
        </p:txBody>
      </p:sp>
      <p:sp>
        <p:nvSpPr>
          <p:cNvPr id="7" name="TextBox 6"/>
          <p:cNvSpPr txBox="1"/>
          <p:nvPr/>
        </p:nvSpPr>
        <p:spPr>
          <a:xfrm>
            <a:off x="6309360" y="2796757"/>
            <a:ext cx="5486400" cy="3329722"/>
          </a:xfrm>
          <a:prstGeom prst="rect">
            <a:avLst/>
          </a:prstGeom>
          <a:noFill/>
        </p:spPr>
        <p:txBody>
          <a:bodyPr wrap="square" anchor="t">
            <a:spAutoFit/>
          </a:bodyPr>
          <a:lstStyle/>
          <a:p>
            <a:pPr algn="l">
              <a:spcAft>
                <a:spcPts val="400"/>
              </a:spcAft>
            </a:pPr>
            <a:r>
              <a:rPr sz="1500" b="0" i="0">
                <a:solidFill>
                  <a:srgbClr val="1F2937"/>
                </a:solidFill>
                <a:latin typeface="Calibri"/>
              </a:rPr>
              <a:t>Una jugada de espera con la torre deja al rey negro sin jugadas útiles; el rey blanco captura el peón de d3 y luego el otro.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Kopaev 1958: el gancho de cola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1...Tf3 2.Re6 Tg3 3.Rf7 Rd4 4.f6 Re5 5.g7 Tg1 6.g8=D Txg8 7.Rxg8 Rxf6</a:t>
            </a:r>
          </a:p>
        </p:txBody>
      </p:sp>
      <p:sp>
        <p:nvSpPr>
          <p:cNvPr id="7" name="TextBox 6"/>
          <p:cNvSpPr txBox="1"/>
          <p:nvPr/>
        </p:nvSpPr>
        <p:spPr>
          <a:xfrm>
            <a:off x="6309360" y="2922161"/>
            <a:ext cx="5486400" cy="3204318"/>
          </a:xfrm>
          <a:prstGeom prst="rect">
            <a:avLst/>
          </a:prstGeom>
          <a:noFill/>
        </p:spPr>
        <p:txBody>
          <a:bodyPr wrap="square" anchor="t">
            <a:spAutoFit/>
          </a:bodyPr>
          <a:lstStyle/>
          <a:p>
            <a:pPr algn="l">
              <a:spcAft>
                <a:spcPts val="400"/>
              </a:spcAft>
            </a:pPr>
            <a:r>
              <a:rPr sz="1500" b="0" i="0">
                <a:solidFill>
                  <a:srgbClr val="1F2937"/>
                </a:solidFill>
                <a:latin typeface="Calibri"/>
              </a:rPr>
              <a:t>El conteo simple favorece a los peones, pero la torre tiene recursos: ataca el peón de f5 de lado y, cuando el rey blanco apoya un peón, vuelve a la columna g. Al final la torre vigila la coronación y el rey negro toca el peón atrasado: el gancho de cola.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Lariño - Picazo, La Roda 2006: la serie de jaques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1...g3 2.Re7 h4 3.Re6 Rg4</a:t>
            </a:r>
          </a:p>
        </p:txBody>
      </p:sp>
      <p:sp>
        <p:nvSpPr>
          <p:cNvPr id="7" name="TextBox 6"/>
          <p:cNvSpPr txBox="1"/>
          <p:nvPr/>
        </p:nvSpPr>
        <p:spPr>
          <a:xfrm>
            <a:off x="6309360" y="2749731"/>
            <a:ext cx="5486400" cy="3376748"/>
          </a:xfrm>
          <a:prstGeom prst="rect">
            <a:avLst/>
          </a:prstGeom>
          <a:noFill/>
        </p:spPr>
        <p:txBody>
          <a:bodyPr wrap="square" anchor="t">
            <a:spAutoFit/>
          </a:bodyPr>
          <a:lstStyle/>
          <a:p>
            <a:pPr algn="l">
              <a:spcAft>
                <a:spcPts val="400"/>
              </a:spcAft>
            </a:pPr>
            <a:r>
              <a:rPr sz="1500" b="0" i="0">
                <a:solidFill>
                  <a:srgbClr val="1F2937"/>
                </a:solidFill>
                <a:latin typeface="Calibri"/>
              </a:rPr>
              <a:t>El rey blanco está lejísimos y aun así hay tablas si se conoce el método: jaques de torre para desalojar al rey y después contactar con el peón atrasado.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3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32 · Sólo el rey de los peones participa</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Diagrama de análisis: el momento crítico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1.Tg7+ Rf3 2.Tf7+ Rg2 3.Rf5 h3 4.Rg4 h2 5.Th7 Rf2 6.Rf4</a:t>
            </a:r>
          </a:p>
        </p:txBody>
      </p:sp>
      <p:sp>
        <p:nvSpPr>
          <p:cNvPr id="7" name="TextBox 6"/>
          <p:cNvSpPr txBox="1"/>
          <p:nvPr/>
        </p:nvSpPr>
        <p:spPr>
          <a:xfrm>
            <a:off x="6309360" y="2867297"/>
            <a:ext cx="5486400" cy="3259182"/>
          </a:xfrm>
          <a:prstGeom prst="rect">
            <a:avLst/>
          </a:prstGeom>
          <a:noFill/>
        </p:spPr>
        <p:txBody>
          <a:bodyPr wrap="square" anchor="t">
            <a:spAutoFit/>
          </a:bodyPr>
          <a:lstStyle/>
          <a:p>
            <a:pPr algn="l">
              <a:spcAft>
                <a:spcPts val="400"/>
              </a:spcAft>
            </a:pPr>
            <a:r>
              <a:rPr sz="1500" b="0" i="0">
                <a:solidFill>
                  <a:srgbClr val="1F2937"/>
                </a:solidFill>
                <a:latin typeface="Calibri"/>
              </a:rPr>
              <a:t>En la partida siguió 1.Re5? y las blancas perdieron. Era el momento de la serie de jaques: 1.Tg7+! y el rey llega a g4, en contacto con el peón atrasado.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Reproducí la serie de jaques del Final 32 desde la posición crítica hasta las tablas.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Recorré cada línea principal hasta entender el porqué de cada jugada.</a:t>
            </a:r>
          </a:p>
          <a:p>
            <a:pPr>
              <a:spcAft>
                <a:spcPts val="600"/>
              </a:spcAft>
            </a:pPr>
            <a:r>
              <a:rPr sz="1600">
                <a:solidFill>
                  <a:srgbClr val="1F2937"/>
                </a:solidFill>
                <a:latin typeface="Calibri"/>
              </a:rPr>
              <a:t>•  Practicá primero las posiciones clave, después las demás.</a:t>
            </a:r>
          </a:p>
          <a:p>
            <a:pPr>
              <a:spcAft>
                <a:spcPts val="600"/>
              </a:spcAft>
            </a:pPr>
            <a:r>
              <a:rPr sz="1600">
                <a:solidFill>
                  <a:srgbClr val="1F2937"/>
                </a:solidFill>
                <a:latin typeface="Calibri"/>
              </a:rPr>
              <a:t>•  Anotá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Los 100 finales que hay que conocer · Lección 12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