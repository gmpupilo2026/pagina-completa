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4: Piezas menores con peones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16
Alfiles de distinto color (II): peones separados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47 a 51 · 7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Decidir con peones separados según su distancia y sus columnas: caballo y central, central y torre, alfil y caballo, y la regla de las tres columnas.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Dos peones separados ganan cuando el rey no puede atender los dos y el alfil no llega a controlar ambos.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47 · Peones de caballo y central</a:t>
            </a:r>
          </a:p>
          <a:p>
            <a:pPr>
              <a:spcAft>
                <a:spcPts val="600"/>
              </a:spcAft>
            </a:pPr>
            <a:r>
              <a:rPr sz="1600">
                <a:solidFill>
                  <a:srgbClr val="1F2937"/>
                </a:solidFill>
                <a:latin typeface="Calibri"/>
              </a:rPr>
              <a:t>•  Final 48 · Peones central y de torre</a:t>
            </a:r>
          </a:p>
          <a:p>
            <a:pPr>
              <a:spcAft>
                <a:spcPts val="600"/>
              </a:spcAft>
            </a:pPr>
            <a:r>
              <a:rPr sz="1600">
                <a:solidFill>
                  <a:srgbClr val="1F2937"/>
                </a:solidFill>
                <a:latin typeface="Calibri"/>
              </a:rPr>
              <a:t>•  Final 49 · Peones de alfil y caballo</a:t>
            </a:r>
          </a:p>
          <a:p>
            <a:pPr>
              <a:spcAft>
                <a:spcPts val="600"/>
              </a:spcAft>
            </a:pPr>
            <a:r>
              <a:rPr sz="1600">
                <a:solidFill>
                  <a:srgbClr val="1F2937"/>
                </a:solidFill>
                <a:latin typeface="Calibri"/>
              </a:rPr>
              <a:t>•  Final 50 · El alfil fuerte controla la casilla de coronación del peón de caballo</a:t>
            </a:r>
          </a:p>
          <a:p>
            <a:pPr>
              <a:spcAft>
                <a:spcPts val="600"/>
              </a:spcAft>
            </a:pPr>
            <a:r>
              <a:rPr sz="1600">
                <a:solidFill>
                  <a:srgbClr val="1F2937"/>
                </a:solidFill>
                <a:latin typeface="Calibri"/>
              </a:rPr>
              <a:t>•  Final 51 · Peones central y de torre a tres columnas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47 · Peones de caballo y central</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dos columnas de separación no siempre se gana: si uno de los peones es de caballo, la banda dificulta el apoyo del rey. Con el alfil defensor controlando la casilla de coronación del peón de caballo y el rey vigilando el central, es tablas.</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Peones separados por dos columnas con uno de caballo: tablas si el alfil defensor controla la casilla de coronación del peón de caballo y el rey vigila el central.</a:t>
            </a:r>
          </a:p>
          <a:p>
            <a:pPr>
              <a:spcAft>
                <a:spcPts val="600"/>
              </a:spcAft>
            </a:pPr>
            <a:r>
              <a:rPr sz="1600">
                <a:solidFill>
                  <a:srgbClr val="1F2937"/>
                </a:solidFill>
                <a:latin typeface="Calibri"/>
              </a:rPr>
              <a:t>•  Momentos críticos del defensor: atacar el peón para impedir que el rey rival se instale en el rincón y apoye el avance.</a:t>
            </a:r>
          </a:p>
          <a:p>
            <a:pPr>
              <a:spcAft>
                <a:spcPts val="600"/>
              </a:spcAft>
            </a:pPr>
            <a:r>
              <a:rPr sz="1600">
                <a:solidFill>
                  <a:srgbClr val="1F2937"/>
                </a:solidFill>
                <a:latin typeface="Calibri"/>
              </a:rPr>
              <a:t>•  Cuando el alfil atacante controla la casilla de coronación hay más posibilidades de ganar, con maniobras largas de zugzwang.</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47 · Peones de caballo y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Berger - Kotlerman, Arkangelsk 1948</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1.Re2 b3 2.Rd1 Rb4 3.Ah7 Ra3 4.Ag6 Rb2 5.Af7 Ra2 6.Ae6 Ra3 7.Af5 b2 8.Ab1</a:t>
            </a:r>
          </a:p>
        </p:txBody>
      </p:sp>
      <p:sp>
        <p:nvSpPr>
          <p:cNvPr id="7" name="TextBox 6"/>
          <p:cNvSpPr txBox="1"/>
          <p:nvPr/>
        </p:nvSpPr>
        <p:spPr>
          <a:xfrm>
            <a:off x="6309360" y="2937836"/>
            <a:ext cx="5486400" cy="3188643"/>
          </a:xfrm>
          <a:prstGeom prst="rect">
            <a:avLst/>
          </a:prstGeom>
          <a:noFill/>
        </p:spPr>
        <p:txBody>
          <a:bodyPr wrap="square" anchor="t">
            <a:spAutoFit/>
          </a:bodyPr>
          <a:lstStyle/>
          <a:p>
            <a:pPr algn="l">
              <a:spcAft>
                <a:spcPts val="400"/>
              </a:spcAft>
            </a:pPr>
            <a:r>
              <a:rPr sz="1500" b="0" i="0">
                <a:solidFill>
                  <a:srgbClr val="1F2937"/>
                </a:solidFill>
                <a:latin typeface="Calibri"/>
              </a:rPr>
              <a:t>1.Re2! impide que el rey apoye al peón central; 2.Rd1! controla e1. El alfil espera y ataca el peón en los momentos justos (5.Af7!, 7.Af5!) para que el rey negro nunca llegue a a1 con el peón listo.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7-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47 · Peones de caballo y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1957: el alfil atacante controla la coronación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1...Af1 2.Ac5 Ac4 3.Ae3 Ad5 4.b5 Ac4 5.b6 Ad5 6.Ad2 Rc6 7.Aa5 Rd7 8.e6+</a:t>
            </a:r>
          </a:p>
        </p:txBody>
      </p:sp>
      <p:sp>
        <p:nvSpPr>
          <p:cNvPr id="7" name="TextBox 6"/>
          <p:cNvSpPr txBox="1"/>
          <p:nvPr/>
        </p:nvSpPr>
        <p:spPr>
          <a:xfrm>
            <a:off x="6309360" y="2929998"/>
            <a:ext cx="5486400" cy="3196481"/>
          </a:xfrm>
          <a:prstGeom prst="rect">
            <a:avLst/>
          </a:prstGeom>
          <a:noFill/>
        </p:spPr>
        <p:txBody>
          <a:bodyPr wrap="square" anchor="t">
            <a:spAutoFit/>
          </a:bodyPr>
          <a:lstStyle/>
          <a:p>
            <a:pPr algn="l">
              <a:spcAft>
                <a:spcPts val="400"/>
              </a:spcAft>
            </a:pPr>
            <a:r>
              <a:rPr sz="1500" b="0" i="0">
                <a:solidFill>
                  <a:srgbClr val="1F2937"/>
                </a:solidFill>
                <a:latin typeface="Calibri"/>
              </a:rPr>
              <a:t>2.Ac5! saca el alfil de d6 antes de avanzar el peón b; 3.Ae3 es zugzwang. La maniobra decisiva es llevar el alfil a a5.</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48 · Peones central y de torre</a:t>
            </a:r>
          </a:p>
        </p:txBody>
      </p:sp>
      <p:sp>
        <p:nvSpPr>
          <p:cNvPr id="3" name="TextBox 2"/>
          <p:cNvSpPr txBox="1"/>
          <p:nvPr/>
        </p:nvSpPr>
        <p:spPr>
          <a:xfrm>
            <a:off x="640080" y="1280160"/>
            <a:ext cx="10972800" cy="868680"/>
          </a:xfrm>
          <a:prstGeom prst="rect">
            <a:avLst/>
          </a:prstGeom>
          <a:noFill/>
        </p:spPr>
        <p:txBody>
          <a:bodyPr wrap="square" anchor="t">
            <a:spAutoFit/>
          </a:bodyPr>
          <a:lstStyle/>
          <a:p>
            <a:pPr algn="l">
              <a:spcAft>
                <a:spcPts val="400"/>
              </a:spcAft>
            </a:pPr>
            <a:r>
              <a:rPr sz="1800" b="0" i="0">
                <a:solidFill>
                  <a:srgbClr val="1F2937"/>
                </a:solidFill>
                <a:latin typeface="Calibri"/>
              </a:rPr>
              <a:t>Con peones central y de torre separados por dos columnas, el frente a defender es estrecho: el rey atacante no tiene por dónde pasar y con un poco de atención las tablas se mantienen.</a:t>
            </a:r>
          </a:p>
        </p:txBody>
      </p:sp>
      <p:sp>
        <p:nvSpPr>
          <p:cNvPr id="4" name="TextBox 3"/>
          <p:cNvSpPr txBox="1"/>
          <p:nvPr/>
        </p:nvSpPr>
        <p:spPr>
          <a:xfrm>
            <a:off x="640080" y="2286000"/>
            <a:ext cx="10972800" cy="3931920"/>
          </a:xfrm>
          <a:prstGeom prst="rect">
            <a:avLst/>
          </a:prstGeom>
          <a:noFill/>
        </p:spPr>
        <p:txBody>
          <a:bodyPr wrap="square">
            <a:spAutoFit/>
          </a:bodyPr>
          <a:lstStyle/>
          <a:p>
            <a:pPr>
              <a:spcAft>
                <a:spcPts val="600"/>
              </a:spcAft>
            </a:pPr>
            <a:r>
              <a:rPr sz="1600">
                <a:solidFill>
                  <a:srgbClr val="1F2937"/>
                </a:solidFill>
                <a:latin typeface="Calibri"/>
              </a:rPr>
              <a:t>•  Pareja a-d (o h-e): no se gana desde una posición normal de las piezas defensoras.</a:t>
            </a:r>
          </a:p>
          <a:p>
            <a:pPr>
              <a:spcAft>
                <a:spcPts val="600"/>
              </a:spcAft>
            </a:pPr>
            <a:r>
              <a:rPr sz="1600">
                <a:solidFill>
                  <a:srgbClr val="1F2937"/>
                </a:solidFill>
                <a:latin typeface="Calibri"/>
              </a:rPr>
              <a:t>•  Mejor no dejar que el rey rival llegue a e8, aunque incluso así la defensa aguanta.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48 · Peones central y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no tiene camino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1.Rf5 Re7 2.Re5 Ab8+ 3.Rd4 Aa7+ 4.Rc4 Rd6</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El objetivo blanco sería b7, pero no pasa por la izquierda, el centro es demasiado estrecho y el rey negro cierra la derecha.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49 · Peones de alfil y caballo</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tres columnas de separación, uno de los peones es de caballo o de torre. Si es de torre (no el malo), se gana siempre; si es de caballo, hay posiciones de bloqueo inexpugnable, sobre todo con el peón de caballo en séptima.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Reparto de papeles del defensor: el rey para el peón central o de alfil, el alfil para el peón de la banda.</a:t>
            </a:r>
          </a:p>
          <a:p>
            <a:pPr>
              <a:spcAft>
                <a:spcPts val="600"/>
              </a:spcAft>
            </a:pPr>
            <a:r>
              <a:rPr sz="1600">
                <a:solidFill>
                  <a:srgbClr val="1F2937"/>
                </a:solidFill>
                <a:latin typeface="Calibri"/>
              </a:rPr>
              <a:t>•  Maniobra de rodeo por la banda: el rey atacante recorre toda la banda del tablero (g4-h5-h6-h7-g8-f8-e8-d7-c8) apoyado en varios zugzwangs. Hay que tenerla siempre en cuenta.</a:t>
            </a:r>
          </a:p>
          <a:p>
            <a:pPr>
              <a:spcAft>
                <a:spcPts val="600"/>
              </a:spcAft>
            </a:pPr>
            <a:r>
              <a:rPr sz="1600">
                <a:solidFill>
                  <a:srgbClr val="1F2937"/>
                </a:solidFill>
                <a:latin typeface="Calibri"/>
              </a:rPr>
              <a:t>•  Peón de caballo en séptima: nefasto para el atacante, porque estorba el paso de su propio rey.</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49 · Peones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Speelman 1981: bloqueo inexpugnable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1.Rf3 Rg5 2.Re4 Rf6 3.Rd5 Ag3 4.Rc6 Re7 5.Rb6 Ab8</a:t>
            </a:r>
          </a:p>
        </p:txBody>
      </p:sp>
      <p:sp>
        <p:nvSpPr>
          <p:cNvPr id="7" name="TextBox 6"/>
          <p:cNvSpPr txBox="1"/>
          <p:nvPr/>
        </p:nvSpPr>
        <p:spPr>
          <a:xfrm>
            <a:off x="6309360" y="2843784"/>
            <a:ext cx="5486400" cy="3282696"/>
          </a:xfrm>
          <a:prstGeom prst="rect">
            <a:avLst/>
          </a:prstGeom>
          <a:noFill/>
        </p:spPr>
        <p:txBody>
          <a:bodyPr wrap="square" anchor="t">
            <a:spAutoFit/>
          </a:bodyPr>
          <a:lstStyle/>
          <a:p>
            <a:pPr algn="l">
              <a:spcAft>
                <a:spcPts val="400"/>
              </a:spcAft>
            </a:pPr>
            <a:r>
              <a:rPr sz="1500" b="0" i="0">
                <a:solidFill>
                  <a:srgbClr val="1F2937"/>
                </a:solidFill>
                <a:latin typeface="Calibri"/>
              </a:rPr>
              <a:t>1...Rg5! impide el rodeo por la banda. 1...Ac7? perdería tras 2.Rg4 y el paseo del rey blanco por h5-h6-h7-g8-f8-e8-d7-c8 con dos zugzwangs por el camino.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50 · El alfil fuerte controla la casilla de coronación del peón de caballo</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el alfil defensor controla la casilla de séptima del peón de caballo, la mayoría de posiciones se ganan, pero con el peón de caballo ya en sexta existe un bloqueo perfecto. Con el peón de caballo más atrás, el rey fuerte combina el paso por el centro con el rodeo por la banda y gana.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Peón de caballo en sexta y alfil defensor en la diagonal larga: bloqueo perfecto; el rey defensor sólo debe impedir el rodeo por la banda.</a:t>
            </a:r>
          </a:p>
          <a:p>
            <a:pPr>
              <a:spcAft>
                <a:spcPts val="600"/>
              </a:spcAft>
            </a:pPr>
            <a:r>
              <a:rPr sz="1600">
                <a:solidFill>
                  <a:srgbClr val="1F2937"/>
                </a:solidFill>
                <a:latin typeface="Calibri"/>
              </a:rPr>
              <a:t>•  Con el peón de caballo más atrás, el rey fuerte amenaza entrar por el centro (d4) y por la banda; combinando ambas amenazas rompe la resistencia.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50 · El alfil fuerte controla la casilla de coronación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bloqueo milagroso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1...Ab7 2.Rg3 Rf5 3.Rh4 Rg6 4.Rg4 Ac8+ 5.Rf3 Ab7+ 6.Re3 Rf5 7.Rd4 Re6 8.Ae5 Rf5 9.Rc5 Re6</a:t>
            </a:r>
          </a:p>
        </p:txBody>
      </p:sp>
      <p:sp>
        <p:nvSpPr>
          <p:cNvPr id="7" name="TextBox 6"/>
          <p:cNvSpPr txBox="1"/>
          <p:nvPr/>
        </p:nvSpPr>
        <p:spPr>
          <a:xfrm>
            <a:off x="6309360" y="3000538"/>
            <a:ext cx="5486400" cy="3125941"/>
          </a:xfrm>
          <a:prstGeom prst="rect">
            <a:avLst/>
          </a:prstGeom>
          <a:noFill/>
        </p:spPr>
        <p:txBody>
          <a:bodyPr wrap="square" anchor="t">
            <a:spAutoFit/>
          </a:bodyPr>
          <a:lstStyle/>
          <a:p>
            <a:pPr algn="l">
              <a:spcAft>
                <a:spcPts val="400"/>
              </a:spcAft>
            </a:pPr>
            <a:r>
              <a:rPr sz="1500" b="0" i="0">
                <a:solidFill>
                  <a:srgbClr val="1F2937"/>
                </a:solidFill>
                <a:latin typeface="Calibri"/>
              </a:rPr>
              <a:t>3...Rg6! impide el rodeo por la banda; después el rey negro también cierra el centro. En la partida Miller - Saidy el bando sin peones abandonó una posición de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50 · El alfil fuerte controla la casilla de coronación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Speelman 1981: peón de caballo más atrás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1.Ae7 Ad7 2.Ad8 Rc4 3.Aa5 Rd5 4.Rf3 Ac8 5.Rg3 Re4 6.Ac7 Rf5 7.Rf3 Ab7+ 8.Re3 Ac6 9.Rd4</a:t>
            </a:r>
          </a:p>
        </p:txBody>
      </p:sp>
      <p:sp>
        <p:nvSpPr>
          <p:cNvPr id="7" name="TextBox 6"/>
          <p:cNvSpPr txBox="1"/>
          <p:nvPr/>
        </p:nvSpPr>
        <p:spPr>
          <a:xfrm>
            <a:off x="6309360" y="2988781"/>
            <a:ext cx="5486400" cy="3137698"/>
          </a:xfrm>
          <a:prstGeom prst="rect">
            <a:avLst/>
          </a:prstGeom>
          <a:noFill/>
        </p:spPr>
        <p:txBody>
          <a:bodyPr wrap="square" anchor="t">
            <a:spAutoFit/>
          </a:bodyPr>
          <a:lstStyle/>
          <a:p>
            <a:pPr algn="l">
              <a:spcAft>
                <a:spcPts val="400"/>
              </a:spcAft>
            </a:pPr>
            <a:r>
              <a:rPr sz="1500" b="0" i="0">
                <a:solidFill>
                  <a:srgbClr val="1F2937"/>
                </a:solidFill>
                <a:latin typeface="Calibri"/>
              </a:rPr>
              <a:t>Primero mejora el alfil (Ae7-d8-a5) para que el rey negro no gane tiempos; luego el rey amenaza el rodeo por h4-h5 y, cuando el rey negro lo impide, cambia de dirección y entra por d4.</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51 · Peones central y de torre a tres columnas</a:t>
            </a:r>
          </a:p>
        </p:txBody>
      </p:sp>
      <p:sp>
        <p:nvSpPr>
          <p:cNvPr id="3" name="TextBox 2"/>
          <p:cNvSpPr txBox="1"/>
          <p:nvPr/>
        </p:nvSpPr>
        <p:spPr>
          <a:xfrm>
            <a:off x="640080" y="1280160"/>
            <a:ext cx="10972800" cy="868680"/>
          </a:xfrm>
          <a:prstGeom prst="rect">
            <a:avLst/>
          </a:prstGeom>
          <a:noFill/>
        </p:spPr>
        <p:txBody>
          <a:bodyPr wrap="square" anchor="t">
            <a:spAutoFit/>
          </a:bodyPr>
          <a:lstStyle/>
          <a:p>
            <a:pPr algn="l">
              <a:spcAft>
                <a:spcPts val="400"/>
              </a:spcAft>
            </a:pPr>
            <a:r>
              <a:rPr sz="1800" b="0" i="0">
                <a:solidFill>
                  <a:srgbClr val="1F2937"/>
                </a:solidFill>
                <a:latin typeface="Calibri"/>
              </a:rPr>
              <a:t>Con peón de torre y central separados por tres columnas el rey fuerte tiene mucho espacio por la banda: el rodeo, con sus barreras y zugzwangs, siempre llega. Se gana siempre.</a:t>
            </a:r>
          </a:p>
        </p:txBody>
      </p:sp>
      <p:sp>
        <p:nvSpPr>
          <p:cNvPr id="4" name="TextBox 3"/>
          <p:cNvSpPr txBox="1"/>
          <p:nvPr/>
        </p:nvSpPr>
        <p:spPr>
          <a:xfrm>
            <a:off x="640080" y="2286000"/>
            <a:ext cx="10972800" cy="3931920"/>
          </a:xfrm>
          <a:prstGeom prst="rect">
            <a:avLst/>
          </a:prstGeom>
          <a:noFill/>
        </p:spPr>
        <p:txBody>
          <a:bodyPr wrap="square">
            <a:spAutoFit/>
          </a:bodyPr>
          <a:lstStyle/>
          <a:p>
            <a:pPr>
              <a:spcAft>
                <a:spcPts val="600"/>
              </a:spcAft>
            </a:pPr>
            <a:r>
              <a:rPr sz="1600">
                <a:solidFill>
                  <a:srgbClr val="1F2937"/>
                </a:solidFill>
                <a:latin typeface="Calibri"/>
              </a:rPr>
              <a:t>•  Pareja de peones de torre y central a tres columnas: se gana siempre mediante el rodeo por la banda.</a:t>
            </a:r>
          </a:p>
          <a:p>
            <a:pPr>
              <a:spcAft>
                <a:spcPts val="600"/>
              </a:spcAft>
            </a:pPr>
            <a:r>
              <a:rPr sz="1600">
                <a:solidFill>
                  <a:srgbClr val="1F2937"/>
                </a:solidFill>
                <a:latin typeface="Calibri"/>
              </a:rPr>
              <a:t>•  Cada barrera del defensor se rompe con un zugzwang (jugada de espera o triangulación del alfil).</a:t>
            </a:r>
          </a:p>
          <a:p>
            <a:pPr>
              <a:spcAft>
                <a:spcPts val="600"/>
              </a:spcAft>
            </a:pPr>
            <a:r>
              <a:rPr sz="1600">
                <a:solidFill>
                  <a:srgbClr val="1F2937"/>
                </a:solidFill>
                <a:latin typeface="Calibri"/>
              </a:rPr>
              <a:t>•  Reglas generales: el rey defensor detiene el peón central y el alfil el lateral; el rey fuerte entra por la derecha, el centro o la izquierda, a menudo combinando intentos.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51 · Peones central y de torre a tres columnas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el rodeo completo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1.Rd3 Rf4 2.Re2 Ab6 3.Rf1 Aa7 4.Rg2 Ab6 5.Rh3 Af2 6.Ab7 Rg5 7.Ac6 Rf4 8.Ad5 Ae3 9.Rh4 Re5 10.Rh5 Rf6 11.Ab7 Aa7 12.Rh6 Ab6 13.Rh7 Ad4 14.Rg8 Ac5 15.Ad5 Re5 16.Rf7 Rd6 17.Rf6 Ad4+ 18.Rf5 Ab6 19.Aa8 Ad4 20.Ab7 Ab6 21.e5+ Re7 22.e6 Ad4 23.Ac8 Rd8 24.Ad7 Re7 25.Re4 Ab6 26.Rd5</a:t>
            </a:r>
          </a:p>
        </p:txBody>
      </p:sp>
      <p:sp>
        <p:nvSpPr>
          <p:cNvPr id="7" name="TextBox 6"/>
          <p:cNvSpPr txBox="1"/>
          <p:nvPr/>
        </p:nvSpPr>
        <p:spPr>
          <a:xfrm>
            <a:off x="6309360" y="3553700"/>
            <a:ext cx="5486400" cy="2572779"/>
          </a:xfrm>
          <a:prstGeom prst="rect">
            <a:avLst/>
          </a:prstGeom>
          <a:noFill/>
        </p:spPr>
        <p:txBody>
          <a:bodyPr wrap="square" anchor="t">
            <a:spAutoFit/>
          </a:bodyPr>
          <a:lstStyle/>
          <a:p>
            <a:pPr algn="l">
              <a:spcAft>
                <a:spcPts val="400"/>
              </a:spcAft>
            </a:pPr>
            <a:r>
              <a:rPr sz="1500" b="0" i="0">
                <a:solidFill>
                  <a:srgbClr val="1F2937"/>
                </a:solidFill>
                <a:latin typeface="Calibri"/>
              </a:rPr>
              <a:t>Tres barreras, tres zugzwangs (6.Ab7, 11.Ab7, 15.Ad5) y un cuarto que rompe el bloqueo del peón e. El rey blanco recorre toda la banda y termina llegando a b7.</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Contá columnas de separación en cada posición y compará el resultado con el motor.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