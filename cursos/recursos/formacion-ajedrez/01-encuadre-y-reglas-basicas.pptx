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FORMACIÓN AJEDREZ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1 · Reglamento y reglas de competición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Cambria"/>
              </a:rPr>
              <a:t>Encuadre del curso y reglas básicas del ajedrez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Movimientos legales, jaque, jaque mate, ahogado y tablas, con los errores más frecuentes en el aula.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OBJETIVOS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A1F33"/>
                </a:solidFill>
                <a:latin typeface="Cambria"/>
              </a:rPr>
              <a:t>Encuadre del curso y reglas básicas del ajedrez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103327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334E68"/>
                </a:solidFill>
                <a:latin typeface="Calibri"/>
              </a:rPr>
              <a:t>•  Conocer la organización del curso, sus evaluaciones y la sesión presencial de cierre.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334E68"/>
                </a:solidFill>
                <a:latin typeface="Calibri"/>
              </a:rPr>
              <a:t>•  Describir el rol, los deberes y los límites de la persona árbitra y asesora en los JDE.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334E68"/>
                </a:solidFill>
                <a:latin typeface="Calibri"/>
              </a:rPr>
              <a:t>•  Aplicar las reglas básicas del movimiento, incluidas las jugadas especiales y la regla de pieza tocada.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334E68"/>
                </a:solidFill>
                <a:latin typeface="Calibri"/>
              </a:rPr>
              <a:t>•  Distinguir sin dudar jaque, jaque mate, ahogado, posición muerta y las demás formas de tablas.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334E68"/>
                </a:solidFill>
                <a:latin typeface="Calibri"/>
              </a:rPr>
              <a:t>•  Leer y escribir partidas en notación algebraica y conocer las obligaciones de la planilla.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CRONOGRAMA DE LA SESIÓN · 5 HORAS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143000"/>
          <a:ext cx="1106424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188720"/>
                <a:gridCol w="8138160"/>
              </a:tblGrid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Tiempo</a:t>
                      </a:r>
                    </a:p>
                  </a:txBody>
                  <a:tcPr>
                    <a:solidFill>
                      <a:srgbClr val="102A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Duración</a:t>
                      </a:r>
                    </a:p>
                  </a:txBody>
                  <a:tcPr>
                    <a:solidFill>
                      <a:srgbClr val="102A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Actividad</a:t>
                      </a:r>
                    </a:p>
                  </a:txBody>
                  <a:tcPr>
                    <a:solidFill>
                      <a:srgbClr val="102A4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0:00 – 0:15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15 min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Bienvenida y encuadre del curso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0:15 – 0:45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30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El rol de la persona árbitra y asesora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0:45 – 1:30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45 min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Reglas básicas I: tablero, piezas y jugadas especiales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DE911D"/>
                          </a:solidFill>
                        </a:rPr>
                        <a:t>1:30 – 1:45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DE911D"/>
                          </a:solidFill>
                        </a:rPr>
                        <a:t>15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DE911D"/>
                          </a:solidFill>
                        </a:rPr>
                        <a:t>Receso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1:45 – 2:30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45 min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Reglas básicas II: cómo termina una partida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2:30 – 3:00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30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Notación algebraica y planilla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DE911D"/>
                          </a:solidFill>
                        </a:rPr>
                        <a:t>3:00 – 3:15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DE911D"/>
                          </a:solidFill>
                        </a:rPr>
                        <a:t>15 min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DE911D"/>
                          </a:solidFill>
                        </a:rPr>
                        <a:t>Receso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3:15 – 4:05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50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Práctica en salas de trabajo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4:05 – 4:40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35 min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Quiz de la sesión y errores frecuentes en el aula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4:40 – 5:00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20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Cierre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CONTENIDO PARA VER EN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La persona árbitra: deberes y límites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74519"/>
            <a:ext cx="11064240" cy="43891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0A1F33"/>
                </a:solidFill>
                <a:latin typeface="Calibri"/>
              </a:rPr>
              <a:t>El deber central de quien arbitra es que se cumplan las Leyes y cuidar la competición. De ahí salen los demás: supervisar las partidas (en especial en apuro de tiempo), mantener el orden en la sala, aplicar sanciones proporcionadas y tomar medidas especiales para personas con discapacidad o que necesitan atención médica.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10332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Una sola voz decide: el árbitro principal. Los adjuntos observan, informan y aplican lo acordado.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Quien arbitra no puede jugar el torneo que dirige.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Explica una regla si el jugador lo pide, pero no aconseja sobre la posición.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No avisa que el rival ya movió ni que el jugador olvidó presionar el reloj.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Fuente: Leyes del Ajedrez 2023 (Handbook E.I.01), art. 11.9, 12.1, 12.2, 12.3 y 12.6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CONTENIDO PARA VER EN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El tablero y el inicio de la partida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74519"/>
            <a:ext cx="11064240" cy="43891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0A1F33"/>
                </a:solidFill>
                <a:latin typeface="Calibri"/>
              </a:rPr>
              <a:t>El tablero se coloca con una casilla clara en la esquina derecha de cada jugador («clara a la derecha»): h1 y a8 son claras, y la dama empieza en la casilla de su color. Empiezan siempre las blancas y luego se juega por turnos.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10332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Si se descubre que la posición inicial estaba mal armada, la partida se anula y se juega de nuevo.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Si solo el tablero estaba mal orientado, la posición se pasa a un tablero bien colocado y la partida sigue.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Si los colores estaban invertidos y cada bando hizo menos de 10 jugadas, se empieza otra partida con los colores correctos; con 10 o más, se sigue.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Fuente: Leyes del Ajedrez 2023 (Handbook E.I.01), art. 1.1, 2.1, 7.2 y 7.3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CONTENIDO PARA VER EN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Movimientos y jugadas especiales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74519"/>
            <a:ext cx="11064240" cy="43891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0A1F33"/>
                </a:solidFill>
                <a:latin typeface="Calibri"/>
              </a:rPr>
              <a:t>Solo el caballo salta por encima de otras piezas. El enroque es una jugada de rey: se toca primero el rey. La captura al paso solo se puede hacer en la jugada inmediatamente siguiente al avance doble. La coronación forma parte de la misma jugada: el peón se cambia en ese momento por dama, torre, alfil o caballo del mismo color.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10332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334E68"/>
                </a:solidFill>
                <a:latin typeface="Calibri"/>
              </a:rPr>
              <a:t>•  Mover el rey hace perder los dos enroques; mover una torre, solo el de ese lado, aunque vuelva a su casilla.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334E68"/>
                </a:solidFill>
                <a:latin typeface="Calibri"/>
              </a:rPr>
              <a:t>•  Nunca se enroca estando en jaque.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334E68"/>
                </a:solidFill>
                <a:latin typeface="Calibri"/>
              </a:rPr>
              <a:t>•  Pieza tocada, pieza jugada: si se toca deliberadamente una pieza propia que tiene jugada legal, hay que moverla.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334E68"/>
                </a:solidFill>
                <a:latin typeface="Calibri"/>
              </a:rPr>
              <a:t>•  «Compongo» se dice antes de tocar la pieza y solo en el propio turno.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334E68"/>
                </a:solidFill>
                <a:latin typeface="Calibri"/>
              </a:rPr>
              <a:t>•  Si con intención de enrocar se toca primero la torre, hay que mover la torre y ya no se puede enrocar con ella.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Fuente: Leyes del Ajedrez 2023 (Handbook E.I.01), art. 3.5, 3.7.4, 3.7.5, 3.8.2, 4.2, 4.3 y 4.4.2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CONTENIDO PARA VER EN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Cómo termina una partida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74519"/>
            <a:ext cx="11064240" cy="43891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0A1F33"/>
                </a:solidFill>
                <a:latin typeface="Calibri"/>
              </a:rPr>
              <a:t>Hay jaque cuando el rey está atacado; se sale capturando la pieza que da jaque, tapando o moviendo el rey. Si no existe ninguna jugada legal para salir del jaque, es jaque mate y la partida termina. Si el bando que mueve no está en jaque pero no tiene ninguna jugada legal, es ahogado: tablas.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10332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334E68"/>
                </a:solidFill>
                <a:latin typeface="Calibri"/>
              </a:rPr>
              <a:t>•  Posición muerta: ninguna serie de jugadas legales puede dar mate (por ejemplo, rey contra rey, o rey y alfil contra rey). Son tablas de inmediato, sin reclamo.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334E68"/>
                </a:solidFill>
                <a:latin typeface="Calibri"/>
              </a:rPr>
              <a:t>•  Tablas por acuerdo: la oferta se hace después de mover y antes de presionar el reloj; la partida termina cuando el rival acepta.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334E68"/>
                </a:solidFill>
                <a:latin typeface="Calibri"/>
              </a:rPr>
              <a:t>•  Triple repetición y regla de las 50 jugadas: son tablas por reclamo del jugador, con el procedimiento del art. 9.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334E68"/>
                </a:solidFill>
                <a:latin typeface="Calibri"/>
              </a:rPr>
              <a:t>•  Darse la mano sin una oferta previa no es un acuerdo de tablas.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Fuente: Leyes del Ajedrez 2023 (Handbook E.I.01), art. 3.9, 5.1, 5.2, 9.1, 9.2 y 9.3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CONTENIDO PARA VER EN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Notación algebraica y planilla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74519"/>
            <a:ext cx="11064240" cy="43891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0A1F33"/>
                </a:solidFill>
                <a:latin typeface="Calibri"/>
              </a:rPr>
              <a:t>En competencias de ritmo clásico cada jugador anota sus jugadas y las del rival, jugada a jugada, de forma legible y en notación algebraica. Las iniciales de las piezas pueden ser las del idioma del jugador (R, D, T, A, C en español).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10332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No se anota la jugada antes de hacerla, salvo para reclamar tablas.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La planilla debe estar a la vista del árbitro durante toda la partida.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Las ofertas de tablas se anotan con el signo (=).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Al terminar, ambos jugadores firman las dos planillas con el resultado. Firmar no quita el derecho a apelar.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Las planillas pertenecen al organizador.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Fuente: Leyes del Ajedrez 2023 (Handbook E.I.01), art. 8.1, 8.3, 8.7 y apéndice C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CONTENIDO PARA VER EN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Errores frecuentes en el ámbito escolar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74519"/>
            <a:ext cx="11064240" cy="43891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0A1F33"/>
                </a:solidFill>
                <a:latin typeface="Calibri"/>
              </a:rPr>
              <a:t>En los torneos estudiantiles se repiten siempre las mismas confusiones. Conocerlas permite anticiparlas en la charla técnica previa a la primera ronda.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10332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Llamar «mate» a un ahogado, o al revés.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Dejar el peón en la octava fila sin cambiarlo y presionar el reloj: es una jugada ilegal.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Enrocar después de haber movido el rey y haberlo devuelto a su casilla.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Capturar al paso una o dos jugadas tarde.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Seguir jugando con rey contra rey «para ver qué pasa»: la partida ya terminó en tablas.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Fuente: Leyes del Ajedrez 2023 (Handbook E.I.01), art. 3.7, 3.8, 5.2.2 y 7.5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CASO 1 · ¿QUÉ DECIDE LA PERSONA ÁRBITRA?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El enroque que empezó por la torre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062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103327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334E68"/>
                </a:solidFill>
                <a:latin typeface="Calibri"/>
              </a:rPr>
              <a:t>Con el rey y la torre de h1 sin mover, un estudiante toma primero la torre para enrocar corto.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0B429"/>
                </a:solidFill>
                <a:latin typeface="Calibri"/>
              </a:rPr>
              <a:t>CASO 1 · DECISIÓN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mbria"/>
              </a:rPr>
              <a:t>El enroque que empezó por la torre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03120"/>
            <a:ext cx="110642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ADCFC"/>
                </a:solidFill>
                <a:latin typeface="Calibri"/>
              </a:rPr>
              <a:t>Aplica pieza tocada: como tocó primero la torre, debe mover esa torre y no puede enrocar con ella. El enroque se hace tocando primero el rey.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FB3C8"/>
                </a:solidFill>
                <a:latin typeface="Calibri"/>
              </a:rPr>
              <a:t>Fuente: Leyes del Ajedrez 2023 (Handbook E.I.01), art. 4.4.2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CASO 2 · ¿QUÉ DECIDE LA PERSONA ÁRBITRA?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El peón que llegó a la octava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062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103327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334E68"/>
                </a:solidFill>
                <a:latin typeface="Calibri"/>
              </a:rPr>
              <a:t>Un peón blanco llega a e8, el jugador lo deja como peón y presiona el reloj.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0B429"/>
                </a:solidFill>
                <a:latin typeface="Calibri"/>
              </a:rPr>
              <a:t>CASO 2 · DECISIÓN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mbria"/>
              </a:rPr>
              <a:t>El peón que llegó a la octava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03120"/>
            <a:ext cx="110642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ADCFC"/>
                </a:solidFill>
                <a:latin typeface="Calibri"/>
              </a:rPr>
              <a:t>Es una jugada ilegal completada: el cambio del peón es parte de la misma jugada. Se repone la posición anterior y se aplica la sanción de la primera jugada ilegal.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FB3C8"/>
                </a:solidFill>
                <a:latin typeface="Calibri"/>
              </a:rPr>
              <a:t>Fuente: Leyes del Ajedrez 2023 (Handbook E.I.01), art. 3.7.5 y 7.5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CASO 3 · ¿QUÉ DECIDE LA PERSONA ÁRBITRA?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Rey contra rey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062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103327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334E68"/>
                </a:solidFill>
                <a:latin typeface="Calibri"/>
              </a:rPr>
              <a:t>Tras varios cambios quedan solo los dos reyes. Los jugadores quieren seguir moviendo.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0B429"/>
                </a:solidFill>
                <a:latin typeface="Calibri"/>
              </a:rPr>
              <a:t>CASO 3 · DECISIÓN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mbria"/>
              </a:rPr>
              <a:t>Rey contra rey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03120"/>
            <a:ext cx="110642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ADCFC"/>
                </a:solidFill>
                <a:latin typeface="Calibri"/>
              </a:rPr>
              <a:t>La partida terminó en tablas en el momento en que se llegó a esa posición: es posición muerta y no hace falta ningún reclamo.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FB3C8"/>
                </a:solidFill>
                <a:latin typeface="Calibri"/>
              </a:rPr>
              <a:t>Fuente: Leyes del Ajedrez 2023 (Handbook E.I.01), art. 5.2.2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CASO 4 · ¿QUÉ DECIDE LA PERSONA ÁRBITRA?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La captura al paso tardía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062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103327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334E68"/>
                </a:solidFill>
                <a:latin typeface="Calibri"/>
              </a:rPr>
              <a:t>Un peón negro avanzó de d7 a d5 hace dos jugadas. Ahora el peón blanco de e5 lo captura al paso.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0B429"/>
                </a:solidFill>
                <a:latin typeface="Calibri"/>
              </a:rPr>
              <a:t>CASO 4 · DECISIÓN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mbria"/>
              </a:rPr>
              <a:t>La captura al paso tardía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03120"/>
            <a:ext cx="110642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ADCFC"/>
                </a:solidFill>
                <a:latin typeface="Calibri"/>
              </a:rPr>
              <a:t>Es una jugada ilegal: el derecho a capturar al paso solo existe en la respuesta inmediata al avance doble.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FB3C8"/>
                </a:solidFill>
                <a:latin typeface="Calibri"/>
              </a:rPr>
              <a:t>Fuente: Leyes del Ajedrez 2023 (Handbook E.I.01), art. 3.7.4.1 y 7.5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PRÁCTICA — IDENTIFICACIÓN DE JUGADAS LEGALES Y FINALES DE PARTIDA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FFFFFF"/>
                </a:solidFill>
                <a:latin typeface="Cambria"/>
              </a:rPr>
              <a:t>A partir de un set de 8 posiciones, cada participante determina si hay jaque, jaque mate, ahogado o tablas, y justifica su respuesta con base en el reglamento.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Formación Ajedrez · Sesión 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EJERCICIO 1 DE 8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498079" y="14173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79" y="138074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ln w="9525">
                  <a:solidFill>
                    <a:srgbClr val="111111"/>
                  </a:solidFill>
                </a:ln>
                <a:solidFill>
                  <a:srgbClr val="FFFFFF"/>
                </a:solidFill>
                <a:latin typeface="Segoe UI Symbol"/>
              </a:rPr>
              <a:t>♜</a:t>
            </a:r>
          </a:p>
        </p:txBody>
      </p:sp>
      <p:sp>
        <p:nvSpPr>
          <p:cNvPr id="8" name="Rectangle 7"/>
          <p:cNvSpPr/>
          <p:nvPr/>
        </p:nvSpPr>
        <p:spPr>
          <a:xfrm>
            <a:off x="7978140" y="14173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58200" y="14173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938259" y="14173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18319" y="14173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898380" y="14173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378440" y="14173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78440" y="138074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111111"/>
                </a:solidFill>
                <a:latin typeface="Segoe UI Symbol"/>
              </a:rPr>
              <a:t>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858500" y="14173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498079" y="18973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78140" y="18973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458200" y="18973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938259" y="18973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418319" y="18973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898380" y="18973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98380" y="186080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111111"/>
                </a:solidFill>
                <a:latin typeface="Segoe UI Symbol"/>
              </a:rPr>
              <a:t>♟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378440" y="18973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378440" y="186080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111111"/>
                </a:solidFill>
                <a:latin typeface="Segoe UI Symbol"/>
              </a:rPr>
              <a:t>♟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858500" y="18973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858500" y="186080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111111"/>
                </a:solidFill>
                <a:latin typeface="Segoe UI Symbol"/>
              </a:rPr>
              <a:t>♟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498079" y="23774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978140" y="23774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458200" y="23774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938259" y="23774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418319" y="23774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898380" y="23774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378440" y="23774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858500" y="23774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98079" y="285750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978140" y="285750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458200" y="285750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938259" y="285750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418319" y="285750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898380" y="285750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0378440" y="285750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0858500" y="285750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98079" y="333756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978140" y="333756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458200" y="333756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938259" y="333756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418319" y="333756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898380" y="333756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0378440" y="333756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858500" y="333756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498079" y="38176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978140" y="38176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458200" y="38176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8938259" y="38176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9418319" y="38176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898380" y="38176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0378440" y="38176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0858500" y="38176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498079" y="42976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978140" y="42976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8458200" y="42976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938259" y="42976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9418319" y="42976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9898380" y="42976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0378440" y="42976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0858500" y="42976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498079" y="47777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7978140" y="47777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8458200" y="47777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8938259" y="47777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418319" y="47777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9898380" y="47777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0378440" y="47777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0378440" y="474116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ln w="9525">
                  <a:solidFill>
                    <a:srgbClr val="111111"/>
                  </a:solidFill>
                </a:ln>
                <a:solidFill>
                  <a:srgbClr val="FFFFFF"/>
                </a:solidFill>
                <a:latin typeface="Segoe UI Symbol"/>
              </a:rPr>
              <a:t>♚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0858500" y="47777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14400" y="1463040"/>
            <a:ext cx="6400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A1F33"/>
                </a:solidFill>
                <a:latin typeface="Calibri"/>
              </a:rPr>
              <a:t>Posición 1. Juegan las negras. ¿Hay jaque, jaque mate, ahogado o posición muerta? ¿Sigue la partida?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14400" y="3291840"/>
            <a:ext cx="6400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334E68"/>
                </a:solidFill>
                <a:latin typeface="Calibri"/>
              </a:rPr>
              <a:t>Blancas: rey en g1; torre en a8. Negras: rey en g8; peones en f7, g7, h7. Juegan las negras.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EJERCICIO 2 DE 8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498079" y="14173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978140" y="14173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458200" y="14173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938259" y="14173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418319" y="14173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898380" y="14173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378440" y="14173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858500" y="14173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58500" y="138074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111111"/>
                </a:solidFill>
                <a:latin typeface="Segoe UI Symbol"/>
              </a:rPr>
              <a:t>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98079" y="18973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78140" y="18973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458200" y="18973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38259" y="18973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418319" y="18973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898380" y="18973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98380" y="186080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ln w="9525">
                  <a:solidFill>
                    <a:srgbClr val="111111"/>
                  </a:solidFill>
                </a:ln>
                <a:solidFill>
                  <a:srgbClr val="FFFFFF"/>
                </a:solidFill>
                <a:latin typeface="Segoe UI Symbol"/>
              </a:rPr>
              <a:t>♛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378440" y="18973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858500" y="18973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98079" y="23774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978140" y="23774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458200" y="23774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38259" y="23774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418319" y="23774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898380" y="23774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378440" y="23774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78440" y="234086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ln w="9525">
                  <a:solidFill>
                    <a:srgbClr val="111111"/>
                  </a:solidFill>
                </a:ln>
                <a:solidFill>
                  <a:srgbClr val="FFFFFF"/>
                </a:solidFill>
                <a:latin typeface="Segoe UI Symbol"/>
              </a:rPr>
              <a:t>♚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858500" y="23774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498079" y="285750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978140" y="285750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458200" y="285750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938259" y="285750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418319" y="285750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898380" y="285750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378440" y="285750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858500" y="285750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498079" y="333756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978140" y="333756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458200" y="333756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938259" y="333756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418319" y="333756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898380" y="333756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378440" y="333756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0858500" y="333756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498079" y="38176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978140" y="38176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458200" y="38176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938259" y="38176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418319" y="38176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898380" y="38176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378440" y="38176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0858500" y="38176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498079" y="42976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978140" y="42976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458200" y="42976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8938259" y="42976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9418319" y="42976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9898380" y="42976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0378440" y="42976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0858500" y="42976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498079" y="47777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978140" y="47777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458200" y="47777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938259" y="47777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9418319" y="47777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898380" y="47777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0378440" y="47777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0858500" y="47777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14400" y="1463040"/>
            <a:ext cx="6400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A1F33"/>
                </a:solidFill>
                <a:latin typeface="Calibri"/>
              </a:rPr>
              <a:t>Posición 2. Juegan las negras. ¿Qué situación es y cuál es el resultado?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3291840"/>
            <a:ext cx="6400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334E68"/>
                </a:solidFill>
                <a:latin typeface="Calibri"/>
              </a:rPr>
              <a:t>Blancas: rey en g6; dama en f7. Negras: rey en h8. Juegan las negras.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EJERCICIO 3 DE 8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498079" y="14173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978140" y="14173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458200" y="14173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938259" y="14173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418319" y="14173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19" y="138074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111111"/>
                </a:solidFill>
                <a:latin typeface="Segoe UI Symbol"/>
              </a:rPr>
              <a:t>♚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898380" y="14173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378440" y="14173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858500" y="14173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498079" y="18973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78140" y="18973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458200" y="18973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38259" y="18973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418319" y="18973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898380" y="18973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378440" y="18973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858500" y="18973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498079" y="23774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978140" y="23774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458200" y="23774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38259" y="23774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18319" y="23774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898380" y="23774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0378440" y="23774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858500" y="23774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498079" y="285750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78140" y="285750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458200" y="285750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938259" y="285750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418319" y="285750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898380" y="285750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378440" y="285750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858500" y="285750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498079" y="333756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78140" y="333756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458200" y="333756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938259" y="333756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418319" y="333756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898380" y="333756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378440" y="333756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0858500" y="333756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498079" y="38176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978140" y="38176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458200" y="38176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938259" y="38176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418319" y="38176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898380" y="38176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0378440" y="38176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0858500" y="38176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498079" y="42976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978140" y="42976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458200" y="42976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938259" y="42976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9418319" y="42976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898380" y="42976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0378440" y="42976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0858500" y="42976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498079" y="47777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978140" y="47777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458200" y="47777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938259" y="47777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9418319" y="47777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418319" y="474116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ln w="9525">
                  <a:solidFill>
                    <a:srgbClr val="111111"/>
                  </a:solidFill>
                </a:ln>
                <a:solidFill>
                  <a:srgbClr val="FFFFFF"/>
                </a:solidFill>
                <a:latin typeface="Segoe UI Symbol"/>
              </a:rPr>
              <a:t>♜</a:t>
            </a:r>
          </a:p>
        </p:txBody>
      </p:sp>
      <p:sp>
        <p:nvSpPr>
          <p:cNvPr id="69" name="Rectangle 68"/>
          <p:cNvSpPr/>
          <p:nvPr/>
        </p:nvSpPr>
        <p:spPr>
          <a:xfrm>
            <a:off x="9898380" y="47777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0378440" y="47777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0378440" y="474116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ln w="9525">
                  <a:solidFill>
                    <a:srgbClr val="111111"/>
                  </a:solidFill>
                </a:ln>
                <a:solidFill>
                  <a:srgbClr val="FFFFFF"/>
                </a:solidFill>
                <a:latin typeface="Segoe UI Symbol"/>
              </a:rPr>
              <a:t>♚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0858500" y="47777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14400" y="1463040"/>
            <a:ext cx="6400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A1F33"/>
                </a:solidFill>
                <a:latin typeface="Calibri"/>
              </a:rPr>
              <a:t>Posición 3. Juegan las negras. ¿Qué situación es? ¿Sigue la partida?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3291840"/>
            <a:ext cx="6400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334E68"/>
                </a:solidFill>
                <a:latin typeface="Calibri"/>
              </a:rPr>
              <a:t>Blancas: rey en g1; torre en e1. Negras: rey en e8. Juegan las negras.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EJERCICIO 4 DE 8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498079" y="14173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978140" y="14173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458200" y="14173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938259" y="14173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418319" y="14173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898380" y="14173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378440" y="14173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858500" y="14173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98079" y="18973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78140" y="18973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458200" y="18973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938259" y="18973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418319" y="18973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898380" y="18973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0378440" y="18973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858500" y="18973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98079" y="23774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78140" y="23774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458200" y="23774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38259" y="23774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418319" y="23774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18319" y="234086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111111"/>
                </a:solidFill>
                <a:latin typeface="Segoe UI Symbol"/>
              </a:rPr>
              <a:t>♚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898380" y="23774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0378440" y="23774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858500" y="23774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498079" y="285750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78140" y="285750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458200" y="285750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938259" y="285750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418319" y="285750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898380" y="285750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378440" y="285750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858500" y="285750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498079" y="333756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78140" y="333756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458200" y="333756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938259" y="333756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418319" y="333756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898380" y="333756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378440" y="333756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0858500" y="333756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498079" y="38176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978140" y="38176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458200" y="38176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458200" y="378104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ln w="9525">
                  <a:solidFill>
                    <a:srgbClr val="111111"/>
                  </a:solidFill>
                </a:ln>
                <a:solidFill>
                  <a:srgbClr val="FFFFFF"/>
                </a:solidFill>
                <a:latin typeface="Segoe UI Symbol"/>
              </a:rPr>
              <a:t>♝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938259" y="38176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418319" y="38176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898380" y="38176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0378440" y="38176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858500" y="38176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498079" y="42976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978140" y="42976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458200" y="42976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938259" y="42976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418319" y="42976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9898380" y="42976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0378440" y="42976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0858500" y="42976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498079" y="47777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978140" y="47777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458200" y="47777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938259" y="47777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9418319" y="47777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418319" y="474116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ln w="9525">
                  <a:solidFill>
                    <a:srgbClr val="111111"/>
                  </a:solidFill>
                </a:ln>
                <a:solidFill>
                  <a:srgbClr val="FFFFFF"/>
                </a:solidFill>
                <a:latin typeface="Segoe UI Symbol"/>
              </a:rPr>
              <a:t>♚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898380" y="47777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0378440" y="47777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0858500" y="47777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14400" y="1463040"/>
            <a:ext cx="6400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A1F33"/>
                </a:solidFill>
                <a:latin typeface="Calibri"/>
              </a:rPr>
              <a:t>Posición 4. Juegan las blancas. ¿Puede seguir la partida?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3291840"/>
            <a:ext cx="6400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334E68"/>
                </a:solidFill>
                <a:latin typeface="Calibri"/>
              </a:rPr>
              <a:t>Blancas: rey en e1; alfil en c3. Negras: rey en e6. Juegan las blancas.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EJERCICIO 5 DE 8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498079" y="14173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79" y="138074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111111"/>
                </a:solidFill>
                <a:latin typeface="Segoe UI Symbol"/>
              </a:rPr>
              <a:t>♜</a:t>
            </a:r>
          </a:p>
        </p:txBody>
      </p:sp>
      <p:sp>
        <p:nvSpPr>
          <p:cNvPr id="8" name="Rectangle 7"/>
          <p:cNvSpPr/>
          <p:nvPr/>
        </p:nvSpPr>
        <p:spPr>
          <a:xfrm>
            <a:off x="7978140" y="14173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78140" y="138074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111111"/>
                </a:solidFill>
                <a:latin typeface="Segoe UI Symbol"/>
              </a:rPr>
              <a:t>♞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58200" y="14173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58200" y="138074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111111"/>
                </a:solidFill>
                <a:latin typeface="Segoe UI Symbol"/>
              </a:rPr>
              <a:t>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38259" y="14173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418319" y="14173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19" y="138074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111111"/>
                </a:solidFill>
                <a:latin typeface="Segoe UI Symbol"/>
              </a:rPr>
              <a:t>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898380" y="14173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98380" y="138074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111111"/>
                </a:solidFill>
                <a:latin typeface="Segoe UI Symbol"/>
              </a:rPr>
              <a:t>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378440" y="14173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378440" y="138074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111111"/>
                </a:solidFill>
                <a:latin typeface="Segoe UI Symbol"/>
              </a:rPr>
              <a:t>♞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858500" y="14173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858500" y="138074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111111"/>
                </a:solidFill>
                <a:latin typeface="Segoe UI Symbol"/>
              </a:rPr>
              <a:t>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98079" y="18973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79" y="186080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111111"/>
                </a:solidFill>
                <a:latin typeface="Segoe UI Symbol"/>
              </a:rPr>
              <a:t>♟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78140" y="18973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78140" y="186080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111111"/>
                </a:solidFill>
                <a:latin typeface="Segoe UI Symbol"/>
              </a:rPr>
              <a:t>♟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58200" y="18973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58200" y="186080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111111"/>
                </a:solidFill>
                <a:latin typeface="Segoe UI Symbol"/>
              </a:rPr>
              <a:t>♟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38259" y="18973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38259" y="186080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111111"/>
                </a:solidFill>
                <a:latin typeface="Segoe UI Symbol"/>
              </a:rPr>
              <a:t>♟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418319" y="18973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898380" y="18973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98380" y="186080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111111"/>
                </a:solidFill>
                <a:latin typeface="Segoe UI Symbol"/>
              </a:rPr>
              <a:t>♟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378440" y="18973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378440" y="186080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111111"/>
                </a:solidFill>
                <a:latin typeface="Segoe UI Symbol"/>
              </a:rPr>
              <a:t>♟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858500" y="18973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858500" y="186080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111111"/>
                </a:solidFill>
                <a:latin typeface="Segoe UI Symbol"/>
              </a:rPr>
              <a:t>♟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498079" y="23774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978140" y="23774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458200" y="23774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938259" y="23774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418319" y="23774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898380" y="23774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0378440" y="23774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858500" y="23774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498079" y="285750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978140" y="285750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458200" y="285750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938259" y="285750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418319" y="285750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418319" y="282092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111111"/>
                </a:solidFill>
                <a:latin typeface="Segoe UI Symbol"/>
              </a:rPr>
              <a:t>♟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898380" y="285750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0378440" y="285750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0858500" y="285750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498079" y="333756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978140" y="333756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458200" y="333756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938259" y="333756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9418319" y="333756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898380" y="333756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0378440" y="333756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378440" y="330098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ln w="9525">
                  <a:solidFill>
                    <a:srgbClr val="111111"/>
                  </a:solidFill>
                </a:ln>
                <a:solidFill>
                  <a:srgbClr val="FFFFFF"/>
                </a:solidFill>
                <a:latin typeface="Segoe UI Symbol"/>
              </a:rPr>
              <a:t>♟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858500" y="333756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858500" y="330098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111111"/>
                </a:solidFill>
                <a:latin typeface="Segoe UI Symbol"/>
              </a:rPr>
              <a:t>♛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498079" y="38176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978140" y="38176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458200" y="38176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938259" y="38176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9418319" y="38176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9898380" y="38176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898380" y="378104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ln w="9525">
                  <a:solidFill>
                    <a:srgbClr val="111111"/>
                  </a:solidFill>
                </a:ln>
                <a:solidFill>
                  <a:srgbClr val="FFFFFF"/>
                </a:solidFill>
                <a:latin typeface="Segoe UI Symbol"/>
              </a:rPr>
              <a:t>♟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0378440" y="38176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0858500" y="38176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498079" y="42976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498079" y="426110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ln w="9525">
                  <a:solidFill>
                    <a:srgbClr val="111111"/>
                  </a:solidFill>
                </a:ln>
                <a:solidFill>
                  <a:srgbClr val="FFFFFF"/>
                </a:solidFill>
                <a:latin typeface="Segoe UI Symbol"/>
              </a:rPr>
              <a:t>♟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978140" y="42976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978140" y="426110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ln w="9525">
                  <a:solidFill>
                    <a:srgbClr val="111111"/>
                  </a:solidFill>
                </a:ln>
                <a:solidFill>
                  <a:srgbClr val="FFFFFF"/>
                </a:solidFill>
                <a:latin typeface="Segoe UI Symbol"/>
              </a:rPr>
              <a:t>♟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458200" y="42976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458200" y="426110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ln w="9525">
                  <a:solidFill>
                    <a:srgbClr val="111111"/>
                  </a:solidFill>
                </a:ln>
                <a:solidFill>
                  <a:srgbClr val="FFFFFF"/>
                </a:solidFill>
                <a:latin typeface="Segoe UI Symbol"/>
              </a:rPr>
              <a:t>♟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938259" y="42976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938259" y="426110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ln w="9525">
                  <a:solidFill>
                    <a:srgbClr val="111111"/>
                  </a:solidFill>
                </a:ln>
                <a:solidFill>
                  <a:srgbClr val="FFFFFF"/>
                </a:solidFill>
                <a:latin typeface="Segoe UI Symbol"/>
              </a:rPr>
              <a:t>♟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418319" y="42976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418319" y="426110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ln w="9525">
                  <a:solidFill>
                    <a:srgbClr val="111111"/>
                  </a:solidFill>
                </a:ln>
                <a:solidFill>
                  <a:srgbClr val="FFFFFF"/>
                </a:solidFill>
                <a:latin typeface="Segoe UI Symbol"/>
              </a:rPr>
              <a:t>♟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898380" y="42976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378440" y="42976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858500" y="42976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858500" y="426110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ln w="9525">
                  <a:solidFill>
                    <a:srgbClr val="111111"/>
                  </a:solidFill>
                </a:ln>
                <a:solidFill>
                  <a:srgbClr val="FFFFFF"/>
                </a:solidFill>
                <a:latin typeface="Segoe UI Symbol"/>
              </a:rPr>
              <a:t>♟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498079" y="47777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498079" y="474116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ln w="9525">
                  <a:solidFill>
                    <a:srgbClr val="111111"/>
                  </a:solidFill>
                </a:ln>
                <a:solidFill>
                  <a:srgbClr val="FFFFFF"/>
                </a:solidFill>
                <a:latin typeface="Segoe UI Symbol"/>
              </a:rPr>
              <a:t>♜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978140" y="47777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978140" y="474116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ln w="9525">
                  <a:solidFill>
                    <a:srgbClr val="111111"/>
                  </a:solidFill>
                </a:ln>
                <a:solidFill>
                  <a:srgbClr val="FFFFFF"/>
                </a:solidFill>
                <a:latin typeface="Segoe UI Symbol"/>
              </a:rPr>
              <a:t>♞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458200" y="47777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458200" y="474116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ln w="9525">
                  <a:solidFill>
                    <a:srgbClr val="111111"/>
                  </a:solidFill>
                </a:ln>
                <a:solidFill>
                  <a:srgbClr val="FFFFFF"/>
                </a:solidFill>
                <a:latin typeface="Segoe UI Symbol"/>
              </a:rPr>
              <a:t>♝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938259" y="47777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938259" y="474116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ln w="9525">
                  <a:solidFill>
                    <a:srgbClr val="111111"/>
                  </a:solidFill>
                </a:ln>
                <a:solidFill>
                  <a:srgbClr val="FFFFFF"/>
                </a:solidFill>
                <a:latin typeface="Segoe UI Symbol"/>
              </a:rPr>
              <a:t>♛</a:t>
            </a:r>
          </a:p>
        </p:txBody>
      </p:sp>
      <p:sp>
        <p:nvSpPr>
          <p:cNvPr id="94" name="Rectangle 93"/>
          <p:cNvSpPr/>
          <p:nvPr/>
        </p:nvSpPr>
        <p:spPr>
          <a:xfrm>
            <a:off x="9418319" y="47777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9418319" y="474116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ln w="9525">
                  <a:solidFill>
                    <a:srgbClr val="111111"/>
                  </a:solidFill>
                </a:ln>
                <a:solidFill>
                  <a:srgbClr val="FFFFFF"/>
                </a:solidFill>
                <a:latin typeface="Segoe UI Symbol"/>
              </a:rPr>
              <a:t>♚</a:t>
            </a:r>
          </a:p>
        </p:txBody>
      </p:sp>
      <p:sp>
        <p:nvSpPr>
          <p:cNvPr id="96" name="Rectangle 95"/>
          <p:cNvSpPr/>
          <p:nvPr/>
        </p:nvSpPr>
        <p:spPr>
          <a:xfrm>
            <a:off x="9898380" y="47777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9898380" y="474116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ln w="9525">
                  <a:solidFill>
                    <a:srgbClr val="111111"/>
                  </a:solidFill>
                </a:ln>
                <a:solidFill>
                  <a:srgbClr val="FFFFFF"/>
                </a:solidFill>
                <a:latin typeface="Segoe UI Symbol"/>
              </a:rPr>
              <a:t>♝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378440" y="47777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378440" y="474116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ln w="9525">
                  <a:solidFill>
                    <a:srgbClr val="111111"/>
                  </a:solidFill>
                </a:ln>
                <a:solidFill>
                  <a:srgbClr val="FFFFFF"/>
                </a:solidFill>
                <a:latin typeface="Segoe UI Symbol"/>
              </a:rPr>
              <a:t>♞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858500" y="47777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0858500" y="474116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ln w="9525">
                  <a:solidFill>
                    <a:srgbClr val="111111"/>
                  </a:solidFill>
                </a:ln>
                <a:solidFill>
                  <a:srgbClr val="FFFFFF"/>
                </a:solidFill>
                <a:latin typeface="Segoe UI Symbol"/>
              </a:rPr>
              <a:t>♜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14400" y="1463040"/>
            <a:ext cx="6400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A1F33"/>
                </a:solidFill>
                <a:latin typeface="Calibri"/>
              </a:rPr>
              <a:t>Posición 5. Juegan las blancas. Se llegó tras 1.f3 e5 2.g4 Dh4. ¿Qué situación es?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14400" y="3291840"/>
            <a:ext cx="6400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334E68"/>
                </a:solidFill>
                <a:latin typeface="Calibri"/>
              </a:rPr>
              <a:t>Blancas: rey en e1; dama en d1; torres en a1, h1; alfiles en c1, f1; caballos en b1, g1; peones en a2, b2, c2, d2, e2, f3, g4, h2. Negras: rey en e8; dama en h4; torres en a8, h8; alfiles en c8, f8; caballos en b8, g8; peones en a7, b7, c7, d7, e5, f7, g7, h7. Juegan las blancas.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EJERCICIO 6 DE 8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498079" y="14173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978140" y="14173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458200" y="14173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938259" y="14173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418319" y="14173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898380" y="14173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378440" y="14173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858500" y="14173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98079" y="18973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78140" y="18973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458200" y="18973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938259" y="18973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418319" y="18973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898380" y="18973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0378440" y="18973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858500" y="18973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98079" y="23774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78140" y="23774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458200" y="23774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38259" y="23774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418319" y="23774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18319" y="234086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111111"/>
                </a:solidFill>
                <a:latin typeface="Segoe UI Symbol"/>
              </a:rPr>
              <a:t>♚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898380" y="23774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0378440" y="23774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858500" y="23774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498079" y="285750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78140" y="285750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458200" y="285750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938259" y="285750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418319" y="285750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898380" y="285750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378440" y="285750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858500" y="285750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498079" y="333756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78140" y="333756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458200" y="333756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938259" y="333756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418319" y="333756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898380" y="333756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378440" y="333756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0858500" y="333756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498079" y="38176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978140" y="38176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458200" y="38176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458200" y="378104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ln w="9525">
                  <a:solidFill>
                    <a:srgbClr val="111111"/>
                  </a:solidFill>
                </a:ln>
                <a:solidFill>
                  <a:srgbClr val="FFFFFF"/>
                </a:solidFill>
                <a:latin typeface="Segoe UI Symbol"/>
              </a:rPr>
              <a:t>♞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938259" y="38176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418319" y="38176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898380" y="38176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0378440" y="38176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858500" y="38176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498079" y="42976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978140" y="42976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458200" y="42976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938259" y="42976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418319" y="42976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9898380" y="42976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0378440" y="42976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0858500" y="42976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498079" y="47777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978140" y="47777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458200" y="47777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938259" y="47777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9418319" y="47777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418319" y="474116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ln w="9525">
                  <a:solidFill>
                    <a:srgbClr val="111111"/>
                  </a:solidFill>
                </a:ln>
                <a:solidFill>
                  <a:srgbClr val="FFFFFF"/>
                </a:solidFill>
                <a:latin typeface="Segoe UI Symbol"/>
              </a:rPr>
              <a:t>♚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898380" y="47777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0378440" y="47777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0858500" y="47777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14400" y="1463040"/>
            <a:ext cx="6400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A1F33"/>
                </a:solidFill>
                <a:latin typeface="Calibri"/>
              </a:rPr>
              <a:t>Posición 6. Juegan las negras. ¿Puede seguir la partida?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3291840"/>
            <a:ext cx="6400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334E68"/>
                </a:solidFill>
                <a:latin typeface="Calibri"/>
              </a:rPr>
              <a:t>Blancas: rey en e1; caballo en c3. Negras: rey en e6. Juegan las negras.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EJERCICIO 7 DE 8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498079" y="14173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978140" y="14173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458200" y="14173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938259" y="14173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418319" y="14173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898380" y="14173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378440" y="14173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858500" y="14173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98079" y="18973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78140" y="18973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458200" y="18973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938259" y="18973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418319" y="18973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898380" y="18973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0378440" y="18973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858500" y="18973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98079" y="23774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78140" y="23774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458200" y="23774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38259" y="23774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418319" y="23774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18319" y="234086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111111"/>
                </a:solidFill>
                <a:latin typeface="Segoe UI Symbol"/>
              </a:rPr>
              <a:t>♚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898380" y="23774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0378440" y="23774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858500" y="23774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498079" y="285750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78140" y="285750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458200" y="285750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938259" y="285750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418319" y="285750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898380" y="285750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378440" y="285750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858500" y="285750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498079" y="333756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78140" y="333756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458200" y="333756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938259" y="333756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418319" y="333756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898380" y="333756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378440" y="333756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0858500" y="333756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498079" y="38176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978140" y="38176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458200" y="38176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458200" y="378104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ln w="9525">
                  <a:solidFill>
                    <a:srgbClr val="111111"/>
                  </a:solidFill>
                </a:ln>
                <a:solidFill>
                  <a:srgbClr val="FFFFFF"/>
                </a:solidFill>
                <a:latin typeface="Segoe UI Symbol"/>
              </a:rPr>
              <a:t>♜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938259" y="38176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418319" y="38176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898380" y="38176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0378440" y="38176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858500" y="38176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498079" y="42976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978140" y="42976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458200" y="42976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938259" y="42976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418319" y="42976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9898380" y="42976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0378440" y="42976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0858500" y="42976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498079" y="47777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978140" y="47777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458200" y="47777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938259" y="47777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9418319" y="47777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418319" y="474116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ln w="9525">
                  <a:solidFill>
                    <a:srgbClr val="111111"/>
                  </a:solidFill>
                </a:ln>
                <a:solidFill>
                  <a:srgbClr val="FFFFFF"/>
                </a:solidFill>
                <a:latin typeface="Segoe UI Symbol"/>
              </a:rPr>
              <a:t>♚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898380" y="47777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0378440" y="47777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0858500" y="47777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14400" y="1463040"/>
            <a:ext cx="6400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A1F33"/>
                </a:solidFill>
                <a:latin typeface="Calibri"/>
              </a:rPr>
              <a:t>Posición 7. Juegan las negras. ¿Puede seguir la partida?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3291840"/>
            <a:ext cx="6400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334E68"/>
                </a:solidFill>
                <a:latin typeface="Calibri"/>
              </a:rPr>
              <a:t>Blancas: rey en e1; torre en c3. Negras: rey en e6. Juegan las negras.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EJERCICIO 8 DE 8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498079" y="14173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79" y="138074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111111"/>
                </a:solidFill>
                <a:latin typeface="Segoe UI Symbol"/>
              </a:rPr>
              <a:t>♚</a:t>
            </a:r>
          </a:p>
        </p:txBody>
      </p:sp>
      <p:sp>
        <p:nvSpPr>
          <p:cNvPr id="8" name="Rectangle 7"/>
          <p:cNvSpPr/>
          <p:nvPr/>
        </p:nvSpPr>
        <p:spPr>
          <a:xfrm>
            <a:off x="7978140" y="14173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58200" y="14173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938259" y="14173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18319" y="14173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898380" y="14173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378440" y="14173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858500" y="14173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498079" y="18973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79" y="186080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ln w="9525">
                  <a:solidFill>
                    <a:srgbClr val="111111"/>
                  </a:solidFill>
                </a:ln>
                <a:solidFill>
                  <a:srgbClr val="FFFFFF"/>
                </a:solidFill>
                <a:latin typeface="Segoe UI Symbol"/>
              </a:rPr>
              <a:t>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78140" y="18973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458200" y="18973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938259" y="18973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418319" y="18973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898380" y="18973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378440" y="18973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858500" y="18973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98079" y="23774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978140" y="23774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78140" y="234086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ln w="9525">
                  <a:solidFill>
                    <a:srgbClr val="111111"/>
                  </a:solidFill>
                </a:ln>
                <a:solidFill>
                  <a:srgbClr val="FFFFFF"/>
                </a:solidFill>
                <a:latin typeface="Segoe UI Symbol"/>
              </a:rPr>
              <a:t>♚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458200" y="23774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938259" y="23774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418319" y="23774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898380" y="23774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378440" y="23774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0858500" y="23774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498079" y="285750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978140" y="285750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458200" y="285750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938259" y="285750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418319" y="285750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898380" y="285750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378440" y="285750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858500" y="285750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498079" y="333756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978140" y="333756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458200" y="333756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938259" y="333756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418319" y="333756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898380" y="333756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378440" y="333756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0858500" y="333756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498079" y="38176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978140" y="38176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458200" y="38176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938259" y="38176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418319" y="38176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898380" y="38176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378440" y="38176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0858500" y="38176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498079" y="42976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978140" y="42976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458200" y="42976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8938259" y="42976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9418319" y="42976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9898380" y="42976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0378440" y="42976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0858500" y="42976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498079" y="47777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978140" y="47777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458200" y="47777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938259" y="47777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9418319" y="47777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898380" y="47777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0378440" y="47777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0858500" y="47777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14400" y="1463040"/>
            <a:ext cx="6400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A1F33"/>
                </a:solidFill>
                <a:latin typeface="Calibri"/>
              </a:rPr>
              <a:t>Posición 8. Juegan las negras. ¿Qué situación es y cuál es el resultado?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3291840"/>
            <a:ext cx="6400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334E68"/>
                </a:solidFill>
                <a:latin typeface="Calibri"/>
              </a:rPr>
              <a:t>Blancas: rey en b6; peón en a7. Negras: rey en a8. Juegan las negras.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QUIZ DE LA SESIÓN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10332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334E68"/>
                </a:solidFill>
                <a:latin typeface="Calibri"/>
              </a:rPr>
              <a:t>1. Un rey está en jaque y no existe ninguna jugada legal que lo saque de esa condición. ¿Cómo se denomina esta situación?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334E68"/>
                </a:solidFill>
                <a:latin typeface="Calibri"/>
              </a:rPr>
              <a:t>2. Un jugador no está en jaque, pero no dispone de ninguna jugada legal en su turno. ¿Qué resultado corresponde?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334E68"/>
                </a:solidFill>
                <a:latin typeface="Calibri"/>
              </a:rPr>
              <a:t>3. ¿Cuándo se pierde para siempre el derecho a enrocar de un lado?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334E68"/>
                </a:solidFill>
                <a:latin typeface="Calibri"/>
              </a:rPr>
              <a:t>4. Quedan en el tablero rey contra rey. ¿Qué corresponde?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334E68"/>
                </a:solidFill>
                <a:latin typeface="Calibri"/>
              </a:rPr>
              <a:t>5. ¿Cuándo puede un jugador decir «compongo» para acomodar una pieza?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334E68"/>
                </a:solidFill>
                <a:latin typeface="Calibri"/>
              </a:rPr>
              <a:t>6. ¿Qué debe anotar cada jugador en su planilla en una partida de ritmo clásico?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0B429"/>
                </a:solidFill>
                <a:latin typeface="Calibri"/>
              </a:rPr>
              <a:t>TAREA PARA LA PRÓXIMA SESIÓN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FFFFFF"/>
                </a:solidFill>
                <a:latin typeface="Cambria"/>
              </a:rPr>
              <a:t>Leer el capítulo de reglas básicas de las Leyes de Ajedrez de la FIDE y completar una ficha breve de reflexión sobre una situación de arbitraje básica vivida en su contexto educativo.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¿Dudas? Este es el momento. Gracias por tu participación.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9FB3C8"/>
                </a:solidFill>
                <a:latin typeface="Calibri"/>
              </a:rPr>
              <a:t>Formación Ajedrez · Sesión 1 · ajedrez-integral.com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