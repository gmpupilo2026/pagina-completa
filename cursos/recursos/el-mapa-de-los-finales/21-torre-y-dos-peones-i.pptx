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5: Finales de torre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21
Torre y dos peones contra torre (I)</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69 a 72 · 13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Conocer los peones doblados, los peones de torre y alfil con el rey cortado en octava y el peón de alfil en quinta.</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Con dos peones el bando fuerte casi siempre gana, pero los peones doblados y los de torre y alfil tienen defensas conocidas.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69 · Peones doblados centrales</a:t>
            </a:r>
          </a:p>
          <a:p>
            <a:pPr>
              <a:spcAft>
                <a:spcPts val="600"/>
              </a:spcAft>
            </a:pPr>
            <a:r>
              <a:rPr sz="1600">
                <a:solidFill>
                  <a:srgbClr val="1F2937"/>
                </a:solidFill>
                <a:latin typeface="Calibri"/>
              </a:rPr>
              <a:t>•  Final 70 · Peones doblados de caballo. Defensa de la segunda fila</a:t>
            </a:r>
          </a:p>
          <a:p>
            <a:pPr>
              <a:spcAft>
                <a:spcPts val="600"/>
              </a:spcAft>
            </a:pPr>
            <a:r>
              <a:rPr sz="1600">
                <a:solidFill>
                  <a:srgbClr val="1F2937"/>
                </a:solidFill>
                <a:latin typeface="Calibri"/>
              </a:rPr>
              <a:t>•  Final 71 · Peones de torre y alfil. El rey cortado en octava</a:t>
            </a:r>
          </a:p>
          <a:p>
            <a:pPr>
              <a:spcAft>
                <a:spcPts val="600"/>
              </a:spcAft>
            </a:pPr>
            <a:r>
              <a:rPr sz="1600">
                <a:solidFill>
                  <a:srgbClr val="1F2937"/>
                </a:solidFill>
                <a:latin typeface="Calibri"/>
              </a:rPr>
              <a:t>•  Final 72 · Peón de alfil en quinta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69 · Peones doblados centrales</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Dos peones doblados casi nunca ganan, pero no todos los métodos de un solo peón siguen sirviendo. Se empieza con Philidor; cuando el bando fuerte la rompe ofreciendo el cambio de torres, se pasa a Kling y Horwitz colocando la torre en la fila del peón atrasado para capturarlo.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Con peones doblados centrales: Philidor primero; cuando la oferta de cambio de torres la rompe, K&amp;H con la torre en la fila del peón retrasado.</a:t>
            </a:r>
          </a:p>
          <a:p>
            <a:pPr>
              <a:spcAft>
                <a:spcPts val="600"/>
              </a:spcAft>
            </a:pPr>
            <a:r>
              <a:rPr sz="1600">
                <a:solidFill>
                  <a:srgbClr val="1F2937"/>
                </a:solidFill>
                <a:latin typeface="Calibri"/>
              </a:rPr>
              <a:t>•  Al colocar la torre por detrás hay que hacerlo capturando el segundo peón; de lo contrario la presencia del segundo peón hace ineficaz la defensa.</a:t>
            </a:r>
          </a:p>
          <a:p>
            <a:pPr>
              <a:spcAft>
                <a:spcPts val="600"/>
              </a:spcAft>
            </a:pPr>
            <a:r>
              <a:rPr sz="1600">
                <a:solidFill>
                  <a:srgbClr val="1F2937"/>
                </a:solidFill>
                <a:latin typeface="Calibri"/>
              </a:rPr>
              <a:t>•  No hay que asustarse del cambio de torres: es tablas, pero el final de peones sí se pierde.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6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69 · Peones doblados centrales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 Philidor a Kling y Horwitz</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1.Tb7 Tg6 2.Tb6 Tg4 3.d6 Tg1 4.Rc6 Tc1+ 5.Rd5 Th1 6.Tb8+ Rd7 7.Tb7+ Rd8 8.d7 Th5+ 9.Rc6 Th6+ 10.Rc5 Th5+ 11.d5 Th6 12.d6 Txd6</a:t>
            </a:r>
          </a:p>
        </p:txBody>
      </p:sp>
      <p:sp>
        <p:nvSpPr>
          <p:cNvPr id="7" name="TextBox 6"/>
          <p:cNvSpPr txBox="1"/>
          <p:nvPr/>
        </p:nvSpPr>
        <p:spPr>
          <a:xfrm>
            <a:off x="6309360" y="3141617"/>
            <a:ext cx="5486400" cy="2984862"/>
          </a:xfrm>
          <a:prstGeom prst="rect">
            <a:avLst/>
          </a:prstGeom>
          <a:noFill/>
        </p:spPr>
        <p:txBody>
          <a:bodyPr wrap="square" anchor="t">
            <a:spAutoFit/>
          </a:bodyPr>
          <a:lstStyle/>
          <a:p>
            <a:pPr algn="l">
              <a:spcAft>
                <a:spcPts val="400"/>
              </a:spcAft>
            </a:pPr>
            <a:r>
              <a:rPr sz="1500" b="0" i="0">
                <a:solidFill>
                  <a:srgbClr val="1F2937"/>
                </a:solidFill>
                <a:latin typeface="Calibri"/>
              </a:rPr>
              <a:t>2.Tb6 rompe Philidor; 2...Tg4! ataca el peón atrasado. Tras 3.d6 la torre va atrás a dar jaques y el peón de d4 sólo ofrece un refugio pálido.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6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69 · Peones doblados centrales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complicarse la vida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2.Ta7+ Rc8 3.Rc6 Tc1+ 4.Rd6 Tc4 5.Re5 Tb4</a:t>
            </a:r>
          </a:p>
        </p:txBody>
      </p:sp>
      <p:sp>
        <p:nvSpPr>
          <p:cNvPr id="7" name="TextBox 6"/>
          <p:cNvSpPr txBox="1"/>
          <p:nvPr/>
        </p:nvSpPr>
        <p:spPr>
          <a:xfrm>
            <a:off x="6309360" y="2843784"/>
            <a:ext cx="5486400" cy="3282696"/>
          </a:xfrm>
          <a:prstGeom prst="rect">
            <a:avLst/>
          </a:prstGeom>
          <a:noFill/>
        </p:spPr>
        <p:txBody>
          <a:bodyPr wrap="square" anchor="t">
            <a:spAutoFit/>
          </a:bodyPr>
          <a:lstStyle/>
          <a:p>
            <a:pPr algn="l">
              <a:spcAft>
                <a:spcPts val="400"/>
              </a:spcAft>
            </a:pPr>
            <a:r>
              <a:rPr sz="1500" b="0" i="0">
                <a:solidFill>
                  <a:srgbClr val="1F2937"/>
                </a:solidFill>
                <a:latin typeface="Calibri"/>
              </a:rPr>
              <a:t>Tras 2...Tg7?! 3.Tb8+ Rc7 4.Ta8 todavía se salva con 4...Tg1! (4...Tg6? 5.d6+), pero la defensa es más difícil. Si hay un método claro, mejor no apartarse de él.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70 · Peones doblados de caballo. Defensa de la segunda fila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peones de caballo doblados, la defensa de la primera fila no sirve (el bando fuerte cambia torres en buenas condiciones), pero Philidor no puede romperse por falta de espacio. Si no se llega a Philidor, queda la defensa de la segunda fila: rey y torre en la segunda hasta que el peón avance a sexta.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Peones de caballo doblados: evitar que el rey sea empujado a la octava. Philidor no puede romperse, o bien defensa de la segunda fila.</a:t>
            </a:r>
          </a:p>
          <a:p>
            <a:pPr>
              <a:spcAft>
                <a:spcPts val="600"/>
              </a:spcAft>
            </a:pPr>
            <a:r>
              <a:rPr sz="1600">
                <a:solidFill>
                  <a:srgbClr val="1F2937"/>
                </a:solidFill>
                <a:latin typeface="Calibri"/>
              </a:rPr>
              <a:t>•  Defensa de la segunda fila: rey y torre en la segunda hasta que el peón llegue a sexta; entonces jaques por detrás.</a:t>
            </a:r>
          </a:p>
          <a:p>
            <a:pPr>
              <a:spcAft>
                <a:spcPts val="600"/>
              </a:spcAft>
            </a:pPr>
            <a:r>
              <a:rPr sz="1600">
                <a:solidFill>
                  <a:srgbClr val="1F2937"/>
                </a:solidFill>
                <a:latin typeface="Calibri"/>
              </a:rPr>
              <a:t>•  Con peones de torre doblados la defensa es fácil.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70 · Peones doblados de caballo. Defensa de la segunda fila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Kolesnikov - Bocharov, Sochi 2004</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1.Tb2 Ta4 2.Tc2 g5 3.Tb2 g3 4.Tb8</a:t>
            </a:r>
          </a:p>
        </p:txBody>
      </p:sp>
      <p:sp>
        <p:nvSpPr>
          <p:cNvPr id="7" name="TextBox 6"/>
          <p:cNvSpPr txBox="1"/>
          <p:nvPr/>
        </p:nvSpPr>
        <p:spPr>
          <a:xfrm>
            <a:off x="6309360" y="2781082"/>
            <a:ext cx="5486400" cy="3345397"/>
          </a:xfrm>
          <a:prstGeom prst="rect">
            <a:avLst/>
          </a:prstGeom>
          <a:noFill/>
        </p:spPr>
        <p:txBody>
          <a:bodyPr wrap="square" anchor="t">
            <a:spAutoFit/>
          </a:bodyPr>
          <a:lstStyle/>
          <a:p>
            <a:pPr algn="l">
              <a:spcAft>
                <a:spcPts val="400"/>
              </a:spcAft>
            </a:pPr>
            <a:r>
              <a:rPr sz="1500" b="0" i="0">
                <a:solidFill>
                  <a:srgbClr val="1F2937"/>
                </a:solidFill>
                <a:latin typeface="Calibri"/>
              </a:rPr>
              <a:t>En la partida siguió 1.Tb8? Ta2+ 2.Rg1 Rh3 3.Tb3+ g3 4.Tb1 y el segundo peón decidió. 1.Tb2! mantiene el esquema de la segunda fila; cuando el peón llega a sexta (después del rey), jaques por detrás.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71 · Peones de torre y alfil. El rey cortado en octava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El famoso final de tablas con peones de torre y alfil: casi todos saben que es tablas pero pocos saben defenderlo. Con el rey defensor cortado en la última fila, casi siempre se pierde; con los dos peones en sexta, la victoria es fácil.</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defensor cortado en octava: casi siempre se pierde; con los dos peones en sexta, con seguridad.</a:t>
            </a:r>
          </a:p>
          <a:p>
            <a:pPr>
              <a:spcAft>
                <a:spcPts val="600"/>
              </a:spcAft>
            </a:pPr>
            <a:r>
              <a:rPr sz="1600">
                <a:solidFill>
                  <a:srgbClr val="1F2937"/>
                </a:solidFill>
                <a:latin typeface="Calibri"/>
              </a:rPr>
              <a:t>•  Con el rey defensor tan cerca de la banda, ojo con el ahogado: no capturar la torre en f7 si eso ahoga.</a:t>
            </a:r>
          </a:p>
          <a:p>
            <a:pPr>
              <a:spcAft>
                <a:spcPts val="600"/>
              </a:spcAft>
            </a:pPr>
            <a:r>
              <a:rPr sz="1600">
                <a:solidFill>
                  <a:srgbClr val="1F2937"/>
                </a:solidFill>
                <a:latin typeface="Calibri"/>
              </a:rPr>
              <a:t>•  Peón de alfil en quinta y peón de torre en sexta: también se gana, con una maniobra muy precisa.</a:t>
            </a:r>
          </a:p>
          <a:p>
            <a:pPr>
              <a:spcAft>
                <a:spcPts val="600"/>
              </a:spcAft>
            </a:pPr>
            <a:r>
              <a:rPr sz="1600">
                <a:solidFill>
                  <a:srgbClr val="1F2937"/>
                </a:solidFill>
                <a:latin typeface="Calibri"/>
              </a:rPr>
              <a:t>•  No avanzar el peón de alfil a sexta antes de que el peón de torre haya llegado a esa fila.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Los dos peones en sexta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1...Tg1+ 2.Rf5 Tf1+ 3.Re6 Te1+ 4.Rd6 Td1+ 5.Re7 Te1+ 6.Rd8 Td1+ 7.Re8 Te1+ 8.Te7 Tf1 9.f7+ Rh8 10.Te6</a:t>
            </a:r>
          </a:p>
        </p:txBody>
      </p:sp>
      <p:sp>
        <p:nvSpPr>
          <p:cNvPr id="7" name="TextBox 6"/>
          <p:cNvSpPr txBox="1"/>
          <p:nvPr/>
        </p:nvSpPr>
        <p:spPr>
          <a:xfrm>
            <a:off x="6309360" y="3047564"/>
            <a:ext cx="5486400" cy="3078915"/>
          </a:xfrm>
          <a:prstGeom prst="rect">
            <a:avLst/>
          </a:prstGeom>
          <a:noFill/>
        </p:spPr>
        <p:txBody>
          <a:bodyPr wrap="square" anchor="t">
            <a:spAutoFit/>
          </a:bodyPr>
          <a:lstStyle/>
          <a:p>
            <a:pPr algn="l">
              <a:spcAft>
                <a:spcPts val="400"/>
              </a:spcAft>
            </a:pPr>
            <a:r>
              <a:rPr sz="1500" b="0" i="0">
                <a:solidFill>
                  <a:srgbClr val="1F2937"/>
                </a:solidFill>
                <a:latin typeface="Calibri"/>
              </a:rPr>
              <a:t>Se amenaza h7 seguido de Tb8 y f7; las negras sólo pueden jaquear y el rey blanco camina hasta e8. Cuidado con 3.Re5? Te1+ ... 6.h7+ Rh8 7.f7 Txf7! con torre loca.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Peón de alfil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1...Tg1+ 2.Rf6 Th1 3.Tg7+ Rf8 4.Rg6 Tg1+ 5.Rh7 Tf1 6.Ta7 Tg1 7.f6 Tg2 8.Tg7 Tf2 9.Rg6</a:t>
            </a:r>
          </a:p>
        </p:txBody>
      </p:sp>
      <p:sp>
        <p:nvSpPr>
          <p:cNvPr id="7" name="TextBox 6"/>
          <p:cNvSpPr txBox="1"/>
          <p:nvPr/>
        </p:nvSpPr>
        <p:spPr>
          <a:xfrm>
            <a:off x="6309360" y="2984862"/>
            <a:ext cx="5486400" cy="3141617"/>
          </a:xfrm>
          <a:prstGeom prst="rect">
            <a:avLst/>
          </a:prstGeom>
          <a:noFill/>
        </p:spPr>
        <p:txBody>
          <a:bodyPr wrap="square" anchor="t">
            <a:spAutoFit/>
          </a:bodyPr>
          <a:lstStyle/>
          <a:p>
            <a:pPr algn="l">
              <a:spcAft>
                <a:spcPts val="400"/>
              </a:spcAft>
            </a:pPr>
            <a:r>
              <a:rPr sz="1500" b="0" i="0">
                <a:solidFill>
                  <a:srgbClr val="1F2937"/>
                </a:solidFill>
                <a:latin typeface="Calibri"/>
              </a:rPr>
              <a:t>Las negras tienen tres planes (detrás del peón h, detrás del peón f, o esperar) y todos pierden. Cuando se acaban los jaques no se puede parar h7 y Tg8.</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sexta, rey cortado en octava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(posición analizada).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sexta, con el peón h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Tablas: jaques por detrás. Los métodos clásicos de espera fallarían si el peón h ya estuviera en sexta.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1-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71 · Peones de torre y alfil. El rey cortado en octava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sexta, peón h en cuarta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Tablas: jaques por detrás. Conclusión: no avanzar el peón de alfil a sexta antes que el de torre.</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72 · Peón de alfil en quinta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el rey cortado en octava, el peón de alfil en quinta es la mejor garantía de victoria: los métodos clásicos del defensor fallan porque no hay tiempo de tomar el peón de torre y lograr la efectividad lejana. Con el peón de alfil en cuarta, la posición del peón de torre decide.</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cortado en octava y peón de alfil en quinta: se gana con el mismo método, esté el peón de torre en sexta o en quinta.</a:t>
            </a:r>
          </a:p>
          <a:p>
            <a:pPr>
              <a:spcAft>
                <a:spcPts val="600"/>
              </a:spcAft>
            </a:pPr>
            <a:r>
              <a:rPr sz="1600">
                <a:solidFill>
                  <a:srgbClr val="1F2937"/>
                </a:solidFill>
                <a:latin typeface="Calibri"/>
              </a:rPr>
              <a:t>•  Con el peón de alfil en cuarta: tablas si el peón h está en sexta (jaque y atacar el peón h); con el peón h en quinta o cuarta, los módulos modernos indican que se gana.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quinta, peón h en sexta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mismo método.</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quinta, peón h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mismo método.</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cuarta, peón h en sexta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1...Tg1+ 2.Rf6 Th1</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Tablas con el método de dar jaque y atacar el peón h. Posición que surge en el curso normal del final.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cuarta, peón h en quinta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Blancas ganan: contra el ataque al peón h responden f5 ignorando la amenaza.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72-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72 · Peón de alfil en quinta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Serie: peón de alfil en cuarta, peón h en cuarta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3886200"/>
          </a:xfrm>
          <a:prstGeom prst="rect">
            <a:avLst/>
          </a:prstGeom>
          <a:noFill/>
        </p:spPr>
        <p:txBody>
          <a:bodyPr wrap="square" anchor="t">
            <a:spAutoFit/>
          </a:bodyPr>
          <a:lstStyle/>
          <a:p>
            <a:pPr algn="l">
              <a:spcAft>
                <a:spcPts val="400"/>
              </a:spcAft>
            </a:pPr>
            <a:r>
              <a:rPr sz="1500" b="0" i="0">
                <a:solidFill>
                  <a:srgbClr val="1F2937"/>
                </a:solidFill>
                <a:latin typeface="Calibri"/>
              </a:rPr>
              <a:t>El libro la da como tablas por el método de jaque y ataque al peón h, pero el análisis con motor y tablas de finales muestra que con juego exacto las blancas ganan: con f4 y h4 el peón h todavía tiene tiempo de apoyarse. Buen ejemplo de que la teoría se revisa.</a:t>
            </a:r>
          </a:p>
        </p:txBody>
      </p:sp>
      <p:sp>
        <p:nvSpPr>
          <p:cNvPr id="7" name="TextBox 6"/>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Juega el sistema defensivo de la segunda fila con peones doblados de caballo.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21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