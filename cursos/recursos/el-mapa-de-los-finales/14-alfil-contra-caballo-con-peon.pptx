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A43"/>
        </a:solidFill>
        <a:effectLst/>
      </p:bgPr>
    </p:bg>
    <p:spTree>
      <p:nvGrpSpPr>
        <p:cNvPr id="1" name=""/>
        <p:cNvGrpSpPr/>
        <p:nvPr/>
      </p:nvGrpSpPr>
      <p:grpSpPr/>
      <p:sp>
        <p:nvSpPr>
          <p:cNvPr id="2" name="TextBox 1"/>
          <p:cNvSpPr txBox="1"/>
          <p:nvPr/>
        </p:nvSpPr>
        <p:spPr>
          <a:xfrm>
            <a:off x="731520" y="914400"/>
            <a:ext cx="10515600" cy="457200"/>
          </a:xfrm>
          <a:prstGeom prst="rect">
            <a:avLst/>
          </a:prstGeom>
          <a:noFill/>
        </p:spPr>
        <p:txBody>
          <a:bodyPr wrap="square" anchor="t">
            <a:spAutoFit/>
          </a:bodyPr>
          <a:lstStyle/>
          <a:p>
            <a:pPr algn="l">
              <a:spcAft>
                <a:spcPts val="400"/>
              </a:spcAft>
            </a:pPr>
            <a:r>
              <a:rPr sz="1400" b="1" i="0">
                <a:solidFill>
                  <a:srgbClr val="F0B429"/>
                </a:solidFill>
                <a:latin typeface="Calibri"/>
              </a:rPr>
              <a:t>El mapa de los finales  ·  Bloque 4: Piezas menores con peones</a:t>
            </a:r>
          </a:p>
        </p:txBody>
      </p:sp>
      <p:sp>
        <p:nvSpPr>
          <p:cNvPr id="3" name="TextBox 2"/>
          <p:cNvSpPr txBox="1"/>
          <p:nvPr/>
        </p:nvSpPr>
        <p:spPr>
          <a:xfrm>
            <a:off x="731520" y="1463040"/>
            <a:ext cx="10515600" cy="2743200"/>
          </a:xfrm>
          <a:prstGeom prst="rect">
            <a:avLst/>
          </a:prstGeom>
          <a:noFill/>
        </p:spPr>
        <p:txBody>
          <a:bodyPr wrap="square" anchor="t">
            <a:spAutoFit/>
          </a:bodyPr>
          <a:lstStyle/>
          <a:p>
            <a:pPr algn="l">
              <a:spcAft>
                <a:spcPts val="400"/>
              </a:spcAft>
            </a:pPr>
            <a:r>
              <a:rPr sz="4000" b="1" i="0">
                <a:solidFill>
                  <a:srgbClr val="FFFFFF"/>
                </a:solidFill>
                <a:latin typeface="Georgia"/>
              </a:rPr>
              <a:t>Lección 14
Alfil contra caballo con un peón</a:t>
            </a:r>
          </a:p>
        </p:txBody>
      </p:sp>
      <p:sp>
        <p:nvSpPr>
          <p:cNvPr id="4" name="TextBox 3"/>
          <p:cNvSpPr txBox="1"/>
          <p:nvPr/>
        </p:nvSpPr>
        <p:spPr>
          <a:xfrm>
            <a:off x="731520" y="4206240"/>
            <a:ext cx="10515600" cy="1371600"/>
          </a:xfrm>
          <a:prstGeom prst="rect">
            <a:avLst/>
          </a:prstGeom>
          <a:noFill/>
        </p:spPr>
        <p:txBody>
          <a:bodyPr wrap="square" anchor="t">
            <a:spAutoFit/>
          </a:bodyPr>
          <a:lstStyle/>
          <a:p>
            <a:pPr algn="l">
              <a:spcAft>
                <a:spcPts val="400"/>
              </a:spcAft>
            </a:pPr>
            <a:r>
              <a:rPr sz="1800" b="0" i="0">
                <a:solidFill>
                  <a:srgbClr val="F0F4F8"/>
                </a:solidFill>
                <a:latin typeface="Calibri"/>
              </a:rPr>
              <a:t>Finales 37 a 40 · 11 posiciones</a:t>
            </a:r>
          </a:p>
        </p:txBody>
      </p:sp>
      <p:sp>
        <p:nvSpPr>
          <p:cNvPr id="5" name="TextBox 4"/>
          <p:cNvSpPr txBox="1"/>
          <p:nvPr/>
        </p:nvSpPr>
        <p:spPr>
          <a:xfrm>
            <a:off x="731520" y="5943600"/>
            <a:ext cx="10515600" cy="457200"/>
          </a:xfrm>
          <a:prstGeom prst="rect">
            <a:avLst/>
          </a:prstGeom>
          <a:noFill/>
        </p:spPr>
        <p:txBody>
          <a:bodyPr wrap="square" anchor="t">
            <a:spAutoFit/>
          </a:bodyPr>
          <a:lstStyle/>
          <a:p>
            <a:pPr algn="l">
              <a:spcAft>
                <a:spcPts val="400"/>
              </a:spcAft>
            </a:pPr>
            <a:r>
              <a:rPr sz="1200" b="0" i="0">
                <a:solidFill>
                  <a:srgbClr val="F0B429"/>
                </a:solidFill>
                <a:latin typeface="Calibri"/>
              </a:rPr>
              <a:t>Ajedrez Integral · Oscar Angulo Cubero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800" b="1" i="0">
                <a:solidFill>
                  <a:srgbClr val="102A43"/>
                </a:solidFill>
                <a:latin typeface="Georgia"/>
              </a:rPr>
              <a:t>Objetivo de la lección</a:t>
            </a:r>
          </a:p>
        </p:txBody>
      </p:sp>
      <p:sp>
        <p:nvSpPr>
          <p:cNvPr id="3" name="TextBox 2"/>
          <p:cNvSpPr txBox="1"/>
          <p:nvPr/>
        </p:nvSpPr>
        <p:spPr>
          <a:xfrm>
            <a:off x="640080" y="1280160"/>
            <a:ext cx="10972800" cy="1943100"/>
          </a:xfrm>
          <a:prstGeom prst="rect">
            <a:avLst/>
          </a:prstGeom>
          <a:noFill/>
        </p:spPr>
        <p:txBody>
          <a:bodyPr wrap="square" anchor="t">
            <a:spAutoFit/>
          </a:bodyPr>
          <a:lstStyle/>
          <a:p>
            <a:pPr algn="l">
              <a:spcAft>
                <a:spcPts val="400"/>
              </a:spcAft>
            </a:pPr>
            <a:r>
              <a:rPr sz="1800" b="0" i="0">
                <a:solidFill>
                  <a:srgbClr val="1F2937"/>
                </a:solidFill>
                <a:latin typeface="Calibri"/>
              </a:rPr>
              <a:t>Saber cuándo caballo y peón ganan al alfil, cuándo alfil y peón ganan al caballo y cómo controlar al caballo desde una posición precaria.</a:t>
            </a:r>
          </a:p>
          <a:p>
            <a:pPr algn="l">
              <a:spcAft>
                <a:spcPts val="400"/>
              </a:spcAft>
            </a:pPr>
            <a:r>
              <a:rPr sz="1800" b="0" i="0">
                <a:solidFill>
                  <a:srgbClr val="1F2937"/>
                </a:solidFill>
                <a:latin typeface="Calibri"/>
              </a:rPr>
              <a:t/>
            </a:r>
          </a:p>
          <a:p>
            <a:pPr algn="l">
              <a:spcAft>
                <a:spcPts val="400"/>
              </a:spcAft>
            </a:pPr>
            <a:r>
              <a:rPr sz="1800" b="0" i="0">
                <a:solidFill>
                  <a:srgbClr val="1F2937"/>
                </a:solidFill>
                <a:latin typeface="Calibri"/>
              </a:rPr>
              <a:t>Idea guía: El caballo sufre contra el peón de torre y en la banda; el alfil sufre cuando el peón llega a séptima y el caballo tiene una casilla de bloqueo.</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14 · Ajedrez Integral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800" b="1" i="0">
                <a:solidFill>
                  <a:srgbClr val="102A43"/>
                </a:solidFill>
                <a:latin typeface="Georgia"/>
              </a:rPr>
              <a:t>Contenido</a:t>
            </a:r>
          </a:p>
        </p:txBody>
      </p:sp>
      <p:sp>
        <p:nvSpPr>
          <p:cNvPr id="3" name="TextBox 2"/>
          <p:cNvSpPr txBox="1"/>
          <p:nvPr/>
        </p:nvSpPr>
        <p:spPr>
          <a:xfrm>
            <a:off x="640080" y="1280160"/>
            <a:ext cx="10972800" cy="4937760"/>
          </a:xfrm>
          <a:prstGeom prst="rect">
            <a:avLst/>
          </a:prstGeom>
          <a:noFill/>
        </p:spPr>
        <p:txBody>
          <a:bodyPr wrap="square">
            <a:spAutoFit/>
          </a:bodyPr>
          <a:lstStyle/>
          <a:p>
            <a:pPr>
              <a:spcAft>
                <a:spcPts val="600"/>
              </a:spcAft>
            </a:pPr>
            <a:r>
              <a:rPr sz="1600">
                <a:solidFill>
                  <a:srgbClr val="1F2937"/>
                </a:solidFill>
                <a:latin typeface="Calibri"/>
              </a:rPr>
              <a:t>•  Final 37 · Caballo y peón contra alfil: peón central</a:t>
            </a:r>
          </a:p>
          <a:p>
            <a:pPr>
              <a:spcAft>
                <a:spcPts val="600"/>
              </a:spcAft>
            </a:pPr>
            <a:r>
              <a:rPr sz="1600">
                <a:solidFill>
                  <a:srgbClr val="1F2937"/>
                </a:solidFill>
                <a:latin typeface="Calibri"/>
              </a:rPr>
              <a:t>•  Final 38 · Caballo y peón contra alfil: peón de torre</a:t>
            </a:r>
          </a:p>
          <a:p>
            <a:pPr>
              <a:spcAft>
                <a:spcPts val="600"/>
              </a:spcAft>
            </a:pPr>
            <a:r>
              <a:rPr sz="1600">
                <a:solidFill>
                  <a:srgbClr val="1F2937"/>
                </a:solidFill>
                <a:latin typeface="Calibri"/>
              </a:rPr>
              <a:t>•  Final 39 · Alfil y peón contra caballo: peón en séptima</a:t>
            </a:r>
          </a:p>
          <a:p>
            <a:pPr>
              <a:spcAft>
                <a:spcPts val="600"/>
              </a:spcAft>
            </a:pPr>
            <a:r>
              <a:rPr sz="1600">
                <a:solidFill>
                  <a:srgbClr val="1F2937"/>
                </a:solidFill>
                <a:latin typeface="Calibri"/>
              </a:rPr>
              <a:t>•  Final 40 · Control del caballo desde posición precaria</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14 · Ajedrez Integral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800" b="1" i="0">
                <a:solidFill>
                  <a:srgbClr val="102A43"/>
                </a:solidFill>
                <a:latin typeface="Georgia"/>
              </a:rPr>
              <a:t>Final 37 · Caballo y peón contra alfil: peón central</a:t>
            </a:r>
          </a:p>
        </p:txBody>
      </p:sp>
      <p:sp>
        <p:nvSpPr>
          <p:cNvPr id="3" name="TextBox 2"/>
          <p:cNvSpPr txBox="1"/>
          <p:nvPr/>
        </p:nvSpPr>
        <p:spPr>
          <a:xfrm>
            <a:off x="640080" y="1280160"/>
            <a:ext cx="10972800" cy="1165860"/>
          </a:xfrm>
          <a:prstGeom prst="rect">
            <a:avLst/>
          </a:prstGeom>
          <a:noFill/>
        </p:spPr>
        <p:txBody>
          <a:bodyPr wrap="square" anchor="t">
            <a:spAutoFit/>
          </a:bodyPr>
          <a:lstStyle/>
          <a:p>
            <a:pPr algn="l">
              <a:spcAft>
                <a:spcPts val="400"/>
              </a:spcAft>
            </a:pPr>
            <a:r>
              <a:rPr sz="1800" b="0" i="0">
                <a:solidFill>
                  <a:srgbClr val="1F2937"/>
                </a:solidFill>
                <a:latin typeface="Calibri"/>
              </a:rPr>
              <a:t>El alfil hace tablas con facilidad contra caballo y peón: si dispone de dos diagonales de cinco casillas ni siquiera necesita a su rey. Con una diagonal de cuatro casillas, rey y caballo pueden coparla y el alfil necesita ayuda, que suele llegar a tiempo.</a:t>
            </a:r>
          </a:p>
        </p:txBody>
      </p:sp>
      <p:sp>
        <p:nvSpPr>
          <p:cNvPr id="4" name="TextBox 3"/>
          <p:cNvSpPr txBox="1"/>
          <p:nvPr/>
        </p:nvSpPr>
        <p:spPr>
          <a:xfrm>
            <a:off x="640080" y="2583180"/>
            <a:ext cx="10972800" cy="3634739"/>
          </a:xfrm>
          <a:prstGeom prst="rect">
            <a:avLst/>
          </a:prstGeom>
          <a:noFill/>
        </p:spPr>
        <p:txBody>
          <a:bodyPr wrap="square">
            <a:spAutoFit/>
          </a:bodyPr>
          <a:lstStyle/>
          <a:p>
            <a:pPr>
              <a:spcAft>
                <a:spcPts val="600"/>
              </a:spcAft>
            </a:pPr>
            <a:r>
              <a:rPr sz="1600">
                <a:solidFill>
                  <a:srgbClr val="1F2937"/>
                </a:solidFill>
                <a:latin typeface="Calibri"/>
              </a:rPr>
              <a:t>•  Si el alfil tiene dos diagonales de cinco casillas para frenar el peón, no necesita a su rey.</a:t>
            </a:r>
          </a:p>
          <a:p>
            <a:pPr>
              <a:spcAft>
                <a:spcPts val="600"/>
              </a:spcAft>
            </a:pPr>
            <a:r>
              <a:rPr sz="1600">
                <a:solidFill>
                  <a:srgbClr val="1F2937"/>
                </a:solidFill>
                <a:latin typeface="Calibri"/>
              </a:rPr>
              <a:t>•  Si la diagonal corta tiene cuatro casillas, el alfil puede ser desalojado: rey y caballo controlan dos casillas cada uno. Cuesta tanto que el rey defensor tiene que estar muy lejos para perder.</a:t>
            </a:r>
          </a:p>
          <a:p>
            <a:pPr>
              <a:spcAft>
                <a:spcPts val="600"/>
              </a:spcAft>
            </a:pPr>
            <a:r>
              <a:rPr sz="1600">
                <a:solidFill>
                  <a:srgbClr val="1F2937"/>
                </a:solidFill>
                <a:latin typeface="Calibri"/>
              </a:rPr>
              <a:t>•  Con la diagonal corta aún menor, crecen las posibilidades del caballo.</a:t>
            </a:r>
          </a:p>
          <a:p>
            <a:pPr>
              <a:spcAft>
                <a:spcPts val="600"/>
              </a:spcAft>
            </a:pPr>
            <a:r>
              <a:rPr sz="1600">
                <a:solidFill>
                  <a:srgbClr val="1F2937"/>
                </a:solidFill>
                <a:latin typeface="Calibri"/>
              </a:rPr>
              <a:t>•  El alfil elige diagonal según el salto del caballo: cuando el caballo sale a una casilla mala, el alfil vuelve a la diagonal larga.</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14 · Ajedrez Integral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37-1.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Final 37 · Caballo y peón contra alfil: peón central</a:t>
            </a:r>
          </a:p>
        </p:txBody>
      </p:sp>
      <p:sp>
        <p:nvSpPr>
          <p:cNvPr id="4" name="TextBox 3"/>
          <p:cNvSpPr txBox="1"/>
          <p:nvPr/>
        </p:nvSpPr>
        <p:spPr>
          <a:xfrm>
            <a:off x="6309360" y="777240"/>
            <a:ext cx="5486400" cy="1097280"/>
          </a:xfrm>
          <a:prstGeom prst="rect">
            <a:avLst/>
          </a:prstGeom>
          <a:noFill/>
        </p:spPr>
        <p:txBody>
          <a:bodyPr wrap="square" anchor="t">
            <a:spAutoFit/>
          </a:bodyPr>
          <a:lstStyle/>
          <a:p>
            <a:pPr algn="l">
              <a:spcAft>
                <a:spcPts val="400"/>
              </a:spcAft>
            </a:pPr>
            <a:r>
              <a:rPr sz="2200" b="1" i="0">
                <a:solidFill>
                  <a:srgbClr val="102A43"/>
                </a:solidFill>
                <a:latin typeface="Georgia"/>
              </a:rPr>
              <a:t>Chéron: un caso límite</a:t>
            </a:r>
          </a:p>
        </p:txBody>
      </p:sp>
      <p:sp>
        <p:nvSpPr>
          <p:cNvPr id="5" name="TextBox 4"/>
          <p:cNvSpPr txBox="1"/>
          <p:nvPr/>
        </p:nvSpPr>
        <p:spPr>
          <a:xfrm>
            <a:off x="6309360" y="182880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   ·   Tablas   ·   posición clave</a:t>
            </a:r>
          </a:p>
        </p:txBody>
      </p:sp>
      <p:sp>
        <p:nvSpPr>
          <p:cNvPr id="6" name="TextBox 5"/>
          <p:cNvSpPr txBox="1"/>
          <p:nvPr/>
        </p:nvSpPr>
        <p:spPr>
          <a:xfrm>
            <a:off x="6309360" y="2240280"/>
            <a:ext cx="5486400" cy="1188720"/>
          </a:xfrm>
          <a:prstGeom prst="rect">
            <a:avLst/>
          </a:prstGeom>
          <a:noFill/>
        </p:spPr>
        <p:txBody>
          <a:bodyPr wrap="square" anchor="t">
            <a:spAutoFit/>
          </a:bodyPr>
          <a:lstStyle/>
          <a:p>
            <a:pPr algn="l">
              <a:spcAft>
                <a:spcPts val="400"/>
              </a:spcAft>
            </a:pPr>
            <a:r>
              <a:rPr sz="1300" b="0" i="0">
                <a:solidFill>
                  <a:srgbClr val="243B53"/>
                </a:solidFill>
                <a:latin typeface="Consolas"/>
              </a:rPr>
              <a:t>1.Ac5+ Re2 2.Ag1 Cd1 3.Rc7 Cf2 4.Ah2 Rf1 5.Ae5 Cg4 6.Ad4 Re2 7.Ag1</a:t>
            </a:r>
          </a:p>
        </p:txBody>
      </p:sp>
      <p:sp>
        <p:nvSpPr>
          <p:cNvPr id="7" name="TextBox 6"/>
          <p:cNvSpPr txBox="1"/>
          <p:nvPr/>
        </p:nvSpPr>
        <p:spPr>
          <a:xfrm>
            <a:off x="6309360" y="2910404"/>
            <a:ext cx="5486400" cy="3216075"/>
          </a:xfrm>
          <a:prstGeom prst="rect">
            <a:avLst/>
          </a:prstGeom>
          <a:noFill/>
        </p:spPr>
        <p:txBody>
          <a:bodyPr wrap="square" anchor="t">
            <a:spAutoFit/>
          </a:bodyPr>
          <a:lstStyle/>
          <a:p>
            <a:pPr algn="l">
              <a:spcAft>
                <a:spcPts val="400"/>
              </a:spcAft>
            </a:pPr>
            <a:r>
              <a:rPr sz="1500" b="0" i="0">
                <a:solidFill>
                  <a:srgbClr val="1F2937"/>
                </a:solidFill>
                <a:latin typeface="Calibri"/>
              </a:rPr>
              <a:t>1.Ac5+ va a la diagonal larga (1.Ah4+? pierde: lo desalojan antes de que llegue el rey). 2.Ag1! y 4.Ah2! son las jugadas difíciles: el alfil espera para elegir diagonal según dónde salte el caballo.</a:t>
            </a:r>
          </a:p>
        </p:txBody>
      </p:sp>
      <p:sp>
        <p:nvSpPr>
          <p:cNvPr id="8" name="TextBox 7"/>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14 · Ajedrez Integral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37-2.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Final 37 · Caballo y peón contra alfil: peón central</a:t>
            </a:r>
          </a:p>
        </p:txBody>
      </p:sp>
      <p:sp>
        <p:nvSpPr>
          <p:cNvPr id="4" name="TextBox 3"/>
          <p:cNvSpPr txBox="1"/>
          <p:nvPr/>
        </p:nvSpPr>
        <p:spPr>
          <a:xfrm>
            <a:off x="6309360" y="777240"/>
            <a:ext cx="5486400" cy="1097280"/>
          </a:xfrm>
          <a:prstGeom prst="rect">
            <a:avLst/>
          </a:prstGeom>
          <a:noFill/>
        </p:spPr>
        <p:txBody>
          <a:bodyPr wrap="square" anchor="t">
            <a:spAutoFit/>
          </a:bodyPr>
          <a:lstStyle/>
          <a:p>
            <a:pPr algn="l">
              <a:spcAft>
                <a:spcPts val="400"/>
              </a:spcAft>
            </a:pPr>
            <a:r>
              <a:rPr sz="2200" b="1" i="0">
                <a:solidFill>
                  <a:srgbClr val="102A43"/>
                </a:solidFill>
                <a:latin typeface="Georgia"/>
              </a:rPr>
              <a:t>Diagrama de análisis: el alfil vuelve a la diagonal larga</a:t>
            </a:r>
          </a:p>
        </p:txBody>
      </p:sp>
      <p:sp>
        <p:nvSpPr>
          <p:cNvPr id="5" name="TextBox 4"/>
          <p:cNvSpPr txBox="1"/>
          <p:nvPr/>
        </p:nvSpPr>
        <p:spPr>
          <a:xfrm>
            <a:off x="6309360" y="1828800"/>
            <a:ext cx="5486400" cy="365760"/>
          </a:xfrm>
          <a:prstGeom prst="rect">
            <a:avLst/>
          </a:prstGeom>
          <a:noFill/>
        </p:spPr>
        <p:txBody>
          <a:bodyPr wrap="square" anchor="t">
            <a:spAutoFit/>
          </a:bodyPr>
          <a:lstStyle/>
          <a:p>
            <a:pPr algn="l">
              <a:spcAft>
                <a:spcPts val="400"/>
              </a:spcAft>
            </a:pPr>
            <a:r>
              <a:rPr sz="1300" b="1" i="0">
                <a:solidFill>
                  <a:srgbClr val="627D98"/>
                </a:solidFill>
                <a:latin typeface="Calibri"/>
              </a:rPr>
              <a:t>Juegan blancas   ·   Tablas</a:t>
            </a:r>
          </a:p>
        </p:txBody>
      </p:sp>
      <p:sp>
        <p:nvSpPr>
          <p:cNvPr id="6" name="TextBox 5"/>
          <p:cNvSpPr txBox="1"/>
          <p:nvPr/>
        </p:nvSpPr>
        <p:spPr>
          <a:xfrm>
            <a:off x="6309360" y="2240280"/>
            <a:ext cx="5486400" cy="1188720"/>
          </a:xfrm>
          <a:prstGeom prst="rect">
            <a:avLst/>
          </a:prstGeom>
          <a:noFill/>
        </p:spPr>
        <p:txBody>
          <a:bodyPr wrap="square" anchor="t">
            <a:spAutoFit/>
          </a:bodyPr>
          <a:lstStyle/>
          <a:p>
            <a:pPr algn="l">
              <a:spcAft>
                <a:spcPts val="400"/>
              </a:spcAft>
            </a:pPr>
            <a:r>
              <a:rPr sz="1300" b="0" i="0">
                <a:solidFill>
                  <a:srgbClr val="243B53"/>
                </a:solidFill>
                <a:latin typeface="Consolas"/>
              </a:rPr>
              <a:t>1.Ae5 Cg4 2.Ad4 Re2 3.Ag1</a:t>
            </a:r>
          </a:p>
        </p:txBody>
      </p:sp>
      <p:sp>
        <p:nvSpPr>
          <p:cNvPr id="7" name="TextBox 6"/>
          <p:cNvSpPr txBox="1"/>
          <p:nvPr/>
        </p:nvSpPr>
        <p:spPr>
          <a:xfrm>
            <a:off x="6309360" y="2749731"/>
            <a:ext cx="5486400" cy="3376748"/>
          </a:xfrm>
          <a:prstGeom prst="rect">
            <a:avLst/>
          </a:prstGeom>
          <a:noFill/>
        </p:spPr>
        <p:txBody>
          <a:bodyPr wrap="square" anchor="t">
            <a:spAutoFit/>
          </a:bodyPr>
          <a:lstStyle/>
          <a:p>
            <a:pPr algn="l">
              <a:spcAft>
                <a:spcPts val="400"/>
              </a:spcAft>
            </a:pPr>
            <a:r>
              <a:rPr sz="1500" b="0" i="0">
                <a:solidFill>
                  <a:srgbClr val="1F2937"/>
                </a:solidFill>
                <a:latin typeface="Calibri"/>
              </a:rPr>
              <a:t>Cuando el rey negro deja de controlar e3, el alfil se reinstala en la diagonal larga por el otro lado.</a:t>
            </a:r>
          </a:p>
        </p:txBody>
      </p:sp>
      <p:sp>
        <p:nvSpPr>
          <p:cNvPr id="8" name="TextBox 7"/>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14 · Ajedrez Integral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800" b="1" i="0">
                <a:solidFill>
                  <a:srgbClr val="102A43"/>
                </a:solidFill>
                <a:latin typeface="Georgia"/>
              </a:rPr>
              <a:t>Final 38 · Caballo y peón contra alfil: peón de torre</a:t>
            </a:r>
          </a:p>
        </p:txBody>
      </p:sp>
      <p:sp>
        <p:nvSpPr>
          <p:cNvPr id="3" name="TextBox 2"/>
          <p:cNvSpPr txBox="1"/>
          <p:nvPr/>
        </p:nvSpPr>
        <p:spPr>
          <a:xfrm>
            <a:off x="640080" y="1280160"/>
            <a:ext cx="10972800" cy="1165860"/>
          </a:xfrm>
          <a:prstGeom prst="rect">
            <a:avLst/>
          </a:prstGeom>
          <a:noFill/>
        </p:spPr>
        <p:txBody>
          <a:bodyPr wrap="square" anchor="t">
            <a:spAutoFit/>
          </a:bodyPr>
          <a:lstStyle/>
          <a:p>
            <a:pPr algn="l">
              <a:spcAft>
                <a:spcPts val="400"/>
              </a:spcAft>
            </a:pPr>
            <a:r>
              <a:rPr sz="1800" b="0" i="0">
                <a:solidFill>
                  <a:srgbClr val="1F2937"/>
                </a:solidFill>
                <a:latin typeface="Calibri"/>
              </a:rPr>
              <a:t>Contra el peón de torre el alfil sufre: una diagonal es cortísima o desaparece. Pero existe el recurso de Lloyd: entregar el alfil en el rincón y encerrar al rey rival, que no puede salir porque el caballo no sabe perder un tiempo.</a:t>
            </a:r>
          </a:p>
        </p:txBody>
      </p:sp>
      <p:sp>
        <p:nvSpPr>
          <p:cNvPr id="4" name="TextBox 3"/>
          <p:cNvSpPr txBox="1"/>
          <p:nvPr/>
        </p:nvSpPr>
        <p:spPr>
          <a:xfrm>
            <a:off x="640080" y="2583180"/>
            <a:ext cx="10972800" cy="3634739"/>
          </a:xfrm>
          <a:prstGeom prst="rect">
            <a:avLst/>
          </a:prstGeom>
          <a:noFill/>
        </p:spPr>
        <p:txBody>
          <a:bodyPr wrap="square">
            <a:spAutoFit/>
          </a:bodyPr>
          <a:lstStyle/>
          <a:p>
            <a:pPr>
              <a:spcAft>
                <a:spcPts val="600"/>
              </a:spcAft>
            </a:pPr>
            <a:r>
              <a:rPr sz="1600">
                <a:solidFill>
                  <a:srgbClr val="1F2937"/>
                </a:solidFill>
                <a:latin typeface="Calibri"/>
              </a:rPr>
              <a:t>•  Recurso de Lloyd: obligar al peón a llegar a séptima, dar jaque y meter el alfil en el rincón; tras la captura, el rey defensor se coloca en una casilla del mismo color que la del caballo y el rey enemigo nunca sale.</a:t>
            </a:r>
          </a:p>
          <a:p>
            <a:pPr>
              <a:spcAft>
                <a:spcPts val="600"/>
              </a:spcAft>
            </a:pPr>
            <a:r>
              <a:rPr sz="1600">
                <a:solidFill>
                  <a:srgbClr val="1F2937"/>
                </a:solidFill>
                <a:latin typeface="Calibri"/>
              </a:rPr>
              <a:t>•  Elegir la casilla del rey: la del mismo color que ocupa el caballo; así, al acercarse, el caballo sólo puede dar jaque y nunca controlar la casilla del otro color.</a:t>
            </a:r>
          </a:p>
          <a:p>
            <a:pPr>
              <a:spcAft>
                <a:spcPts val="600"/>
              </a:spcAft>
            </a:pPr>
            <a:r>
              <a:rPr sz="1600">
                <a:solidFill>
                  <a:srgbClr val="1F2937"/>
                </a:solidFill>
                <a:latin typeface="Calibri"/>
              </a:rPr>
              <a:t>•  Con el rey defensor un poco más lejos, el bando del caballo puede maniobrar para llegar al zugzwang: no hay que precipitarse en expulsar al alfil del rincón.</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14 · Ajedrez Integral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38-1.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Final 38 · Caballo y peón contra alfil: peón de torre</a:t>
            </a:r>
          </a:p>
        </p:txBody>
      </p:sp>
      <p:sp>
        <p:nvSpPr>
          <p:cNvPr id="4" name="TextBox 3"/>
          <p:cNvSpPr txBox="1"/>
          <p:nvPr/>
        </p:nvSpPr>
        <p:spPr>
          <a:xfrm>
            <a:off x="6309360" y="777240"/>
            <a:ext cx="5486400" cy="1097280"/>
          </a:xfrm>
          <a:prstGeom prst="rect">
            <a:avLst/>
          </a:prstGeom>
          <a:noFill/>
        </p:spPr>
        <p:txBody>
          <a:bodyPr wrap="square" anchor="t">
            <a:spAutoFit/>
          </a:bodyPr>
          <a:lstStyle/>
          <a:p>
            <a:pPr algn="l">
              <a:spcAft>
                <a:spcPts val="400"/>
              </a:spcAft>
            </a:pPr>
            <a:r>
              <a:rPr sz="2200" b="1" i="0">
                <a:solidFill>
                  <a:srgbClr val="102A43"/>
                </a:solidFill>
                <a:latin typeface="Georgia"/>
              </a:rPr>
              <a:t>Lloyd 1860: el recurso del rincón</a:t>
            </a:r>
          </a:p>
        </p:txBody>
      </p:sp>
      <p:sp>
        <p:nvSpPr>
          <p:cNvPr id="5" name="TextBox 4"/>
          <p:cNvSpPr txBox="1"/>
          <p:nvPr/>
        </p:nvSpPr>
        <p:spPr>
          <a:xfrm>
            <a:off x="6309360" y="182880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   ·   Tablas   ·   posición clave</a:t>
            </a:r>
          </a:p>
        </p:txBody>
      </p:sp>
      <p:sp>
        <p:nvSpPr>
          <p:cNvPr id="6" name="TextBox 5"/>
          <p:cNvSpPr txBox="1"/>
          <p:nvPr/>
        </p:nvSpPr>
        <p:spPr>
          <a:xfrm>
            <a:off x="6309360" y="2240280"/>
            <a:ext cx="5486400" cy="1188720"/>
          </a:xfrm>
          <a:prstGeom prst="rect">
            <a:avLst/>
          </a:prstGeom>
          <a:noFill/>
        </p:spPr>
        <p:txBody>
          <a:bodyPr wrap="square" anchor="t">
            <a:spAutoFit/>
          </a:bodyPr>
          <a:lstStyle/>
          <a:p>
            <a:pPr algn="l">
              <a:spcAft>
                <a:spcPts val="400"/>
              </a:spcAft>
            </a:pPr>
            <a:r>
              <a:rPr sz="1300" b="0" i="0">
                <a:solidFill>
                  <a:srgbClr val="243B53"/>
                </a:solidFill>
                <a:latin typeface="Consolas"/>
              </a:rPr>
              <a:t>1.Ad7 h2 2.Ac6+ Rg1 3.Ah1 Rxh1 4.Rf2 Cf3 5.Rf1 Cd2+ 6.Rf2 Ce4+ 7.Rf1</a:t>
            </a:r>
          </a:p>
        </p:txBody>
      </p:sp>
      <p:sp>
        <p:nvSpPr>
          <p:cNvPr id="7" name="TextBox 6"/>
          <p:cNvSpPr txBox="1"/>
          <p:nvPr/>
        </p:nvSpPr>
        <p:spPr>
          <a:xfrm>
            <a:off x="6309360" y="2918242"/>
            <a:ext cx="5486400" cy="3208237"/>
          </a:xfrm>
          <a:prstGeom prst="rect">
            <a:avLst/>
          </a:prstGeom>
          <a:noFill/>
        </p:spPr>
        <p:txBody>
          <a:bodyPr wrap="square" anchor="t">
            <a:spAutoFit/>
          </a:bodyPr>
          <a:lstStyle/>
          <a:p>
            <a:pPr algn="l">
              <a:spcAft>
                <a:spcPts val="400"/>
              </a:spcAft>
            </a:pPr>
            <a:r>
              <a:rPr sz="1500" b="0" i="0">
                <a:solidFill>
                  <a:srgbClr val="1F2937"/>
                </a:solidFill>
                <a:latin typeface="Calibri"/>
              </a:rPr>
              <a:t>Las negras amenazan Rg1 y Cg2. 1.Ad7! obliga al peón a séptima; tras 3.Ah1! el rey negro queda encerrado: 4.Rf2! (4.Rf1? Cf5 5.Rf2 Cg3 y zugzwang).</a:t>
            </a:r>
          </a:p>
        </p:txBody>
      </p:sp>
      <p:sp>
        <p:nvSpPr>
          <p:cNvPr id="8" name="TextBox 7"/>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14 · Ajedrez Integral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38-2.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Final 38 · Caballo y peón contra alfil: peón de torre</a:t>
            </a:r>
          </a:p>
        </p:txBody>
      </p:sp>
      <p:sp>
        <p:nvSpPr>
          <p:cNvPr id="4" name="TextBox 3"/>
          <p:cNvSpPr txBox="1"/>
          <p:nvPr/>
        </p:nvSpPr>
        <p:spPr>
          <a:xfrm>
            <a:off x="6309360" y="777240"/>
            <a:ext cx="5486400" cy="1097280"/>
          </a:xfrm>
          <a:prstGeom prst="rect">
            <a:avLst/>
          </a:prstGeom>
          <a:noFill/>
        </p:spPr>
        <p:txBody>
          <a:bodyPr wrap="square" anchor="t">
            <a:spAutoFit/>
          </a:bodyPr>
          <a:lstStyle/>
          <a:p>
            <a:pPr algn="l">
              <a:spcAft>
                <a:spcPts val="400"/>
              </a:spcAft>
            </a:pPr>
            <a:r>
              <a:rPr sz="2200" b="1" i="0">
                <a:solidFill>
                  <a:srgbClr val="102A43"/>
                </a:solidFill>
                <a:latin typeface="Georgia"/>
              </a:rPr>
              <a:t>Diagrama de análisis: el encierro</a:t>
            </a:r>
          </a:p>
        </p:txBody>
      </p:sp>
      <p:sp>
        <p:nvSpPr>
          <p:cNvPr id="5" name="TextBox 4"/>
          <p:cNvSpPr txBox="1"/>
          <p:nvPr/>
        </p:nvSpPr>
        <p:spPr>
          <a:xfrm>
            <a:off x="6309360" y="1828800"/>
            <a:ext cx="5486400" cy="365760"/>
          </a:xfrm>
          <a:prstGeom prst="rect">
            <a:avLst/>
          </a:prstGeom>
          <a:noFill/>
        </p:spPr>
        <p:txBody>
          <a:bodyPr wrap="square" anchor="t">
            <a:spAutoFit/>
          </a:bodyPr>
          <a:lstStyle/>
          <a:p>
            <a:pPr algn="l">
              <a:spcAft>
                <a:spcPts val="400"/>
              </a:spcAft>
            </a:pPr>
            <a:r>
              <a:rPr sz="1300" b="1" i="0">
                <a:solidFill>
                  <a:srgbClr val="627D98"/>
                </a:solidFill>
                <a:latin typeface="Calibri"/>
              </a:rPr>
              <a:t>Juegan negras   ·   Tablas</a:t>
            </a:r>
          </a:p>
        </p:txBody>
      </p:sp>
      <p:sp>
        <p:nvSpPr>
          <p:cNvPr id="6" name="TextBox 5"/>
          <p:cNvSpPr txBox="1"/>
          <p:nvPr/>
        </p:nvSpPr>
        <p:spPr>
          <a:xfrm>
            <a:off x="6309360" y="2240280"/>
            <a:ext cx="5486400" cy="1188720"/>
          </a:xfrm>
          <a:prstGeom prst="rect">
            <a:avLst/>
          </a:prstGeom>
          <a:noFill/>
        </p:spPr>
        <p:txBody>
          <a:bodyPr wrap="square" anchor="t">
            <a:spAutoFit/>
          </a:bodyPr>
          <a:lstStyle/>
          <a:p>
            <a:pPr algn="l">
              <a:spcAft>
                <a:spcPts val="400"/>
              </a:spcAft>
            </a:pPr>
            <a:r>
              <a:rPr sz="1300" b="0" i="0">
                <a:solidFill>
                  <a:srgbClr val="243B53"/>
                </a:solidFill>
                <a:latin typeface="Consolas"/>
              </a:rPr>
              <a:t>1...Rxh1 2.Rf2 Cf3 3.Rf1 Cd2+ 4.Rf2 Ce4+ 5.Rf1</a:t>
            </a:r>
          </a:p>
        </p:txBody>
      </p:sp>
      <p:sp>
        <p:nvSpPr>
          <p:cNvPr id="7" name="TextBox 6"/>
          <p:cNvSpPr txBox="1"/>
          <p:nvPr/>
        </p:nvSpPr>
        <p:spPr>
          <a:xfrm>
            <a:off x="6309360" y="2832027"/>
            <a:ext cx="5486400" cy="3294452"/>
          </a:xfrm>
          <a:prstGeom prst="rect">
            <a:avLst/>
          </a:prstGeom>
          <a:noFill/>
        </p:spPr>
        <p:txBody>
          <a:bodyPr wrap="square" anchor="t">
            <a:spAutoFit/>
          </a:bodyPr>
          <a:lstStyle/>
          <a:p>
            <a:pPr algn="l">
              <a:spcAft>
                <a:spcPts val="400"/>
              </a:spcAft>
            </a:pPr>
            <a:r>
              <a:rPr sz="1500" b="0" i="0">
                <a:solidFill>
                  <a:srgbClr val="1F2937"/>
                </a:solidFill>
                <a:latin typeface="Calibri"/>
              </a:rPr>
              <a:t>El rey blanco va a la casilla del mismo color que el caballo. Como el caballo cambia de color en cada salto, nunca podrá controlar la casilla que el rey necesita.</a:t>
            </a:r>
          </a:p>
        </p:txBody>
      </p:sp>
      <p:sp>
        <p:nvSpPr>
          <p:cNvPr id="8" name="TextBox 7"/>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14 · Ajedrez Integral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38-3.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Final 38 · Caballo y peón contra alfil: peón de torre</a:t>
            </a:r>
          </a:p>
        </p:txBody>
      </p:sp>
      <p:sp>
        <p:nvSpPr>
          <p:cNvPr id="4" name="TextBox 3"/>
          <p:cNvSpPr txBox="1"/>
          <p:nvPr/>
        </p:nvSpPr>
        <p:spPr>
          <a:xfrm>
            <a:off x="6309360" y="777240"/>
            <a:ext cx="5486400" cy="1097280"/>
          </a:xfrm>
          <a:prstGeom prst="rect">
            <a:avLst/>
          </a:prstGeom>
          <a:noFill/>
        </p:spPr>
        <p:txBody>
          <a:bodyPr wrap="square" anchor="t">
            <a:spAutoFit/>
          </a:bodyPr>
          <a:lstStyle/>
          <a:p>
            <a:pPr algn="l">
              <a:spcAft>
                <a:spcPts val="400"/>
              </a:spcAft>
            </a:pPr>
            <a:r>
              <a:rPr sz="2200" b="1" i="0">
                <a:solidFill>
                  <a:srgbClr val="102A43"/>
                </a:solidFill>
                <a:latin typeface="Georgia"/>
              </a:rPr>
              <a:t>Stein - Dorfman, URSS 1970: el rey defensor más lejos</a:t>
            </a:r>
          </a:p>
        </p:txBody>
      </p:sp>
      <p:sp>
        <p:nvSpPr>
          <p:cNvPr id="5" name="TextBox 4"/>
          <p:cNvSpPr txBox="1"/>
          <p:nvPr/>
        </p:nvSpPr>
        <p:spPr>
          <a:xfrm>
            <a:off x="6309360" y="182880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   ·   Ganan negras   ·   posición clave</a:t>
            </a:r>
          </a:p>
        </p:txBody>
      </p:sp>
      <p:sp>
        <p:nvSpPr>
          <p:cNvPr id="6" name="TextBox 5"/>
          <p:cNvSpPr txBox="1"/>
          <p:nvPr/>
        </p:nvSpPr>
        <p:spPr>
          <a:xfrm>
            <a:off x="6309360" y="2240280"/>
            <a:ext cx="5486400" cy="1188720"/>
          </a:xfrm>
          <a:prstGeom prst="rect">
            <a:avLst/>
          </a:prstGeom>
          <a:noFill/>
        </p:spPr>
        <p:txBody>
          <a:bodyPr wrap="square" anchor="t">
            <a:spAutoFit/>
          </a:bodyPr>
          <a:lstStyle/>
          <a:p>
            <a:pPr algn="l">
              <a:spcAft>
                <a:spcPts val="400"/>
              </a:spcAft>
            </a:pPr>
            <a:r>
              <a:rPr sz="1300" b="0" i="0">
                <a:solidFill>
                  <a:srgbClr val="243B53"/>
                </a:solidFill>
                <a:latin typeface="Consolas"/>
              </a:rPr>
              <a:t>1...Cd3 2.Aa1 Cb2 3.Re1 Ca4 4.Re2 Rc1 5.Re1 Cc5 6.Re2 Rb1 7.Rd1 Cd3 8.Rd2 Cb2 9.Rc3 Rxa1 10.Rc2 Cd3</a:t>
            </a:r>
          </a:p>
        </p:txBody>
      </p:sp>
      <p:sp>
        <p:nvSpPr>
          <p:cNvPr id="7" name="TextBox 6"/>
          <p:cNvSpPr txBox="1"/>
          <p:nvPr/>
        </p:nvSpPr>
        <p:spPr>
          <a:xfrm>
            <a:off x="6309360" y="3039726"/>
            <a:ext cx="5486400" cy="3086753"/>
          </a:xfrm>
          <a:prstGeom prst="rect">
            <a:avLst/>
          </a:prstGeom>
          <a:noFill/>
        </p:spPr>
        <p:txBody>
          <a:bodyPr wrap="square" anchor="t">
            <a:spAutoFit/>
          </a:bodyPr>
          <a:lstStyle/>
          <a:p>
            <a:pPr algn="l">
              <a:spcAft>
                <a:spcPts val="400"/>
              </a:spcAft>
            </a:pPr>
            <a:r>
              <a:rPr sz="1500" b="0" i="0">
                <a:solidFill>
                  <a:srgbClr val="1F2937"/>
                </a:solidFill>
                <a:latin typeface="Calibri"/>
              </a:rPr>
              <a:t>Parece la posición de Lloyd, pero el rey blanco está una casilla más lejos y con juego exacto las negras impiden el encierro. En la partida siguió 3...Rb1? 4.Rd2! y tablas. 3...Ca4! mantiene rey y caballo en las casillas ideales hasta el zugzwang.</a:t>
            </a:r>
          </a:p>
        </p:txBody>
      </p:sp>
      <p:sp>
        <p:nvSpPr>
          <p:cNvPr id="8" name="TextBox 7"/>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14 · Ajedrez Integral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38-4.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Final 38 · Caballo y peón contra alfil: peón de torre</a:t>
            </a:r>
          </a:p>
        </p:txBody>
      </p:sp>
      <p:sp>
        <p:nvSpPr>
          <p:cNvPr id="4" name="TextBox 3"/>
          <p:cNvSpPr txBox="1"/>
          <p:nvPr/>
        </p:nvSpPr>
        <p:spPr>
          <a:xfrm>
            <a:off x="6309360" y="777240"/>
            <a:ext cx="5486400" cy="1097280"/>
          </a:xfrm>
          <a:prstGeom prst="rect">
            <a:avLst/>
          </a:prstGeom>
          <a:noFill/>
        </p:spPr>
        <p:txBody>
          <a:bodyPr wrap="square" anchor="t">
            <a:spAutoFit/>
          </a:bodyPr>
          <a:lstStyle/>
          <a:p>
            <a:pPr algn="l">
              <a:spcAft>
                <a:spcPts val="400"/>
              </a:spcAft>
            </a:pPr>
            <a:r>
              <a:rPr sz="2200" b="1" i="0">
                <a:solidFill>
                  <a:srgbClr val="102A43"/>
                </a:solidFill>
                <a:latin typeface="Georgia"/>
              </a:rPr>
              <a:t>Diagrama de análisis: el zugzwang final</a:t>
            </a:r>
          </a:p>
        </p:txBody>
      </p:sp>
      <p:sp>
        <p:nvSpPr>
          <p:cNvPr id="5" name="TextBox 4"/>
          <p:cNvSpPr txBox="1"/>
          <p:nvPr/>
        </p:nvSpPr>
        <p:spPr>
          <a:xfrm>
            <a:off x="6309360" y="1828800"/>
            <a:ext cx="5486400" cy="365760"/>
          </a:xfrm>
          <a:prstGeom prst="rect">
            <a:avLst/>
          </a:prstGeom>
          <a:noFill/>
        </p:spPr>
        <p:txBody>
          <a:bodyPr wrap="square" anchor="t">
            <a:spAutoFit/>
          </a:bodyPr>
          <a:lstStyle/>
          <a:p>
            <a:pPr algn="l">
              <a:spcAft>
                <a:spcPts val="400"/>
              </a:spcAft>
            </a:pPr>
            <a:r>
              <a:rPr sz="1300" b="1" i="0">
                <a:solidFill>
                  <a:srgbClr val="627D98"/>
                </a:solidFill>
                <a:latin typeface="Calibri"/>
              </a:rPr>
              <a:t>Juegan blancas   ·   Ganan negras</a:t>
            </a:r>
          </a:p>
        </p:txBody>
      </p:sp>
      <p:sp>
        <p:nvSpPr>
          <p:cNvPr id="6" name="TextBox 5"/>
          <p:cNvSpPr txBox="1"/>
          <p:nvPr/>
        </p:nvSpPr>
        <p:spPr>
          <a:xfrm>
            <a:off x="6309360" y="2240280"/>
            <a:ext cx="5486400" cy="1188720"/>
          </a:xfrm>
          <a:prstGeom prst="rect">
            <a:avLst/>
          </a:prstGeom>
          <a:noFill/>
        </p:spPr>
        <p:txBody>
          <a:bodyPr wrap="square" anchor="t">
            <a:spAutoFit/>
          </a:bodyPr>
          <a:lstStyle/>
          <a:p>
            <a:pPr algn="l">
              <a:spcAft>
                <a:spcPts val="400"/>
              </a:spcAft>
            </a:pPr>
            <a:r>
              <a:rPr sz="1300" b="0" i="0">
                <a:solidFill>
                  <a:srgbClr val="243B53"/>
                </a:solidFill>
                <a:latin typeface="Consolas"/>
              </a:rPr>
              <a:t>1.Rc3 Rxa1 2.Rc2 Cd3</a:t>
            </a:r>
          </a:p>
        </p:txBody>
      </p:sp>
      <p:sp>
        <p:nvSpPr>
          <p:cNvPr id="7" name="TextBox 6"/>
          <p:cNvSpPr txBox="1"/>
          <p:nvPr/>
        </p:nvSpPr>
        <p:spPr>
          <a:xfrm>
            <a:off x="6309360" y="2730137"/>
            <a:ext cx="5486400" cy="3396342"/>
          </a:xfrm>
          <a:prstGeom prst="rect">
            <a:avLst/>
          </a:prstGeom>
          <a:noFill/>
        </p:spPr>
        <p:txBody>
          <a:bodyPr wrap="square" anchor="t">
            <a:spAutoFit/>
          </a:bodyPr>
          <a:lstStyle/>
          <a:p>
            <a:pPr algn="l">
              <a:spcAft>
                <a:spcPts val="400"/>
              </a:spcAft>
            </a:pPr>
            <a:r>
              <a:rPr sz="1500" b="0" i="0">
                <a:solidFill>
                  <a:srgbClr val="1F2937"/>
                </a:solidFill>
                <a:latin typeface="Calibri"/>
              </a:rPr>
              <a:t>Todas las maniobras negras apuntaban a esta posición: al rey blanco le toca mover y no puede alcanzar la casilla bloqueadora.</a:t>
            </a:r>
          </a:p>
        </p:txBody>
      </p:sp>
      <p:sp>
        <p:nvSpPr>
          <p:cNvPr id="8" name="TextBox 7"/>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14 · Ajedrez Integral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800" b="1" i="0">
                <a:solidFill>
                  <a:srgbClr val="102A43"/>
                </a:solidFill>
                <a:latin typeface="Georgia"/>
              </a:rPr>
              <a:t>Final 39 · Alfil y peón contra caballo: peón en séptima</a:t>
            </a:r>
          </a:p>
        </p:txBody>
      </p:sp>
      <p:sp>
        <p:nvSpPr>
          <p:cNvPr id="3" name="TextBox 2"/>
          <p:cNvSpPr txBox="1"/>
          <p:nvPr/>
        </p:nvSpPr>
        <p:spPr>
          <a:xfrm>
            <a:off x="640080" y="1280160"/>
            <a:ext cx="10972800" cy="1165860"/>
          </a:xfrm>
          <a:prstGeom prst="rect">
            <a:avLst/>
          </a:prstGeom>
          <a:noFill/>
        </p:spPr>
        <p:txBody>
          <a:bodyPr wrap="square" anchor="t">
            <a:spAutoFit/>
          </a:bodyPr>
          <a:lstStyle/>
          <a:p>
            <a:pPr algn="l">
              <a:spcAft>
                <a:spcPts val="400"/>
              </a:spcAft>
            </a:pPr>
            <a:r>
              <a:rPr sz="1800" b="0" i="0">
                <a:solidFill>
                  <a:srgbClr val="1F2937"/>
                </a:solidFill>
                <a:latin typeface="Calibri"/>
              </a:rPr>
              <a:t>Si es el caballo el que lucha contra el peón, las cosas están mucho peor para el defensor. Con el peón en séptima la defensa pasiva suele perder por zugzwang; sólo salvan el jaque continuo del caballo o el ahogado cerca de la banda.</a:t>
            </a:r>
          </a:p>
        </p:txBody>
      </p:sp>
      <p:sp>
        <p:nvSpPr>
          <p:cNvPr id="4" name="TextBox 3"/>
          <p:cNvSpPr txBox="1"/>
          <p:nvPr/>
        </p:nvSpPr>
        <p:spPr>
          <a:xfrm>
            <a:off x="640080" y="2583180"/>
            <a:ext cx="10972800" cy="3634739"/>
          </a:xfrm>
          <a:prstGeom prst="rect">
            <a:avLst/>
          </a:prstGeom>
          <a:noFill/>
        </p:spPr>
        <p:txBody>
          <a:bodyPr wrap="square">
            <a:spAutoFit/>
          </a:bodyPr>
          <a:lstStyle/>
          <a:p>
            <a:pPr>
              <a:spcAft>
                <a:spcPts val="600"/>
              </a:spcAft>
            </a:pPr>
            <a:r>
              <a:rPr sz="1600">
                <a:solidFill>
                  <a:srgbClr val="1F2937"/>
                </a:solidFill>
                <a:latin typeface="Calibri"/>
              </a:rPr>
              <a:t>•  Rey defensor delante del peón en casilla de color contrario al alfil: tablas casi seguras.</a:t>
            </a:r>
          </a:p>
          <a:p>
            <a:pPr>
              <a:spcAft>
                <a:spcPts val="600"/>
              </a:spcAft>
            </a:pPr>
            <a:r>
              <a:rPr sz="1600">
                <a:solidFill>
                  <a:srgbClr val="1F2937"/>
                </a:solidFill>
                <a:latin typeface="Calibri"/>
              </a:rPr>
              <a:t>•  Si el rey no puede ponerse delante, el caballo debe bloquear con ayuda de su rey; solo, será expulsado.</a:t>
            </a:r>
          </a:p>
          <a:p>
            <a:pPr>
              <a:spcAft>
                <a:spcPts val="600"/>
              </a:spcAft>
            </a:pPr>
            <a:r>
              <a:rPr sz="1600">
                <a:solidFill>
                  <a:srgbClr val="1F2937"/>
                </a:solidFill>
                <a:latin typeface="Calibri"/>
              </a:rPr>
              <a:t>•  Con el peón en séptima, rey y caballo controlando la casilla de coronación no basta: hay muchas posiciones de zugzwang.</a:t>
            </a:r>
          </a:p>
          <a:p>
            <a:pPr>
              <a:spcAft>
                <a:spcPts val="600"/>
              </a:spcAft>
            </a:pPr>
            <a:r>
              <a:rPr sz="1600">
                <a:solidFill>
                  <a:srgbClr val="1F2937"/>
                </a:solidFill>
                <a:latin typeface="Calibri"/>
              </a:rPr>
              <a:t>•  Recursos de tablas: el jaque continuo del caballo y el ahogado si el peón está cerca de la banda.</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14 · Ajedrez Integral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39-1.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Final 39 · Alfil y peón contra caballo: peón en séptima</a:t>
            </a:r>
          </a:p>
        </p:txBody>
      </p:sp>
      <p:sp>
        <p:nvSpPr>
          <p:cNvPr id="4" name="TextBox 3"/>
          <p:cNvSpPr txBox="1"/>
          <p:nvPr/>
        </p:nvSpPr>
        <p:spPr>
          <a:xfrm>
            <a:off x="6309360" y="777240"/>
            <a:ext cx="5486400" cy="1097280"/>
          </a:xfrm>
          <a:prstGeom prst="rect">
            <a:avLst/>
          </a:prstGeom>
          <a:noFill/>
        </p:spPr>
        <p:txBody>
          <a:bodyPr wrap="square" anchor="t">
            <a:spAutoFit/>
          </a:bodyPr>
          <a:lstStyle/>
          <a:p>
            <a:pPr algn="l">
              <a:spcAft>
                <a:spcPts val="400"/>
              </a:spcAft>
            </a:pPr>
            <a:r>
              <a:rPr sz="2200" b="1" i="0">
                <a:solidFill>
                  <a:srgbClr val="102A43"/>
                </a:solidFill>
                <a:latin typeface="Georgia"/>
              </a:rPr>
              <a:t>Zugzwang, ahogado o jaque continuo</a:t>
            </a:r>
          </a:p>
        </p:txBody>
      </p:sp>
      <p:sp>
        <p:nvSpPr>
          <p:cNvPr id="5" name="TextBox 4"/>
          <p:cNvSpPr txBox="1"/>
          <p:nvPr/>
        </p:nvSpPr>
        <p:spPr>
          <a:xfrm>
            <a:off x="6309360" y="182880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   ·   Ganan blancas   ·   posición clave</a:t>
            </a:r>
          </a:p>
        </p:txBody>
      </p:sp>
      <p:sp>
        <p:nvSpPr>
          <p:cNvPr id="6" name="TextBox 5"/>
          <p:cNvSpPr txBox="1"/>
          <p:nvPr/>
        </p:nvSpPr>
        <p:spPr>
          <a:xfrm>
            <a:off x="6309360" y="2240280"/>
            <a:ext cx="5486400" cy="1188720"/>
          </a:xfrm>
          <a:prstGeom prst="rect">
            <a:avLst/>
          </a:prstGeom>
          <a:noFill/>
        </p:spPr>
        <p:txBody>
          <a:bodyPr wrap="square" anchor="t">
            <a:spAutoFit/>
          </a:bodyPr>
          <a:lstStyle/>
          <a:p>
            <a:pPr algn="l">
              <a:spcAft>
                <a:spcPts val="400"/>
              </a:spcAft>
            </a:pPr>
            <a:r>
              <a:rPr sz="1300" b="0" i="0">
                <a:solidFill>
                  <a:srgbClr val="243B53"/>
                </a:solidFill>
                <a:latin typeface="Consolas"/>
              </a:rPr>
              <a:t>1.Rc7 Cd8 2.Ad5</a:t>
            </a:r>
          </a:p>
        </p:txBody>
      </p:sp>
      <p:sp>
        <p:nvSpPr>
          <p:cNvPr id="7" name="TextBox 6"/>
          <p:cNvSpPr txBox="1"/>
          <p:nvPr/>
        </p:nvSpPr>
        <p:spPr>
          <a:xfrm>
            <a:off x="6309360" y="2710542"/>
            <a:ext cx="5486400" cy="3415937"/>
          </a:xfrm>
          <a:prstGeom prst="rect">
            <a:avLst/>
          </a:prstGeom>
          <a:noFill/>
        </p:spPr>
        <p:txBody>
          <a:bodyPr wrap="square" anchor="t">
            <a:spAutoFit/>
          </a:bodyPr>
          <a:lstStyle/>
          <a:p>
            <a:pPr algn="l">
              <a:spcAft>
                <a:spcPts val="400"/>
              </a:spcAft>
            </a:pPr>
            <a:r>
              <a:rPr sz="1500" b="0" i="0">
                <a:solidFill>
                  <a:srgbClr val="1F2937"/>
                </a:solidFill>
                <a:latin typeface="Calibri"/>
              </a:rPr>
              <a:t>1.Ad5? Cd6+ 2.Rc7 Ce8+ 3.Rc8 Cd6+ sería jaque continuo. 1.Rc7! (o 1.Ac6!) quita los jaques y el zugzwang cuesta el caballo.</a:t>
            </a:r>
          </a:p>
        </p:txBody>
      </p:sp>
      <p:sp>
        <p:nvSpPr>
          <p:cNvPr id="8" name="TextBox 7"/>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14 · Ajedrez Integral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39-2.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Final 39 · Alfil y peón contra caballo: peón en séptima</a:t>
            </a:r>
          </a:p>
        </p:txBody>
      </p:sp>
      <p:sp>
        <p:nvSpPr>
          <p:cNvPr id="4" name="TextBox 3"/>
          <p:cNvSpPr txBox="1"/>
          <p:nvPr/>
        </p:nvSpPr>
        <p:spPr>
          <a:xfrm>
            <a:off x="6309360" y="777240"/>
            <a:ext cx="5486400" cy="1097280"/>
          </a:xfrm>
          <a:prstGeom prst="rect">
            <a:avLst/>
          </a:prstGeom>
          <a:noFill/>
        </p:spPr>
        <p:txBody>
          <a:bodyPr wrap="square" anchor="t">
            <a:spAutoFit/>
          </a:bodyPr>
          <a:lstStyle/>
          <a:p>
            <a:pPr algn="l">
              <a:spcAft>
                <a:spcPts val="400"/>
              </a:spcAft>
            </a:pPr>
            <a:r>
              <a:rPr sz="2200" b="1" i="0">
                <a:solidFill>
                  <a:srgbClr val="102A43"/>
                </a:solidFill>
                <a:latin typeface="Georgia"/>
              </a:rPr>
              <a:t>Serie del bloqueo: blancas ganan, juegue quien juegue</a:t>
            </a:r>
          </a:p>
        </p:txBody>
      </p:sp>
      <p:sp>
        <p:nvSpPr>
          <p:cNvPr id="5" name="TextBox 4"/>
          <p:cNvSpPr txBox="1"/>
          <p:nvPr/>
        </p:nvSpPr>
        <p:spPr>
          <a:xfrm>
            <a:off x="6309360" y="1828800"/>
            <a:ext cx="5486400" cy="365760"/>
          </a:xfrm>
          <a:prstGeom prst="rect">
            <a:avLst/>
          </a:prstGeom>
          <a:noFill/>
        </p:spPr>
        <p:txBody>
          <a:bodyPr wrap="square" anchor="t">
            <a:spAutoFit/>
          </a:bodyPr>
          <a:lstStyle/>
          <a:p>
            <a:pPr algn="l">
              <a:spcAft>
                <a:spcPts val="400"/>
              </a:spcAft>
            </a:pPr>
            <a:r>
              <a:rPr sz="1300" b="1" i="0">
                <a:solidFill>
                  <a:srgbClr val="627D98"/>
                </a:solidFill>
                <a:latin typeface="Calibri"/>
              </a:rPr>
              <a:t>Juegan blancas   ·   Ganan blancas</a:t>
            </a:r>
          </a:p>
        </p:txBody>
      </p:sp>
      <p:sp>
        <p:nvSpPr>
          <p:cNvPr id="6" name="TextBox 5"/>
          <p:cNvSpPr txBox="1"/>
          <p:nvPr/>
        </p:nvSpPr>
        <p:spPr>
          <a:xfrm>
            <a:off x="6309360" y="2240280"/>
            <a:ext cx="5486400" cy="1188720"/>
          </a:xfrm>
          <a:prstGeom prst="rect">
            <a:avLst/>
          </a:prstGeom>
          <a:noFill/>
        </p:spPr>
        <p:txBody>
          <a:bodyPr wrap="square" anchor="t">
            <a:spAutoFit/>
          </a:bodyPr>
          <a:lstStyle/>
          <a:p>
            <a:pPr algn="l">
              <a:spcAft>
                <a:spcPts val="400"/>
              </a:spcAft>
            </a:pPr>
            <a:r>
              <a:rPr sz="1300" b="0" i="0">
                <a:solidFill>
                  <a:srgbClr val="243B53"/>
                </a:solidFill>
                <a:latin typeface="Consolas"/>
              </a:rPr>
              <a:t>1.Ag6+ Rxg6 2.Rxg8</a:t>
            </a:r>
          </a:p>
        </p:txBody>
      </p:sp>
      <p:sp>
        <p:nvSpPr>
          <p:cNvPr id="7" name="TextBox 6"/>
          <p:cNvSpPr txBox="1"/>
          <p:nvPr/>
        </p:nvSpPr>
        <p:spPr>
          <a:xfrm>
            <a:off x="6309360" y="2722299"/>
            <a:ext cx="5486400" cy="3404180"/>
          </a:xfrm>
          <a:prstGeom prst="rect">
            <a:avLst/>
          </a:prstGeom>
          <a:noFill/>
        </p:spPr>
        <p:txBody>
          <a:bodyPr wrap="square" anchor="t">
            <a:spAutoFit/>
          </a:bodyPr>
          <a:lstStyle/>
          <a:p>
            <a:pPr algn="l">
              <a:spcAft>
                <a:spcPts val="400"/>
              </a:spcAft>
            </a:pPr>
            <a:r>
              <a:rPr sz="1500" b="0" i="0">
                <a:solidFill>
                  <a:srgbClr val="1F2937"/>
                </a:solidFill>
                <a:latin typeface="Calibri"/>
              </a:rPr>
              <a:t>Comprobalo también con negras al mover.</a:t>
            </a:r>
          </a:p>
        </p:txBody>
      </p:sp>
      <p:sp>
        <p:nvSpPr>
          <p:cNvPr id="8" name="TextBox 7"/>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14 · Ajedrez Integral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39-3.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Final 39 · Alfil y peón contra caballo: peón en séptima</a:t>
            </a:r>
          </a:p>
        </p:txBody>
      </p:sp>
      <p:sp>
        <p:nvSpPr>
          <p:cNvPr id="4" name="TextBox 3"/>
          <p:cNvSpPr txBox="1"/>
          <p:nvPr/>
        </p:nvSpPr>
        <p:spPr>
          <a:xfrm>
            <a:off x="6309360" y="777240"/>
            <a:ext cx="5486400" cy="1097280"/>
          </a:xfrm>
          <a:prstGeom prst="rect">
            <a:avLst/>
          </a:prstGeom>
          <a:noFill/>
        </p:spPr>
        <p:txBody>
          <a:bodyPr wrap="square" anchor="t">
            <a:spAutoFit/>
          </a:bodyPr>
          <a:lstStyle/>
          <a:p>
            <a:pPr algn="l">
              <a:spcAft>
                <a:spcPts val="400"/>
              </a:spcAft>
            </a:pPr>
            <a:r>
              <a:rPr sz="2200" b="1" i="0">
                <a:solidFill>
                  <a:srgbClr val="102A43"/>
                </a:solidFill>
                <a:latin typeface="Georgia"/>
              </a:rPr>
              <a:t>Serie del bloqueo: tablas, juegue quien juegue</a:t>
            </a:r>
          </a:p>
        </p:txBody>
      </p:sp>
      <p:sp>
        <p:nvSpPr>
          <p:cNvPr id="5" name="TextBox 4"/>
          <p:cNvSpPr txBox="1"/>
          <p:nvPr/>
        </p:nvSpPr>
        <p:spPr>
          <a:xfrm>
            <a:off x="6309360" y="1828800"/>
            <a:ext cx="5486400" cy="365760"/>
          </a:xfrm>
          <a:prstGeom prst="rect">
            <a:avLst/>
          </a:prstGeom>
          <a:noFill/>
        </p:spPr>
        <p:txBody>
          <a:bodyPr wrap="square" anchor="t">
            <a:spAutoFit/>
          </a:bodyPr>
          <a:lstStyle/>
          <a:p>
            <a:pPr algn="l">
              <a:spcAft>
                <a:spcPts val="400"/>
              </a:spcAft>
            </a:pPr>
            <a:r>
              <a:rPr sz="1300" b="1" i="0">
                <a:solidFill>
                  <a:srgbClr val="627D98"/>
                </a:solidFill>
                <a:latin typeface="Calibri"/>
              </a:rPr>
              <a:t>Juegan blancas   ·   Tablas</a:t>
            </a:r>
          </a:p>
        </p:txBody>
      </p:sp>
      <p:sp>
        <p:nvSpPr>
          <p:cNvPr id="6" name="TextBox 5"/>
          <p:cNvSpPr txBox="1"/>
          <p:nvPr/>
        </p:nvSpPr>
        <p:spPr>
          <a:xfrm>
            <a:off x="6309360" y="2240280"/>
            <a:ext cx="5486400" cy="1188720"/>
          </a:xfrm>
          <a:prstGeom prst="rect">
            <a:avLst/>
          </a:prstGeom>
          <a:noFill/>
        </p:spPr>
        <p:txBody>
          <a:bodyPr wrap="square" anchor="t">
            <a:spAutoFit/>
          </a:bodyPr>
          <a:lstStyle/>
          <a:p>
            <a:pPr algn="l">
              <a:spcAft>
                <a:spcPts val="400"/>
              </a:spcAft>
            </a:pPr>
            <a:r>
              <a:rPr sz="1300" b="0" i="0">
                <a:solidFill>
                  <a:srgbClr val="243B53"/>
                </a:solidFill>
                <a:latin typeface="Consolas"/>
              </a:rPr>
              <a:t>1.Re7 Rh8 2.Rf6 Cg6</a:t>
            </a:r>
          </a:p>
        </p:txBody>
      </p:sp>
      <p:sp>
        <p:nvSpPr>
          <p:cNvPr id="7" name="TextBox 6"/>
          <p:cNvSpPr txBox="1"/>
          <p:nvPr/>
        </p:nvSpPr>
        <p:spPr>
          <a:xfrm>
            <a:off x="6309360" y="2726218"/>
            <a:ext cx="5486400" cy="3400261"/>
          </a:xfrm>
          <a:prstGeom prst="rect">
            <a:avLst/>
          </a:prstGeom>
          <a:noFill/>
        </p:spPr>
        <p:txBody>
          <a:bodyPr wrap="square" anchor="t">
            <a:spAutoFit/>
          </a:bodyPr>
          <a:lstStyle/>
          <a:p>
            <a:pPr algn="l">
              <a:spcAft>
                <a:spcPts val="400"/>
              </a:spcAft>
            </a:pPr>
            <a:r>
              <a:rPr sz="1500" b="0" i="0">
                <a:solidFill>
                  <a:srgbClr val="1F2937"/>
                </a:solidFill>
                <a:latin typeface="Calibri"/>
              </a:rPr>
              <a:t>Aquí el ahogado y los jaques salvan al bando del caballo.</a:t>
            </a:r>
          </a:p>
        </p:txBody>
      </p:sp>
      <p:sp>
        <p:nvSpPr>
          <p:cNvPr id="8" name="TextBox 7"/>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14 · Ajedrez Integral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39-4.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Final 39 · Alfil y peón contra caballo: peón en séptima</a:t>
            </a:r>
          </a:p>
        </p:txBody>
      </p:sp>
      <p:sp>
        <p:nvSpPr>
          <p:cNvPr id="4" name="TextBox 3"/>
          <p:cNvSpPr txBox="1"/>
          <p:nvPr/>
        </p:nvSpPr>
        <p:spPr>
          <a:xfrm>
            <a:off x="6309360" y="777240"/>
            <a:ext cx="5486400" cy="1097280"/>
          </a:xfrm>
          <a:prstGeom prst="rect">
            <a:avLst/>
          </a:prstGeom>
          <a:noFill/>
        </p:spPr>
        <p:txBody>
          <a:bodyPr wrap="square" anchor="t">
            <a:spAutoFit/>
          </a:bodyPr>
          <a:lstStyle/>
          <a:p>
            <a:pPr algn="l">
              <a:spcAft>
                <a:spcPts val="400"/>
              </a:spcAft>
            </a:pPr>
            <a:r>
              <a:rPr sz="2200" b="1" i="0">
                <a:solidFill>
                  <a:srgbClr val="102A43"/>
                </a:solidFill>
                <a:latin typeface="Georgia"/>
              </a:rPr>
              <a:t>Serie del bloqueo: blancas ganan, juegue quien juegue</a:t>
            </a:r>
          </a:p>
        </p:txBody>
      </p:sp>
      <p:sp>
        <p:nvSpPr>
          <p:cNvPr id="5" name="TextBox 4"/>
          <p:cNvSpPr txBox="1"/>
          <p:nvPr/>
        </p:nvSpPr>
        <p:spPr>
          <a:xfrm>
            <a:off x="6309360" y="1828800"/>
            <a:ext cx="5486400" cy="365760"/>
          </a:xfrm>
          <a:prstGeom prst="rect">
            <a:avLst/>
          </a:prstGeom>
          <a:noFill/>
        </p:spPr>
        <p:txBody>
          <a:bodyPr wrap="square" anchor="t">
            <a:spAutoFit/>
          </a:bodyPr>
          <a:lstStyle/>
          <a:p>
            <a:pPr algn="l">
              <a:spcAft>
                <a:spcPts val="400"/>
              </a:spcAft>
            </a:pPr>
            <a:r>
              <a:rPr sz="1300" b="1" i="0">
                <a:solidFill>
                  <a:srgbClr val="627D98"/>
                </a:solidFill>
                <a:latin typeface="Calibri"/>
              </a:rPr>
              <a:t>Juegan blancas   ·   Ganan blancas</a:t>
            </a:r>
          </a:p>
        </p:txBody>
      </p:sp>
      <p:sp>
        <p:nvSpPr>
          <p:cNvPr id="6" name="TextBox 5"/>
          <p:cNvSpPr txBox="1"/>
          <p:nvPr/>
        </p:nvSpPr>
        <p:spPr>
          <a:xfrm>
            <a:off x="6309360" y="2240280"/>
            <a:ext cx="5486400" cy="1188720"/>
          </a:xfrm>
          <a:prstGeom prst="rect">
            <a:avLst/>
          </a:prstGeom>
          <a:noFill/>
        </p:spPr>
        <p:txBody>
          <a:bodyPr wrap="square" anchor="t">
            <a:spAutoFit/>
          </a:bodyPr>
          <a:lstStyle/>
          <a:p>
            <a:pPr algn="l">
              <a:spcAft>
                <a:spcPts val="400"/>
              </a:spcAft>
            </a:pPr>
            <a:r>
              <a:rPr sz="1300" b="0" i="0">
                <a:solidFill>
                  <a:srgbClr val="243B53"/>
                </a:solidFill>
                <a:latin typeface="Consolas"/>
              </a:rPr>
              <a:t>1.Ag5+ Rf5 2.Rxg7</a:t>
            </a:r>
          </a:p>
        </p:txBody>
      </p:sp>
      <p:sp>
        <p:nvSpPr>
          <p:cNvPr id="7" name="TextBox 6"/>
          <p:cNvSpPr txBox="1"/>
          <p:nvPr/>
        </p:nvSpPr>
        <p:spPr>
          <a:xfrm>
            <a:off x="6309360" y="2718380"/>
            <a:ext cx="5486400" cy="3408099"/>
          </a:xfrm>
          <a:prstGeom prst="rect">
            <a:avLst/>
          </a:prstGeom>
          <a:noFill/>
        </p:spPr>
        <p:txBody>
          <a:bodyPr wrap="square" anchor="t">
            <a:spAutoFit/>
          </a:bodyPr>
          <a:lstStyle/>
          <a:p>
            <a:pPr algn="l">
              <a:spcAft>
                <a:spcPts val="400"/>
              </a:spcAft>
            </a:pPr>
            <a:r>
              <a:rPr sz="1500" b="0" i="0">
                <a:solidFill>
                  <a:srgbClr val="1F2937"/>
                </a:solidFill>
                <a:latin typeface="Calibri"/>
              </a:rPr>
              <a:t>Comprobalo también con negras al mover.</a:t>
            </a:r>
          </a:p>
        </p:txBody>
      </p:sp>
      <p:sp>
        <p:nvSpPr>
          <p:cNvPr id="8" name="TextBox 7"/>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14 · Ajedrez Integral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800" b="1" i="0">
                <a:solidFill>
                  <a:srgbClr val="102A43"/>
                </a:solidFill>
                <a:latin typeface="Georgia"/>
              </a:rPr>
              <a:t>Final 40 · Control del caballo desde posición precaria</a:t>
            </a:r>
          </a:p>
        </p:txBody>
      </p:sp>
      <p:sp>
        <p:nvSpPr>
          <p:cNvPr id="3" name="TextBox 2"/>
          <p:cNvSpPr txBox="1"/>
          <p:nvPr/>
        </p:nvSpPr>
        <p:spPr>
          <a:xfrm>
            <a:off x="640080" y="1280160"/>
            <a:ext cx="10972800" cy="1165860"/>
          </a:xfrm>
          <a:prstGeom prst="rect">
            <a:avLst/>
          </a:prstGeom>
          <a:noFill/>
        </p:spPr>
        <p:txBody>
          <a:bodyPr wrap="square" anchor="t">
            <a:spAutoFit/>
          </a:bodyPr>
          <a:lstStyle/>
          <a:p>
            <a:pPr algn="l">
              <a:spcAft>
                <a:spcPts val="400"/>
              </a:spcAft>
            </a:pPr>
            <a:r>
              <a:rPr sz="1800" b="0" i="0">
                <a:solidFill>
                  <a:srgbClr val="1F2937"/>
                </a:solidFill>
                <a:latin typeface="Calibri"/>
              </a:rPr>
              <a:t>Con el peón más atrás, si rey y caballo controlan la casilla de delante del peón (de color contrario al alfil) no hay zugzwang. Interesan las posiciones donde el caballo controla el paso del peón desde una casilla precaria: entonces hay que calcular y buscar el zugzwang.</a:t>
            </a:r>
          </a:p>
        </p:txBody>
      </p:sp>
      <p:sp>
        <p:nvSpPr>
          <p:cNvPr id="4" name="TextBox 3"/>
          <p:cNvSpPr txBox="1"/>
          <p:nvPr/>
        </p:nvSpPr>
        <p:spPr>
          <a:xfrm>
            <a:off x="640080" y="2583180"/>
            <a:ext cx="10972800" cy="3634739"/>
          </a:xfrm>
          <a:prstGeom prst="rect">
            <a:avLst/>
          </a:prstGeom>
          <a:noFill/>
        </p:spPr>
        <p:txBody>
          <a:bodyPr wrap="square">
            <a:spAutoFit/>
          </a:bodyPr>
          <a:lstStyle/>
          <a:p>
            <a:pPr>
              <a:spcAft>
                <a:spcPts val="600"/>
              </a:spcAft>
            </a:pPr>
            <a:r>
              <a:rPr sz="1600">
                <a:solidFill>
                  <a:srgbClr val="1F2937"/>
                </a:solidFill>
                <a:latin typeface="Calibri"/>
              </a:rPr>
              <a:t>•  No hay regla general: con el caballo en posición precaria todo depende de si puede ser desalojado por medios tácticos, casi siempre con ayuda del zugzwang.</a:t>
            </a:r>
          </a:p>
          <a:p>
            <a:pPr>
              <a:spcAft>
                <a:spcPts val="600"/>
              </a:spcAft>
            </a:pPr>
            <a:r>
              <a:rPr sz="1600">
                <a:solidFill>
                  <a:srgbClr val="1F2937"/>
                </a:solidFill>
                <a:latin typeface="Calibri"/>
              </a:rPr>
              <a:t>•  El bando fuerte no debe dejar que el caballo cambie de posición gratis: cada tiempo del alfil debe conservar el zugzwang.</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14 · Ajedrez Integral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40-1.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Final 40 · Control del caballo desde posición precaria</a:t>
            </a:r>
          </a:p>
        </p:txBody>
      </p:sp>
      <p:sp>
        <p:nvSpPr>
          <p:cNvPr id="4" name="TextBox 3"/>
          <p:cNvSpPr txBox="1"/>
          <p:nvPr/>
        </p:nvSpPr>
        <p:spPr>
          <a:xfrm>
            <a:off x="6309360" y="777240"/>
            <a:ext cx="5486400" cy="1097280"/>
          </a:xfrm>
          <a:prstGeom prst="rect">
            <a:avLst/>
          </a:prstGeom>
          <a:noFill/>
        </p:spPr>
        <p:txBody>
          <a:bodyPr wrap="square" anchor="t">
            <a:spAutoFit/>
          </a:bodyPr>
          <a:lstStyle/>
          <a:p>
            <a:pPr algn="l">
              <a:spcAft>
                <a:spcPts val="400"/>
              </a:spcAft>
            </a:pPr>
            <a:r>
              <a:rPr sz="2200" b="1" i="0">
                <a:solidFill>
                  <a:srgbClr val="102A43"/>
                </a:solidFill>
                <a:latin typeface="Georgia"/>
              </a:rPr>
              <a:t>Bron 1955</a:t>
            </a:r>
          </a:p>
        </p:txBody>
      </p:sp>
      <p:sp>
        <p:nvSpPr>
          <p:cNvPr id="5" name="TextBox 4"/>
          <p:cNvSpPr txBox="1"/>
          <p:nvPr/>
        </p:nvSpPr>
        <p:spPr>
          <a:xfrm>
            <a:off x="6309360" y="182880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   ·   Ganan blancas   ·   posición clave</a:t>
            </a:r>
          </a:p>
        </p:txBody>
      </p:sp>
      <p:sp>
        <p:nvSpPr>
          <p:cNvPr id="6" name="TextBox 5"/>
          <p:cNvSpPr txBox="1"/>
          <p:nvPr/>
        </p:nvSpPr>
        <p:spPr>
          <a:xfrm>
            <a:off x="6309360" y="2240280"/>
            <a:ext cx="5486400" cy="1188720"/>
          </a:xfrm>
          <a:prstGeom prst="rect">
            <a:avLst/>
          </a:prstGeom>
          <a:noFill/>
        </p:spPr>
        <p:txBody>
          <a:bodyPr wrap="square" anchor="t">
            <a:spAutoFit/>
          </a:bodyPr>
          <a:lstStyle/>
          <a:p>
            <a:pPr algn="l">
              <a:spcAft>
                <a:spcPts val="400"/>
              </a:spcAft>
            </a:pPr>
            <a:r>
              <a:rPr sz="1300" b="0" i="0">
                <a:solidFill>
                  <a:srgbClr val="243B53"/>
                </a:solidFill>
                <a:latin typeface="Consolas"/>
              </a:rPr>
              <a:t>1.Ab3+ Rc5 2.Aa2 Rc6 3.Re6 Ch7 4.Ad5+ Rc5 5.Re7 Cf6</a:t>
            </a:r>
          </a:p>
        </p:txBody>
      </p:sp>
      <p:sp>
        <p:nvSpPr>
          <p:cNvPr id="7" name="TextBox 6"/>
          <p:cNvSpPr txBox="1"/>
          <p:nvPr/>
        </p:nvSpPr>
        <p:spPr>
          <a:xfrm>
            <a:off x="6309360" y="2851621"/>
            <a:ext cx="5486400" cy="3274858"/>
          </a:xfrm>
          <a:prstGeom prst="rect">
            <a:avLst/>
          </a:prstGeom>
          <a:noFill/>
        </p:spPr>
        <p:txBody>
          <a:bodyPr wrap="square" anchor="t">
            <a:spAutoFit/>
          </a:bodyPr>
          <a:lstStyle/>
          <a:p>
            <a:pPr algn="l">
              <a:spcAft>
                <a:spcPts val="400"/>
              </a:spcAft>
            </a:pPr>
            <a:r>
              <a:rPr sz="1500" b="0" i="0">
                <a:solidFill>
                  <a:srgbClr val="1F2937"/>
                </a:solidFill>
                <a:latin typeface="Calibri"/>
              </a:rPr>
              <a:t>1.Ab3+ Rc5 (1...Re5 2.Ae6 y ya hay zugzwang) 2.Aa2! (2.Re6? Ch7! 3.Re7 Cf8 y el rey negro gira alrededor del peón). Tras 5...Cf8 6.Ae4 es otra posición de zugzwang ganadora.</a:t>
            </a:r>
          </a:p>
        </p:txBody>
      </p:sp>
      <p:sp>
        <p:nvSpPr>
          <p:cNvPr id="8" name="TextBox 7"/>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14 · Ajedrez Integral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800" b="1" i="0">
                <a:solidFill>
                  <a:srgbClr val="102A43"/>
                </a:solidFill>
                <a:latin typeface="Georgia"/>
              </a:rPr>
              <a:t>Para practicar</a:t>
            </a:r>
          </a:p>
        </p:txBody>
      </p:sp>
      <p:sp>
        <p:nvSpPr>
          <p:cNvPr id="3" name="TextBox 2"/>
          <p:cNvSpPr txBox="1"/>
          <p:nvPr/>
        </p:nvSpPr>
        <p:spPr>
          <a:xfrm>
            <a:off x="640080" y="1280160"/>
            <a:ext cx="10972800" cy="1645920"/>
          </a:xfrm>
          <a:prstGeom prst="rect">
            <a:avLst/>
          </a:prstGeom>
          <a:noFill/>
        </p:spPr>
        <p:txBody>
          <a:bodyPr wrap="square" anchor="t">
            <a:spAutoFit/>
          </a:bodyPr>
          <a:lstStyle/>
          <a:p>
            <a:pPr algn="l">
              <a:spcAft>
                <a:spcPts val="400"/>
              </a:spcAft>
            </a:pPr>
            <a:r>
              <a:rPr sz="1800" b="0" i="0">
                <a:solidFill>
                  <a:srgbClr val="1F2937"/>
                </a:solidFill>
                <a:latin typeface="Calibri"/>
              </a:rPr>
              <a:t>Jugá el peón de torre contra el motor con el alfil y después con el caballo.</a:t>
            </a:r>
          </a:p>
          <a:p>
            <a:pPr algn="l">
              <a:spcAft>
                <a:spcPts val="400"/>
              </a:spcAft>
            </a:pPr>
            <a:r>
              <a:rPr sz="1800" b="0" i="0">
                <a:solidFill>
                  <a:srgbClr val="1F2937"/>
                </a:solidFill>
                <a:latin typeface="Calibri"/>
              </a:rPr>
              <a:t/>
            </a:r>
          </a:p>
          <a:p>
            <a:pPr algn="l">
              <a:spcAft>
                <a:spcPts val="400"/>
              </a:spcAft>
            </a:pPr>
            <a:r>
              <a:rPr sz="1800" b="0" i="0">
                <a:solidFill>
                  <a:srgbClr val="1F2937"/>
                </a:solidFill>
                <a:latin typeface="Calibri"/>
              </a:rPr>
              <a:t>En la página del curso cada posición se puede jugar contra el motor (Stockfish) al nivel que elijas; la hoja de ejercicios en PDF reúne las posiciones de esta lección para resolver sin tablero.</a:t>
            </a:r>
          </a:p>
        </p:txBody>
      </p:sp>
      <p:sp>
        <p:nvSpPr>
          <p:cNvPr id="4" name="TextBox 3"/>
          <p:cNvSpPr txBox="1"/>
          <p:nvPr/>
        </p:nvSpPr>
        <p:spPr>
          <a:xfrm>
            <a:off x="640080" y="3063240"/>
            <a:ext cx="10972800" cy="3154679"/>
          </a:xfrm>
          <a:prstGeom prst="rect">
            <a:avLst/>
          </a:prstGeom>
          <a:noFill/>
        </p:spPr>
        <p:txBody>
          <a:bodyPr wrap="square">
            <a:spAutoFit/>
          </a:bodyPr>
          <a:lstStyle/>
          <a:p>
            <a:pPr>
              <a:spcAft>
                <a:spcPts val="600"/>
              </a:spcAft>
            </a:pPr>
            <a:r>
              <a:rPr sz="1600">
                <a:solidFill>
                  <a:srgbClr val="1F2937"/>
                </a:solidFill>
                <a:latin typeface="Calibri"/>
              </a:rPr>
              <a:t>•  Recorré cada línea principal hasta entender el porqué de cada jugada.</a:t>
            </a:r>
          </a:p>
          <a:p>
            <a:pPr>
              <a:spcAft>
                <a:spcPts val="600"/>
              </a:spcAft>
            </a:pPr>
            <a:r>
              <a:rPr sz="1600">
                <a:solidFill>
                  <a:srgbClr val="1F2937"/>
                </a:solidFill>
                <a:latin typeface="Calibri"/>
              </a:rPr>
              <a:t>•  Practicá primero las posiciones clave, después las demás.</a:t>
            </a:r>
          </a:p>
          <a:p>
            <a:pPr>
              <a:spcAft>
                <a:spcPts val="600"/>
              </a:spcAft>
            </a:pPr>
            <a:r>
              <a:rPr sz="1600">
                <a:solidFill>
                  <a:srgbClr val="1F2937"/>
                </a:solidFill>
                <a:latin typeface="Calibri"/>
              </a:rPr>
              <a:t>•  Anotá las reglas de cada final con tus palabras.</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14 · Ajedrez Integral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