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Lección 7 del curso Cálculo y Visualización. El último paso antes de mover: comprobar que la jugada es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F33"/>
          </a:solidFill>
          <a:ln/>
        </p:spPr>
      </p:sp>
      <p:sp>
        <p:nvSpPr>
          <p:cNvPr id="3" name="Shape 1"/>
          <p:cNvSpPr/>
          <p:nvPr/>
        </p:nvSpPr>
        <p:spPr>
          <a:xfrm>
            <a:off x="9692640" y="-1463040"/>
            <a:ext cx="4572000" cy="4572000"/>
          </a:xfrm>
          <a:prstGeom prst="ellipse">
            <a:avLst/>
          </a:prstGeom>
          <a:solidFill>
            <a:srgbClr val="102A43">
              <a:alpha val="70000"/>
            </a:srgbClr>
          </a:solidFill>
          <a:ln/>
        </p:spPr>
      </p:sp>
      <p:sp>
        <p:nvSpPr>
          <p:cNvPr id="4" name="Shape 2"/>
          <p:cNvSpPr/>
          <p:nvPr/>
        </p:nvSpPr>
        <p:spPr>
          <a:xfrm>
            <a:off x="-1645920" y="4937760"/>
            <a:ext cx="3840480" cy="3840480"/>
          </a:xfrm>
          <a:prstGeom prst="ellipse">
            <a:avLst/>
          </a:prstGeom>
          <a:solidFill>
            <a:srgbClr val="102A43">
              <a:alpha val="70000"/>
            </a:srgbClr>
          </a:solidFill>
          <a:ln/>
        </p:spPr>
      </p:sp>
      <p:sp>
        <p:nvSpPr>
          <p:cNvPr id="5" name="Shape 3"/>
          <p:cNvSpPr/>
          <p:nvPr/>
        </p:nvSpPr>
        <p:spPr>
          <a:xfrm>
            <a:off x="640080" y="594360"/>
            <a:ext cx="1005840" cy="1005840"/>
          </a:xfrm>
          <a:prstGeom prst="ellipse">
            <a:avLst/>
          </a:prstGeom>
          <a:solidFill>
            <a:srgbClr val="DE911D"/>
          </a:solidFill>
          <a:ln/>
        </p:spPr>
      </p:sp>
      <p:sp>
        <p:nvSpPr>
          <p:cNvPr id="6" name="Text 4"/>
          <p:cNvSpPr txBox="1"/>
          <p:nvPr/>
        </p:nvSpPr>
        <p:spPr>
          <a:xfrm>
            <a:off x="640080" y="594360"/>
            <a:ext cx="1005840" cy="1005840"/>
          </a:xfrm>
          <a:prstGeom prst="rect">
            <a:avLst/>
          </a:prstGeom>
          <a:noFill/>
          <a:ln/>
        </p:spPr>
        <p:txBody>
          <a:bodyPr wrap="square" lIns="0" tIns="0" rIns="0" bIns="0" rtlCol="0" anchor="ctr"/>
          <a:lstStyle/>
          <a:p>
            <a:pPr algn="ctr" indent="0" marL="0">
              <a:buNone/>
            </a:pPr>
            <a:r>
              <a:rPr lang="en-US" sz="3200" b="1" dirty="0">
                <a:solidFill>
                  <a:srgbClr val="0A1F33"/>
                </a:solidFill>
                <a:latin typeface="Calibri" pitchFamily="34" charset="0"/>
                <a:ea typeface="Calibri" pitchFamily="34" charset="-122"/>
                <a:cs typeface="Calibri" pitchFamily="34" charset="-120"/>
              </a:rPr>
              <a:t>7</a:t>
            </a:r>
            <a:endParaRPr lang="en-US" sz="3200" dirty="0"/>
          </a:p>
        </p:txBody>
      </p:sp>
      <p:sp>
        <p:nvSpPr>
          <p:cNvPr id="7" name="Text 5"/>
          <p:cNvSpPr txBox="1"/>
          <p:nvPr/>
        </p:nvSpPr>
        <p:spPr>
          <a:xfrm>
            <a:off x="1920240" y="685800"/>
            <a:ext cx="9509760" cy="457200"/>
          </a:xfrm>
          <a:prstGeom prst="rect">
            <a:avLst/>
          </a:prstGeom>
          <a:noFill/>
          <a:ln/>
        </p:spPr>
        <p:txBody>
          <a:bodyPr wrap="square" lIns="0" tIns="0" rIns="0" bIns="0" rtlCol="0" anchor="ctr"/>
          <a:lstStyle/>
          <a:p>
            <a:pPr indent="0" marL="0">
              <a:buNone/>
            </a:pPr>
            <a:r>
              <a:rPr lang="en-US" sz="1300" b="1" spc="100" kern="0" dirty="0">
                <a:solidFill>
                  <a:srgbClr val="F0B429"/>
                </a:solidFill>
                <a:latin typeface="Calibri" pitchFamily="34" charset="0"/>
                <a:ea typeface="Calibri" pitchFamily="34" charset="-122"/>
                <a:cs typeface="Calibri" pitchFamily="34" charset="-120"/>
              </a:rPr>
              <a:t>AJEDREZ INTEGRAL  ·  CÁLCULO Y VISUALIZACIÓN</a:t>
            </a:r>
            <a:endParaRPr lang="en-US" sz="1300" dirty="0"/>
          </a:p>
        </p:txBody>
      </p:sp>
      <p:sp>
        <p:nvSpPr>
          <p:cNvPr id="8" name="Text 6"/>
          <p:cNvSpPr txBox="1"/>
          <p:nvPr/>
        </p:nvSpPr>
        <p:spPr>
          <a:xfrm>
            <a:off x="1920240" y="1097280"/>
            <a:ext cx="950976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Bloque 2 · Precisión en el cálculo</a:t>
            </a:r>
            <a:endParaRPr lang="en-US" sz="1300" dirty="0"/>
          </a:p>
        </p:txBody>
      </p:sp>
      <p:sp>
        <p:nvSpPr>
          <p:cNvPr id="9" name="Text 7"/>
          <p:cNvSpPr txBox="1"/>
          <p:nvPr/>
        </p:nvSpPr>
        <p:spPr>
          <a:xfrm>
            <a:off x="640080" y="2651760"/>
            <a:ext cx="10881360" cy="20116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Verificación final</a:t>
            </a:r>
            <a:endParaRPr lang="en-US" sz="4000" dirty="0"/>
          </a:p>
        </p:txBody>
      </p:sp>
      <p:sp>
        <p:nvSpPr>
          <p:cNvPr id="10" name="Text 8"/>
          <p:cNvSpPr txBox="1"/>
          <p:nvPr/>
        </p:nvSpPr>
        <p:spPr>
          <a:xfrm>
            <a:off x="640080" y="4617720"/>
            <a:ext cx="9601200" cy="91440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El último paso antes de mover: comprobar que la jugada es correcta.</a:t>
            </a:r>
            <a:endParaRPr lang="en-US" sz="1800" dirty="0"/>
          </a:p>
        </p:txBody>
      </p:sp>
      <p:sp>
        <p:nvSpPr>
          <p:cNvPr id="11" name="Text 9"/>
          <p:cNvSpPr txBox="1"/>
          <p:nvPr/>
        </p:nvSpPr>
        <p:spPr>
          <a:xfrm>
            <a:off x="640080" y="6309360"/>
            <a:ext cx="5486400" cy="365760"/>
          </a:xfrm>
          <a:prstGeom prst="rect">
            <a:avLst/>
          </a:prstGeom>
          <a:noFill/>
          <a:ln/>
        </p:spPr>
        <p:txBody>
          <a:bodyPr wrap="square" lIns="0" tIns="0" rIns="0" bIns="0" rtlCol="0" anchor="ctr"/>
          <a:lstStyle/>
          <a:p>
            <a:pPr indent="0" marL="0">
              <a:buNone/>
            </a:pPr>
            <a:r>
              <a:rPr lang="en-US" sz="1100" dirty="0">
                <a:solidFill>
                  <a:srgbClr val="627D98"/>
                </a:solidFill>
                <a:latin typeface="Calibri" pitchFamily="34" charset="0"/>
                <a:ea typeface="Calibri" pitchFamily="34" charset="-122"/>
                <a:cs typeface="Calibri" pitchFamily="34" charset="-120"/>
              </a:rPr>
              <a:t>ajedrez-integral.com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DE911D"/>
          </a:solidFill>
          <a:ln/>
        </p:spPr>
      </p:sp>
      <p:sp>
        <p:nvSpPr>
          <p:cNvPr id="3" name="Text 1"/>
          <p:cNvSpPr txBox="1"/>
          <p:nvPr/>
        </p:nvSpPr>
        <p:spPr>
          <a:xfrm>
            <a:off x="548640" y="502920"/>
            <a:ext cx="502920" cy="502920"/>
          </a:xfrm>
          <a:prstGeom prst="rect">
            <a:avLst/>
          </a:prstGeom>
          <a:noFill/>
          <a:ln/>
        </p:spPr>
        <p:txBody>
          <a:bodyPr wrap="square" lIns="0" tIns="0" rIns="0" bIns="0" rtlCol="0" anchor="ctr"/>
          <a:lstStyle/>
          <a:p>
            <a:pPr algn="ctr" indent="0" marL="0">
              <a:buNone/>
            </a:pPr>
            <a:r>
              <a:rPr lang="en-US" sz="2000" dirty="0">
                <a:solidFill>
                  <a:srgbClr val="0A1F33"/>
                </a:solidFill>
                <a:latin typeface="Calibri" pitchFamily="34" charset="0"/>
                <a:ea typeface="Calibri" pitchFamily="34" charset="-122"/>
                <a:cs typeface="Calibri" pitchFamily="34" charset="-120"/>
              </a:rPr>
              <a:t>♟</a:t>
            </a:r>
            <a:endParaRPr lang="en-US" sz="2000" dirty="0"/>
          </a:p>
        </p:txBody>
      </p:sp>
      <p:sp>
        <p:nvSpPr>
          <p:cNvPr id="4" name="Text 2"/>
          <p:cNvSpPr txBox="1"/>
          <p:nvPr/>
        </p:nvSpPr>
        <p:spPr>
          <a:xfrm>
            <a:off x="1234440" y="530352"/>
            <a:ext cx="7315200" cy="457200"/>
          </a:xfrm>
          <a:prstGeom prst="rect">
            <a:avLst/>
          </a:prstGeom>
          <a:noFill/>
          <a:ln/>
        </p:spPr>
        <p:txBody>
          <a:bodyPr wrap="square" lIns="0" tIns="0" rIns="0" bIns="0" rtlCol="0" anchor="ctr"/>
          <a:lstStyle/>
          <a:p>
            <a:pPr indent="0" marL="0">
              <a:buNone/>
            </a:pPr>
            <a:r>
              <a:rPr lang="en-US" sz="1400" b="1" spc="100" kern="0" dirty="0">
                <a:solidFill>
                  <a:srgbClr val="DE911D"/>
                </a:solidFill>
                <a:latin typeface="Calibri" pitchFamily="34" charset="0"/>
                <a:ea typeface="Calibri" pitchFamily="34" charset="-122"/>
                <a:cs typeface="Calibri" pitchFamily="34" charset="-120"/>
              </a:rPr>
              <a:t>CONCEPTO CLAVE</a:t>
            </a:r>
            <a:endParaRPr lang="en-US" sz="1400" dirty="0"/>
          </a:p>
        </p:txBody>
      </p:sp>
      <p:sp>
        <p:nvSpPr>
          <p:cNvPr id="5" name="Text 3"/>
          <p:cNvSpPr txBox="1"/>
          <p:nvPr/>
        </p:nvSpPr>
        <p:spPr>
          <a:xfrm>
            <a:off x="548640" y="1051560"/>
            <a:ext cx="11064240" cy="822960"/>
          </a:xfrm>
          <a:prstGeom prst="rect">
            <a:avLst/>
          </a:prstGeom>
          <a:noFill/>
          <a:ln/>
        </p:spPr>
        <p:txBody>
          <a:bodyPr wrap="square" lIns="0" tIns="0" rIns="0" bIns="0" rtlCol="0" anchor="ctr"/>
          <a:lstStyle/>
          <a:p>
            <a:pPr indent="0" marL="0">
              <a:buNone/>
            </a:pPr>
            <a:r>
              <a:rPr lang="en-US" sz="2600" b="1" dirty="0">
                <a:solidFill>
                  <a:srgbClr val="0A1F33"/>
                </a:solidFill>
                <a:latin typeface="Cambria" pitchFamily="34" charset="0"/>
                <a:ea typeface="Cambria" pitchFamily="34" charset="-122"/>
                <a:cs typeface="Cambria" pitchFamily="34" charset="-120"/>
              </a:rPr>
              <a:t>Verificación final</a:t>
            </a:r>
            <a:endParaRPr lang="en-US" sz="2600" dirty="0"/>
          </a:p>
        </p:txBody>
      </p:sp>
      <p:sp>
        <p:nvSpPr>
          <p:cNvPr id="6" name="Shape 4"/>
          <p:cNvSpPr/>
          <p:nvPr/>
        </p:nvSpPr>
        <p:spPr>
          <a:xfrm>
            <a:off x="548640" y="1965960"/>
            <a:ext cx="11064240" cy="4297680"/>
          </a:xfrm>
          <a:prstGeom prst="rect">
            <a:avLst>
              <a:gd name="adj" fmla="val 2553"/>
            </a:avLst>
          </a:prstGeom>
          <a:solidFill>
            <a:srgbClr val="F0F4F8"/>
          </a:solidFill>
          <a:ln/>
        </p:spPr>
      </p:sp>
      <p:sp>
        <p:nvSpPr>
          <p:cNvPr id="7" name="Text 5"/>
          <p:cNvSpPr txBox="1"/>
          <p:nvPr/>
        </p:nvSpPr>
        <p:spPr>
          <a:xfrm>
            <a:off x="1005840" y="2331720"/>
            <a:ext cx="10241280" cy="35661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600" dirty="0">
                <a:solidFill>
                  <a:srgbClr val="334E68"/>
                </a:solidFill>
                <a:latin typeface="Calibri" pitchFamily="34" charset="0"/>
                <a:ea typeface="Calibri" pitchFamily="34" charset="-122"/>
                <a:cs typeface="Calibri" pitchFamily="34" charset="-120"/>
              </a:rPr>
              <a:t>Antes de tocar la pieza, repite mentalmente la jugada completa una última vez, verificando especialmente que no dejas ninguna pieza propia sin protección ni pasas por alto un jaque intermedio del rival.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02A43"/>
          </a:solidFill>
          <a:ln/>
        </p:spPr>
      </p:sp>
      <p:sp>
        <p:nvSpPr>
          <p:cNvPr id="3" name="Shape 1"/>
          <p:cNvSpPr/>
          <p:nvPr/>
        </p:nvSpPr>
        <p:spPr>
          <a:xfrm>
            <a:off x="-1280160" y="-1463040"/>
            <a:ext cx="4114800" cy="4114800"/>
          </a:xfrm>
          <a:prstGeom prst="ellipse">
            <a:avLst/>
          </a:prstGeom>
          <a:solidFill>
            <a:srgbClr val="0A1F33">
              <a:alpha val="80000"/>
            </a:srgbClr>
          </a:solidFill>
          <a:ln/>
        </p:spPr>
      </p:sp>
      <p:sp>
        <p:nvSpPr>
          <p:cNvPr id="4" name="Shape 2"/>
          <p:cNvSpPr/>
          <p:nvPr/>
        </p:nvSpPr>
        <p:spPr>
          <a:xfrm>
            <a:off x="5175504" y="822960"/>
            <a:ext cx="1828800" cy="1828800"/>
          </a:xfrm>
          <a:prstGeom prst="ellipse">
            <a:avLst/>
          </a:prstGeom>
          <a:solidFill>
            <a:srgbClr val="DE911D"/>
          </a:solidFill>
          <a:ln/>
        </p:spPr>
      </p:sp>
      <p:sp>
        <p:nvSpPr>
          <p:cNvPr id="5" name="Text 3"/>
          <p:cNvSpPr txBox="1"/>
          <p:nvPr/>
        </p:nvSpPr>
        <p:spPr>
          <a:xfrm>
            <a:off x="5175504" y="822960"/>
            <a:ext cx="1828800" cy="1828800"/>
          </a:xfrm>
          <a:prstGeom prst="rect">
            <a:avLst/>
          </a:prstGeom>
          <a:noFill/>
          <a:ln/>
        </p:spPr>
        <p:txBody>
          <a:bodyPr wrap="square" lIns="0" tIns="0" rIns="0" bIns="0" rtlCol="0" anchor="ctr"/>
          <a:lstStyle/>
          <a:p>
            <a:pPr algn="ctr" indent="0" marL="0">
              <a:buNone/>
            </a:pPr>
            <a:r>
              <a:rPr lang="en-US" sz="4400" b="1" dirty="0">
                <a:solidFill>
                  <a:srgbClr val="0A1F33"/>
                </a:solidFill>
                <a:latin typeface="Calibri" pitchFamily="34" charset="0"/>
                <a:ea typeface="Calibri" pitchFamily="34" charset="-122"/>
                <a:cs typeface="Calibri" pitchFamily="34" charset="-120"/>
              </a:rPr>
              <a:t>✔</a:t>
            </a:r>
            <a:endParaRPr lang="en-US" sz="4400" dirty="0"/>
          </a:p>
        </p:txBody>
      </p:sp>
      <p:sp>
        <p:nvSpPr>
          <p:cNvPr id="6" name="Text 4"/>
          <p:cNvSpPr txBox="1"/>
          <p:nvPr/>
        </p:nvSpPr>
        <p:spPr>
          <a:xfrm>
            <a:off x="548640" y="2880360"/>
            <a:ext cx="11064240" cy="457200"/>
          </a:xfrm>
          <a:prstGeom prst="rect">
            <a:avLst/>
          </a:prstGeom>
          <a:noFill/>
          <a:ln/>
        </p:spPr>
        <p:txBody>
          <a:bodyPr wrap="square" lIns="0" tIns="0" rIns="0" bIns="0" rtlCol="0" anchor="ctr"/>
          <a:lstStyle/>
          <a:p>
            <a:pPr algn="ctr" indent="0" marL="0">
              <a:buNone/>
            </a:pPr>
            <a:r>
              <a:rPr lang="en-US" sz="1400" b="1" spc="100" kern="0" dirty="0">
                <a:solidFill>
                  <a:srgbClr val="F0B429"/>
                </a:solidFill>
                <a:latin typeface="Calibri" pitchFamily="34" charset="0"/>
                <a:ea typeface="Calibri" pitchFamily="34" charset="-122"/>
                <a:cs typeface="Calibri" pitchFamily="34" charset="-120"/>
              </a:rPr>
              <a:t>PARA PRACTICAR</a:t>
            </a:r>
            <a:endParaRPr lang="en-US" sz="1400" dirty="0"/>
          </a:p>
        </p:txBody>
      </p:sp>
      <p:sp>
        <p:nvSpPr>
          <p:cNvPr id="7" name="Text 5"/>
          <p:cNvSpPr txBox="1"/>
          <p:nvPr/>
        </p:nvSpPr>
        <p:spPr>
          <a:xfrm>
            <a:off x="1280160" y="3383280"/>
            <a:ext cx="9601200" cy="2377440"/>
          </a:xfrm>
          <a:prstGeom prst="rect">
            <a:avLst/>
          </a:prstGeom>
          <a:noFill/>
          <a:ln/>
        </p:spPr>
        <p:txBody>
          <a:bodyPr wrap="square" lIns="0" tIns="0" rIns="0" bIns="0" rtlCol="0" anchor="t"/>
          <a:lstStyle/>
          <a:p>
            <a:pPr algn="ctr" indent="0" marL="0">
              <a:lnSpc>
                <a:spcPct val="125000"/>
              </a:lnSpc>
              <a:buNone/>
            </a:pPr>
            <a:r>
              <a:rPr lang="en-US" sz="2200" dirty="0">
                <a:solidFill>
                  <a:srgbClr val="FFFFFF"/>
                </a:solidFill>
                <a:latin typeface="Cambria" pitchFamily="34" charset="0"/>
                <a:ea typeface="Cambria" pitchFamily="34" charset="-122"/>
                <a:cs typeface="Cambria" pitchFamily="34" charset="-120"/>
              </a:rPr>
              <a:t>en tus próximas 5 partidas, aplica conscientemente este paso de verificación antes de cada jugada táctica.</a:t>
            </a:r>
            <a:endParaRPr lang="en-US" sz="2200" dirty="0"/>
          </a:p>
        </p:txBody>
      </p:sp>
      <p:sp>
        <p:nvSpPr>
          <p:cNvPr id="8" name="Text 6"/>
          <p:cNvSpPr txBox="1"/>
          <p:nvPr/>
        </p:nvSpPr>
        <p:spPr>
          <a:xfrm>
            <a:off x="548640" y="6263640"/>
            <a:ext cx="11064240" cy="365760"/>
          </a:xfrm>
          <a:prstGeom prst="rect">
            <a:avLst/>
          </a:prstGeom>
          <a:noFill/>
          <a:ln/>
        </p:spPr>
        <p:txBody>
          <a:bodyPr wrap="square" lIns="0" tIns="0" rIns="0" bIns="0" rtlCol="0" anchor="ctr"/>
          <a:lstStyle/>
          <a:p>
            <a:pPr algn="ctr" indent="0" marL="0">
              <a:buNone/>
            </a:pPr>
            <a:r>
              <a:rPr lang="en-US" sz="1200" dirty="0">
                <a:solidFill>
                  <a:srgbClr val="9FB3C8"/>
                </a:solidFill>
                <a:latin typeface="Calibri" pitchFamily="34" charset="0"/>
                <a:ea typeface="Calibri" pitchFamily="34" charset="-122"/>
                <a:cs typeface="Calibri" pitchFamily="34" charset="-120"/>
              </a:rPr>
              <a:t>Cálculo y Visualización · Lección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Ajedrez Integral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Verificación final — Cálculo y Visualización</dc:title>
  <dc:subject>Verificación final</dc:subject>
  <dc:creator>Ajedrez Integral</dc:creator>
  <cp:lastModifiedBy>Ajedrez Integral</cp:lastModifiedBy>
  <cp:revision>1</cp:revision>
  <dcterms:created xsi:type="dcterms:W3CDTF">2026-09-10T06:21:03Z</dcterms:created>
  <dcterms:modified xsi:type="dcterms:W3CDTF">2026-09-10T06:21:03Z</dcterms:modified>
</cp:coreProperties>
</file>