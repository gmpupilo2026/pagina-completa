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FORMACIÓN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Integración práctica y cierre presencial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mbria"/>
              </a:rPr>
              <a:t>Talleres prácticos y simulacros de arbitraje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Simulacros de arbitraje entre pares y preparación de roles para la sesión presencial.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1F33"/>
                </a:solidFill>
                <a:latin typeface="Cambria"/>
              </a:rPr>
              <a:t>Talleres prácticos y simulacros de arbitraje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Arbitrar una ronda simulada aplicando todo lo visto en el curso.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Observar a otra persona con la lista de cotejo y dar retroalimentación útil.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Conocer los formularios que se usarán en la sesión presencial.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Confirmar los roles y los materiales para el torneo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CRONOGRAMA DE LA SESIÓN · 5 HORAS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8138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Tiempo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0:00 – 0:15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0:15 – 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Guía del simulacro y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0:45 – 1:15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La lista de cotejo y los formularios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1:15 – 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1:30 – 2:30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60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Simulacro 1 en salas de trabajo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2:30 – 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Retroalimentación del simulacro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3:00 – 3:15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3:15 – 4:15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Simulacro 2 con rotación de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4:15 – 4:40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Asignación de roles para la sesión presencial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4:40 – 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funciona el simulacro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En cada sala de trabajo hay tres roles: la persona árbitra, dos personas que representan a los jugadores y actúan una incidencia de la guía, y una persona observadora con la lista de cotejo. La persona árbitra no conoce la incidencia de antemano.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La incidencia se actúa con un tablero y un reloj reales o con un simulador en pantalla.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La persona árbitra aplica el método de cuatro pasos y comunica su decisión en voz alta.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La persona observadora marca Sí o No en cada ítem y anota observaciones concretas.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Al final de cada incidencia se rotan los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Metodología del 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lista de cotejo de desempeño arbitral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La lista de cotejo es el instrumento con el que se evalúa el desempeño en el torneo real de la sesión presencial. Conocerla de antemano permite prepararse para cada ítem.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Verifica la acreditación y el emparejamiento antes de iniciar la ronda.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Aplica correctamente las reglas básicas y resuelve reclamos con el procedimiento del reglamento.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Gestiona con criterio las incidencias con el reloj.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Aplica las sanciones correspondientes ante faltas o dispositivos no autorizados.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Calcula correctamente los desempates.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Mantiene un trato respetuoso e imparcial y documenta cada incidencia.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Lista de cotejo oficial del curso (formularios de la Sesión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Roles en el torneo presencial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En la sesión presencial se organiza y arbitra un torneo real. Cada participante tiene un rol asignado y rota durante las rondas.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Árbitro principal: decide las incidencias y coordina al equipo.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Árbitros auxiliares: supervisan un grupo de mesas, informan y aplican lo acordado.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Mesa de control: inscripción, emparejamientos, resultados y desempates.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Todas las personas completan la lista de cotejo de otra en al menos una ronda.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art. 12.4; Manual del árbitro de la FIDE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Guion A: el enroque dudoso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El jugador de negras enroca largo; el de blancas reclama que el rey ya se había movido en la jugada 9 y había vuelto.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Guion A: el enroque dudoso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Se revisan las planillas. Si el rey se movió, el enroque fue una jugada ilegal: se repone la posición, el jugador debe mover el rey (pieza tocada) y el rival recibe la compensación de tiempo que corresponde al ritmo.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3.8.2.1, 4.3 y 7.5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Guion B: reclamo de triple repetición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Un jugador detiene el reloj y dice que la posición se repitió tres veces. Todavía no hizo la jugada que produciría la tercera repetición.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Guion B: reclamo de triple repetición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Correcto si anotó la jugada sin hacerla y llamó al árbitro sin tocar ninguna pieza. Se verifica con las planillas; si el reclamo es correcto, son tablas de inmediato. Si no lo es, el reclamo cuenta como oferta de tablas y, en ritmo clásico, el rival recibe dos minutos.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9.1, 9.2, 9.4 y 9.5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Guion C: la oferta de tablas en el turno del rival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Un jugador ofrece tablas mientras corre el reloj de su rival.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Guion C: la oferta de tablas en el turno del rival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La oferta es válida, pero hacerla en el turno del rival es una molestia: se le recuerda el procedimiento correcto (jugada, oferta y reloj) y, si se repite, se sanciona según el art. 12.9.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9.1.2 y 11.5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4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Guion D: el público que ayuda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Un docente acompañante comenta en voz baja con su estudiante una partida en curso.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4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Guion D: el público que ayuda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Se retira al docente de la zona de juego; si hubo ayuda, se sanciona al estudiante según el art. 12.9. Se registra la incidencia.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11.3.1 y 12.7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PRÁCTICA — SIMULACRO DE ARBITRAJE CON OBSERVACIÓN ENTRE PARES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mbria"/>
              </a:rPr>
              <a:t>Cada participante arbitra una partida simulada mientras otra persona observa y completa la lista de cotejo; luego se intercambian los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1 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Durante el simulacro, la persona árbitra resolvió bien un reclamo, pero no lo anotó en el acta. ¿Cómo lo marcas en la lista de cotejo?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2 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Escribe una retroalimentación útil para una persona que aplicó la sanción máxima a una primera falta leve.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QUIZ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4E68"/>
                </a:solidFill>
                <a:latin typeface="Calibri"/>
              </a:rPr>
              <a:t>1. Durante un simulacro, no se aplicó la sanción por uso de dispositivo electrónico. ¿Qué instrumento documenta esa observación?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4E68"/>
                </a:solidFill>
                <a:latin typeface="Calibri"/>
              </a:rPr>
              <a:t>2. ¿Cuál es el propósito principal de asignar roles antes de la sesión presencial?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4E68"/>
                </a:solidFill>
                <a:latin typeface="Calibri"/>
              </a:rPr>
              <a:t>3. Un reclamo de triple repetición resulta incorrecto. ¿Qué efecto tiene además?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4E68"/>
                </a:solidFill>
                <a:latin typeface="Calibri"/>
              </a:rPr>
              <a:t>4. ¿En qué orden se ofrecen tablas correctamente?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mbria"/>
              </a:rPr>
              <a:t>Confirmar el rol asignado, revisar la lista de cotejo y reunir los materiales solicitados para el día presencial.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7 · ajedrez-integral.com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